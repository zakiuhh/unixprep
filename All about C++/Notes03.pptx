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rbel" panose="020B0503020204020204" pitchFamily="34" charset="0"/>
      <p:regular r:id="rId19"/>
      <p:bold r:id="rId20"/>
      <p:italic r:id="rId21"/>
      <p:boldItalic r:id="rId22"/>
    </p:embeddedFont>
    <p:embeddedFont>
      <p:font typeface="Verdana" panose="020B060403050404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blVnqfBWtIaxJz94MmOPEQ0JA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6"/>
    <p:restoredTop sz="94092"/>
  </p:normalViewPr>
  <p:slideViewPr>
    <p:cSldViewPr snapToGrid="0">
      <p:cViewPr varScale="1">
        <p:scale>
          <a:sx n="67" d="100"/>
          <a:sy n="67" d="100"/>
        </p:scale>
        <p:origin x="185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01f55fc6c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01f55fc6c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01f55fc6ce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/>
          <p:nvPr/>
        </p:nvSpPr>
        <p:spPr>
          <a:xfrm>
            <a:off x="685800" y="1219200"/>
            <a:ext cx="1148195" cy="3651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8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FFFFF"/>
                </a:solidFill>
                <a:latin typeface="Times New Roman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5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orbel"/>
              <a:buNone/>
              <a:defRPr sz="59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D7F0F6"/>
                </a:solidFill>
              </a:defRPr>
            </a:lvl1pPr>
            <a:lvl2pPr lvl="1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900"/>
              <a:buFont typeface="Corbel"/>
              <a:buNone/>
              <a:defRPr sz="5900" b="0">
                <a:solidFill>
                  <a:srgbClr val="5959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ftr" idx="11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2900934" y="868680"/>
            <a:ext cx="26060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2"/>
          </p:nvPr>
        </p:nvSpPr>
        <p:spPr>
          <a:xfrm>
            <a:off x="5863590" y="868680"/>
            <a:ext cx="26060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ftr" idx="11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2900934" y="1930936"/>
            <a:ext cx="260604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3"/>
          </p:nvPr>
        </p:nvSpPr>
        <p:spPr>
          <a:xfrm>
            <a:off x="5863847" y="1023587"/>
            <a:ext cx="2606040" cy="81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4"/>
          </p:nvPr>
        </p:nvSpPr>
        <p:spPr>
          <a:xfrm>
            <a:off x="5863847" y="1930936"/>
            <a:ext cx="260604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ftr" idx="11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ftr" idx="11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 txBox="1">
            <a:spLocks noGrp="1"/>
          </p:cNvSpPr>
          <p:nvPr>
            <p:ph type="title"/>
          </p:nvPr>
        </p:nvSpPr>
        <p:spPr>
          <a:xfrm>
            <a:off x="192024" y="1143000"/>
            <a:ext cx="21259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2900934" y="868680"/>
            <a:ext cx="54864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2"/>
          </p:nvPr>
        </p:nvSpPr>
        <p:spPr>
          <a:xfrm>
            <a:off x="192024" y="3494176"/>
            <a:ext cx="2125980" cy="23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>
            <a:spLocks noGrp="1"/>
          </p:cNvSpPr>
          <p:nvPr>
            <p:ph type="title"/>
          </p:nvPr>
        </p:nvSpPr>
        <p:spPr>
          <a:xfrm>
            <a:off x="192024" y="1143000"/>
            <a:ext cx="21259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>
            <a:spLocks noGrp="1"/>
          </p:cNvSpPr>
          <p:nvPr>
            <p:ph type="pic" idx="2"/>
          </p:nvPr>
        </p:nvSpPr>
        <p:spPr>
          <a:xfrm>
            <a:off x="2677983" y="767419"/>
            <a:ext cx="6086423" cy="533095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192024" y="3493008"/>
            <a:ext cx="2125980" cy="2322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ftr" idx="11"/>
          </p:nvPr>
        </p:nvSpPr>
        <p:spPr>
          <a:xfrm>
            <a:off x="2624326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body" idx="1"/>
          </p:nvPr>
        </p:nvSpPr>
        <p:spPr>
          <a:xfrm rot="5400000">
            <a:off x="3084831" y="6812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ftr" idx="11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>
            <a:spLocks noGrp="1"/>
          </p:cNvSpPr>
          <p:nvPr>
            <p:ph type="title"/>
          </p:nvPr>
        </p:nvSpPr>
        <p:spPr>
          <a:xfrm rot="5400000">
            <a:off x="-1133475" y="2409825"/>
            <a:ext cx="4953000" cy="21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body" idx="1"/>
          </p:nvPr>
        </p:nvSpPr>
        <p:spPr>
          <a:xfrm rot="5400000">
            <a:off x="3083814" y="685800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ftr" idx="11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3" name="Google Shape;93;p1" descr="C:\Users\SALMAN\Desktop\cp 1\org.solovyev.android.calculat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238258"/>
            <a:ext cx="19812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 descr="Comsats University Logo - Crystal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96200" y="169505"/>
            <a:ext cx="1282245" cy="128224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486697" y="3958107"/>
            <a:ext cx="3124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Taimu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 Sajjad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MS(Data Science)</a:t>
            </a:r>
            <a:endParaRPr sz="4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452353" y="1868842"/>
            <a:ext cx="5134897" cy="103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Programming Fundamentals</a:t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76865" y="4556854"/>
            <a:ext cx="4753896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Lecturer (Computer Science),,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CUI Wah Campus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189688" y="1123838"/>
            <a:ext cx="2324911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Computer Software System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85800" y="1219200"/>
            <a:ext cx="1148195" cy="3651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8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04" name="Google Shape;104;p2"/>
          <p:cNvSpPr/>
          <p:nvPr/>
        </p:nvSpPr>
        <p:spPr>
          <a:xfrm>
            <a:off x="3010438" y="3248890"/>
            <a:ext cx="5371562" cy="1143000"/>
          </a:xfrm>
          <a:prstGeom prst="rect">
            <a:avLst/>
          </a:prstGeom>
          <a:solidFill>
            <a:srgbClr val="17BEDE"/>
          </a:solidFill>
          <a:ln>
            <a:noFill/>
          </a:ln>
          <a:effectLst>
            <a:outerShdw blurRad="44450" dist="13970" dir="5400000" algn="ctr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Operating Systems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(Windows, Linux, MAC, Solaris)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3544627" y="2223655"/>
            <a:ext cx="4055287" cy="990600"/>
          </a:xfrm>
          <a:prstGeom prst="rect">
            <a:avLst/>
          </a:prstGeom>
          <a:solidFill>
            <a:srgbClr val="00C3A8"/>
          </a:solidFill>
          <a:ln>
            <a:noFill/>
          </a:ln>
          <a:effectLst>
            <a:outerShdw blurRad="44450" dist="13970" dir="5400000" algn="ctr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Compilers / Libraries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(C++, C, Java)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3907520" y="1143000"/>
            <a:ext cx="3331480" cy="1039090"/>
          </a:xfrm>
          <a:prstGeom prst="rect">
            <a:avLst/>
          </a:prstGeom>
          <a:solidFill>
            <a:srgbClr val="E30F15"/>
          </a:solidFill>
          <a:ln>
            <a:noFill/>
          </a:ln>
          <a:effectLst>
            <a:outerShdw blurRad="44450" dist="13970" dir="5400000" algn="ctr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Application Programs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(.cpp, .c, .java,)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2620780" y="4419600"/>
            <a:ext cx="6172200" cy="990600"/>
          </a:xfrm>
          <a:prstGeom prst="rect">
            <a:avLst/>
          </a:prstGeom>
          <a:solidFill>
            <a:srgbClr val="9E9E9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Computer Hardware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189688" y="1123838"/>
            <a:ext cx="2324911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rbel"/>
              <a:buNone/>
            </a:pPr>
            <a:r>
              <a:rPr lang="en-US" sz="2800" b="1"/>
              <a:t>Programming Languages</a:t>
            </a:r>
            <a:endParaRPr/>
          </a:p>
        </p:txBody>
      </p:sp>
      <p:sp>
        <p:nvSpPr>
          <p:cNvPr id="113" name="Google Shape;113;p3"/>
          <p:cNvSpPr txBox="1">
            <a:spLocks noGrp="1"/>
          </p:cNvSpPr>
          <p:nvPr>
            <p:ph type="body" idx="1"/>
          </p:nvPr>
        </p:nvSpPr>
        <p:spPr>
          <a:xfrm>
            <a:off x="2667000" y="864108"/>
            <a:ext cx="6172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68313" lvl="1" indent="-34766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 b="1"/>
              <a:t>Classification of programming languages:</a:t>
            </a:r>
            <a:endParaRPr/>
          </a:p>
          <a:p>
            <a:pPr marL="468313" lvl="1" indent="-180022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None/>
            </a:pPr>
            <a:endParaRPr sz="2400" b="1"/>
          </a:p>
          <a:p>
            <a:pPr marL="914400" lvl="1" indent="-5143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Corbel"/>
              <a:buAutoNum type="arabicPeriod"/>
            </a:pPr>
            <a:r>
              <a:rPr lang="en-US" sz="2400"/>
              <a:t>Machine language</a:t>
            </a:r>
            <a:endParaRPr/>
          </a:p>
          <a:p>
            <a:pPr marL="914400" lvl="1" indent="-514350" algn="l" rtl="0">
              <a:lnSpc>
                <a:spcPct val="90000"/>
              </a:lnSpc>
              <a:spcBef>
                <a:spcPts val="1450"/>
              </a:spcBef>
              <a:spcAft>
                <a:spcPts val="0"/>
              </a:spcAft>
              <a:buSzPts val="2640"/>
              <a:buFont typeface="Corbel"/>
              <a:buAutoNum type="arabicPeriod"/>
            </a:pPr>
            <a:r>
              <a:rPr lang="en-US" sz="2400"/>
              <a:t>Low-level languages</a:t>
            </a:r>
            <a:endParaRPr/>
          </a:p>
          <a:p>
            <a:pPr marL="914400" lvl="1" indent="-514350" algn="l" rtl="0">
              <a:lnSpc>
                <a:spcPct val="90000"/>
              </a:lnSpc>
              <a:spcBef>
                <a:spcPts val="1450"/>
              </a:spcBef>
              <a:spcAft>
                <a:spcPts val="0"/>
              </a:spcAft>
              <a:buSzPts val="2640"/>
              <a:buFont typeface="Corbel"/>
              <a:buAutoNum type="arabicPeriod"/>
            </a:pPr>
            <a:r>
              <a:rPr lang="en-US" sz="2400"/>
              <a:t>High-level languages</a:t>
            </a:r>
            <a:endParaRPr/>
          </a:p>
          <a:p>
            <a:pPr marL="182880" lvl="0" indent="-55879" algn="l" rtl="0">
              <a:lnSpc>
                <a:spcPct val="90000"/>
              </a:lnSpc>
              <a:spcBef>
                <a:spcPts val="145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685800" y="1219200"/>
            <a:ext cx="1148195" cy="3651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8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Machine Language </a:t>
            </a:r>
            <a:endParaRPr/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2667000" y="864108"/>
            <a:ext cx="60198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68313" lvl="1" indent="-34766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80"/>
              <a:buFont typeface="Noto Sans Symbols"/>
              <a:buChar char="▪"/>
            </a:pPr>
            <a:r>
              <a:rPr lang="en-US" sz="2800" b="1"/>
              <a:t>A computer understands only sequence of bits or 1’s and 0’s (the smallest piece of information)</a:t>
            </a:r>
            <a:endParaRPr/>
          </a:p>
          <a:p>
            <a:pPr marL="514350" lvl="0" indent="-34671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None/>
            </a:pPr>
            <a:endParaRPr sz="2400"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80"/>
              <a:buFont typeface="Noto Sans Symbols"/>
              <a:buChar char="▪"/>
            </a:pPr>
            <a:r>
              <a:rPr lang="en-US" sz="2800" b="1"/>
              <a:t>A computer program can be written using machine languages (01001101010010010….)</a:t>
            </a:r>
            <a:endParaRPr/>
          </a:p>
          <a:p>
            <a:pPr marL="1314450" lvl="2" indent="-5143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000"/>
              <a:t>Very fast execution</a:t>
            </a:r>
            <a:endParaRPr/>
          </a:p>
          <a:p>
            <a:pPr marL="1314450" lvl="2" indent="-514350" algn="l" rtl="0">
              <a:lnSpc>
                <a:spcPct val="90000"/>
              </a:lnSpc>
              <a:spcBef>
                <a:spcPts val="1450"/>
              </a:spcBef>
              <a:spcAft>
                <a:spcPts val="0"/>
              </a:spcAft>
              <a:buSzPts val="2200"/>
              <a:buChar char="●"/>
            </a:pPr>
            <a:r>
              <a:rPr lang="en-US" sz="2000"/>
              <a:t>Very difficult to write and debug</a:t>
            </a:r>
            <a:endParaRPr/>
          </a:p>
          <a:p>
            <a:pPr marL="1314450" lvl="2" indent="-514350" algn="l" rtl="0">
              <a:lnSpc>
                <a:spcPct val="90000"/>
              </a:lnSpc>
              <a:spcBef>
                <a:spcPts val="1450"/>
              </a:spcBef>
              <a:spcAft>
                <a:spcPts val="0"/>
              </a:spcAft>
              <a:buSzPts val="2200"/>
              <a:buChar char="●"/>
            </a:pPr>
            <a:r>
              <a:rPr lang="en-US" sz="2000"/>
              <a:t>Machine specific  (different codes on different machines)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85800" y="1219200"/>
            <a:ext cx="1148195" cy="3651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8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Low Level Language 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85800" y="1219200"/>
            <a:ext cx="1148195" cy="3651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8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2590800" y="1143000"/>
            <a:ext cx="6248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68313" lvl="1" indent="-34766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 b="1"/>
              <a:t>English encrypted words instead of codes (1’s and 0’s)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 b="1"/>
              <a:t>More understandable (for humans)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 b="1"/>
              <a:t>Example: Assembly language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 b="1"/>
              <a:t>Requires: “Translation” from Assembly code to Machine code</a:t>
            </a:r>
            <a:endParaRPr/>
          </a:p>
          <a:p>
            <a:pPr marL="468313" lvl="1" indent="-180022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None/>
            </a:pPr>
            <a:endParaRPr sz="2400" b="1"/>
          </a:p>
          <a:p>
            <a:pPr marL="914400" lvl="1" indent="-3048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300"/>
              <a:buNone/>
            </a:pPr>
            <a:endParaRPr sz="3000"/>
          </a:p>
        </p:txBody>
      </p:sp>
      <p:sp>
        <p:nvSpPr>
          <p:cNvPr id="129" name="Google Shape;129;p5"/>
          <p:cNvSpPr/>
          <p:nvPr/>
        </p:nvSpPr>
        <p:spPr>
          <a:xfrm>
            <a:off x="1600200" y="4953000"/>
            <a:ext cx="2286000" cy="137160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compare:</a:t>
            </a:r>
            <a:endParaRPr/>
          </a:p>
          <a:p>
            <a:pPr marL="342900" marR="0" lvl="0" indent="-34290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cmpl #oxa,n</a:t>
            </a:r>
            <a:endParaRPr sz="1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cgt 	end_of_loop</a:t>
            </a:r>
            <a:endParaRPr sz="1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acddl #0x1,n</a:t>
            </a:r>
            <a:endParaRPr/>
          </a:p>
          <a:p>
            <a:pPr marL="342900" marR="0" lvl="0" indent="-34290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end_of_loop: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913420" y="4953000"/>
            <a:ext cx="1925780" cy="137160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1001010101001101</a:t>
            </a:r>
            <a:endParaRPr/>
          </a:p>
          <a:p>
            <a:pPr marL="342900" marR="0" lvl="0" indent="-34290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1110010110010100</a:t>
            </a:r>
            <a:endParaRPr/>
          </a:p>
          <a:p>
            <a:pPr marL="342900" marR="0" lvl="0" indent="-34290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0101010111010010</a:t>
            </a:r>
            <a:endParaRPr/>
          </a:p>
          <a:p>
            <a:pPr marL="342900" marR="0" lvl="0" indent="-34290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0110100110111011</a:t>
            </a:r>
            <a:endParaRPr/>
          </a:p>
          <a:p>
            <a:pPr marL="342900" marR="0" lvl="0" indent="-34290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1101100101010101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648200" y="4876800"/>
            <a:ext cx="1524000" cy="1524000"/>
          </a:xfrm>
          <a:prstGeom prst="ellipse">
            <a:avLst/>
          </a:prstGeom>
          <a:solidFill>
            <a:srgbClr val="F4B39E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Assembler</a:t>
            </a:r>
            <a:endParaRPr/>
          </a:p>
        </p:txBody>
      </p:sp>
      <p:cxnSp>
        <p:nvCxnSpPr>
          <p:cNvPr id="132" name="Google Shape;132;p5"/>
          <p:cNvCxnSpPr/>
          <p:nvPr/>
        </p:nvCxnSpPr>
        <p:spPr>
          <a:xfrm>
            <a:off x="3886200" y="5637212"/>
            <a:ext cx="762000" cy="1588"/>
          </a:xfrm>
          <a:prstGeom prst="straightConnector1">
            <a:avLst/>
          </a:prstGeom>
          <a:noFill/>
          <a:ln w="412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3" name="Google Shape;133;p5"/>
          <p:cNvCxnSpPr/>
          <p:nvPr/>
        </p:nvCxnSpPr>
        <p:spPr>
          <a:xfrm>
            <a:off x="6172200" y="5638800"/>
            <a:ext cx="762000" cy="1588"/>
          </a:xfrm>
          <a:prstGeom prst="straightConnector1">
            <a:avLst/>
          </a:prstGeom>
          <a:noFill/>
          <a:ln w="38100" cap="flat" cmpd="sng">
            <a:solidFill>
              <a:srgbClr val="26262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4" name="Google Shape;134;p5"/>
          <p:cNvSpPr txBox="1"/>
          <p:nvPr/>
        </p:nvSpPr>
        <p:spPr>
          <a:xfrm>
            <a:off x="2514600" y="4495800"/>
            <a:ext cx="175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B80000"/>
                </a:solidFill>
                <a:latin typeface="Corbel"/>
                <a:ea typeface="Corbel"/>
                <a:cs typeface="Corbel"/>
                <a:sym typeface="Corbel"/>
              </a:rPr>
              <a:t>Assembly Code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6553200" y="4495800"/>
            <a:ext cx="2057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B80000"/>
                </a:solidFill>
                <a:latin typeface="Corbel"/>
                <a:ea typeface="Corbel"/>
                <a:cs typeface="Corbel"/>
                <a:sym typeface="Corbel"/>
              </a:rPr>
              <a:t>Machine Code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High level Languages</a:t>
            </a:r>
            <a:endParaRPr/>
          </a:p>
        </p:txBody>
      </p:sp>
      <p:sp>
        <p:nvSpPr>
          <p:cNvPr id="141" name="Google Shape;141;p6"/>
          <p:cNvSpPr txBox="1">
            <a:spLocks noGrp="1"/>
          </p:cNvSpPr>
          <p:nvPr>
            <p:ph type="body" idx="1"/>
          </p:nvPr>
        </p:nvSpPr>
        <p:spPr>
          <a:xfrm>
            <a:off x="2743200" y="864108"/>
            <a:ext cx="59436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68313" lvl="1" indent="-34766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80"/>
              <a:buFont typeface="Noto Sans Symbols"/>
              <a:buChar char="▪"/>
            </a:pPr>
            <a:r>
              <a:rPr lang="en-US" sz="2800"/>
              <a:t>Mostly machine independent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80"/>
              <a:buFont typeface="Noto Sans Symbols"/>
              <a:buChar char="▪"/>
            </a:pPr>
            <a:r>
              <a:rPr lang="en-US" sz="2800"/>
              <a:t>Close to natural language (English like language keywords)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80"/>
              <a:buFont typeface="Noto Sans Symbols"/>
              <a:buChar char="▪"/>
            </a:pPr>
            <a:r>
              <a:rPr lang="en-US" sz="2800"/>
              <a:t>Easy to write and understand  programs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80"/>
              <a:buFont typeface="Noto Sans Symbols"/>
              <a:buChar char="▪"/>
            </a:pPr>
            <a:r>
              <a:rPr lang="en-US" sz="2800"/>
              <a:t>Easy to debug and maintain code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80"/>
              <a:buFont typeface="Noto Sans Symbols"/>
              <a:buChar char="▪"/>
            </a:pPr>
            <a:r>
              <a:rPr lang="en-US" sz="2800"/>
              <a:t>Requires compilers to translate to machine code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80"/>
              <a:buFont typeface="Noto Sans Symbols"/>
              <a:buChar char="▪"/>
            </a:pPr>
            <a:r>
              <a:rPr lang="en-US" sz="2800"/>
              <a:t>Slower than low-level languages</a:t>
            </a:r>
            <a:endParaRPr sz="2400"/>
          </a:p>
        </p:txBody>
      </p:sp>
      <p:sp>
        <p:nvSpPr>
          <p:cNvPr id="142" name="Google Shape;142;p6"/>
          <p:cNvSpPr/>
          <p:nvPr/>
        </p:nvSpPr>
        <p:spPr>
          <a:xfrm>
            <a:off x="685800" y="1219200"/>
            <a:ext cx="1148195" cy="3651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8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>
            <a:spLocks noGrp="1"/>
          </p:cNvSpPr>
          <p:nvPr>
            <p:ph type="title"/>
          </p:nvPr>
        </p:nvSpPr>
        <p:spPr>
          <a:xfrm>
            <a:off x="189688" y="1123838"/>
            <a:ext cx="2324911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       HLL</a:t>
            </a:r>
            <a:endParaRPr/>
          </a:p>
        </p:txBody>
      </p:sp>
      <p:sp>
        <p:nvSpPr>
          <p:cNvPr id="148" name="Google Shape;148;p7"/>
          <p:cNvSpPr txBox="1">
            <a:spLocks noGrp="1"/>
          </p:cNvSpPr>
          <p:nvPr>
            <p:ph type="body" idx="1"/>
          </p:nvPr>
        </p:nvSpPr>
        <p:spPr>
          <a:xfrm>
            <a:off x="2743200" y="864108"/>
            <a:ext cx="59436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68313" lvl="1" indent="-34766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 b="0" i="0">
                <a:solidFill>
                  <a:srgbClr val="454545"/>
                </a:solidFill>
                <a:latin typeface="Verdana"/>
                <a:ea typeface="Verdana"/>
                <a:cs typeface="Verdana"/>
                <a:sym typeface="Verdana"/>
              </a:rPr>
              <a:t>Procedural Language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>
                <a:solidFill>
                  <a:srgbClr val="454545"/>
                </a:solidFill>
                <a:latin typeface="Verdana"/>
                <a:ea typeface="Verdana"/>
                <a:cs typeface="Verdana"/>
                <a:sym typeface="Verdana"/>
              </a:rPr>
              <a:t>Non-Procedural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 b="0" i="0">
                <a:solidFill>
                  <a:srgbClr val="454545"/>
                </a:solidFill>
                <a:latin typeface="Verdana"/>
                <a:ea typeface="Verdana"/>
                <a:cs typeface="Verdana"/>
                <a:sym typeface="Verdana"/>
              </a:rPr>
              <a:t>Functional Language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>
                <a:solidFill>
                  <a:srgbClr val="454545"/>
                </a:solidFill>
                <a:latin typeface="Verdana"/>
                <a:ea typeface="Verdana"/>
                <a:cs typeface="Verdana"/>
                <a:sym typeface="Verdana"/>
              </a:rPr>
              <a:t>OOP</a:t>
            </a:r>
            <a:endParaRPr sz="2400" b="0" i="0">
              <a:solidFill>
                <a:srgbClr val="45454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8313" lvl="1" indent="-180022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None/>
            </a:pPr>
            <a:endParaRPr sz="2400" b="0" i="0">
              <a:solidFill>
                <a:srgbClr val="45454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8313" lvl="1" indent="-180022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None/>
            </a:pPr>
            <a:endParaRPr sz="2400"/>
          </a:p>
        </p:txBody>
      </p:sp>
      <p:sp>
        <p:nvSpPr>
          <p:cNvPr id="149" name="Google Shape;149;p7"/>
          <p:cNvSpPr/>
          <p:nvPr/>
        </p:nvSpPr>
        <p:spPr>
          <a:xfrm>
            <a:off x="685800" y="1219200"/>
            <a:ext cx="1148195" cy="3651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8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55" name="Google Shape;1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400" y="416425"/>
            <a:ext cx="8306874" cy="593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1f55fc6ce_0_1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62" name="Google Shape;162;g301f55fc6ce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625" y="577400"/>
            <a:ext cx="8355626" cy="46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>
            <a:spLocks noGrp="1"/>
          </p:cNvSpPr>
          <p:nvPr>
            <p:ph type="title"/>
          </p:nvPr>
        </p:nvSpPr>
        <p:spPr>
          <a:xfrm>
            <a:off x="189688" y="1123838"/>
            <a:ext cx="2324911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       Language of Processor</a:t>
            </a:r>
            <a:endParaRPr/>
          </a:p>
        </p:txBody>
      </p:sp>
      <p:sp>
        <p:nvSpPr>
          <p:cNvPr id="168" name="Google Shape;168;p9"/>
          <p:cNvSpPr txBox="1">
            <a:spLocks noGrp="1"/>
          </p:cNvSpPr>
          <p:nvPr>
            <p:ph type="body" idx="1"/>
          </p:nvPr>
        </p:nvSpPr>
        <p:spPr>
          <a:xfrm>
            <a:off x="2743200" y="864108"/>
            <a:ext cx="59436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68313" lvl="1" indent="-34766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 b="0" i="0">
                <a:solidFill>
                  <a:srgbClr val="454545"/>
                </a:solidFill>
                <a:latin typeface="Verdana"/>
                <a:ea typeface="Verdana"/>
                <a:cs typeface="Verdana"/>
                <a:sym typeface="Verdana"/>
              </a:rPr>
              <a:t>Compiler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>
                <a:solidFill>
                  <a:srgbClr val="454545"/>
                </a:solidFill>
                <a:latin typeface="Verdana"/>
                <a:ea typeface="Verdana"/>
                <a:cs typeface="Verdana"/>
                <a:sym typeface="Verdana"/>
              </a:rPr>
              <a:t>Interpreter</a:t>
            </a:r>
            <a:endParaRPr/>
          </a:p>
          <a:p>
            <a:pPr marL="468313" lvl="1" indent="-347663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Char char="▪"/>
            </a:pPr>
            <a:r>
              <a:rPr lang="en-US" sz="2400" b="0" i="0">
                <a:solidFill>
                  <a:srgbClr val="454545"/>
                </a:solidFill>
                <a:latin typeface="Verdana"/>
                <a:ea typeface="Verdana"/>
                <a:cs typeface="Verdana"/>
                <a:sym typeface="Verdana"/>
              </a:rPr>
              <a:t>Assembler</a:t>
            </a:r>
            <a:endParaRPr/>
          </a:p>
          <a:p>
            <a:pPr marL="468313" lvl="1" indent="-180022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None/>
            </a:pPr>
            <a:endParaRPr sz="2400" b="0" i="0">
              <a:solidFill>
                <a:srgbClr val="45454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8313" lvl="1" indent="-180022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Font typeface="Noto Sans Symbols"/>
              <a:buNone/>
            </a:pPr>
            <a:endParaRPr sz="2400"/>
          </a:p>
        </p:txBody>
      </p:sp>
      <p:sp>
        <p:nvSpPr>
          <p:cNvPr id="169" name="Google Shape;169;p9"/>
          <p:cNvSpPr/>
          <p:nvPr/>
        </p:nvSpPr>
        <p:spPr>
          <a:xfrm>
            <a:off x="685800" y="1219200"/>
            <a:ext cx="1148195" cy="3651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8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75" name="Google Shape;17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2057400"/>
            <a:ext cx="7682533" cy="307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orbe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81" name="Google Shape;181;p11"/>
          <p:cNvSpPr txBox="1">
            <a:spLocks noGrp="1"/>
          </p:cNvSpPr>
          <p:nvPr>
            <p:ph type="sldNum" idx="12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Macintosh PowerPoint</Application>
  <PresentationFormat>On-screen Show (4:3)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Times New Roman</vt:lpstr>
      <vt:lpstr>Noto Sans Symbols</vt:lpstr>
      <vt:lpstr>Calibri</vt:lpstr>
      <vt:lpstr>Courier New</vt:lpstr>
      <vt:lpstr>Verdana</vt:lpstr>
      <vt:lpstr>Corbel</vt:lpstr>
      <vt:lpstr>Arial</vt:lpstr>
      <vt:lpstr>Theme1</vt:lpstr>
      <vt:lpstr>PowerPoint Presentation</vt:lpstr>
      <vt:lpstr>Computer Software System</vt:lpstr>
      <vt:lpstr>Programming Languages</vt:lpstr>
      <vt:lpstr>Machine Language </vt:lpstr>
      <vt:lpstr>Low Level Language </vt:lpstr>
      <vt:lpstr>High level Languages</vt:lpstr>
      <vt:lpstr>       HLL</vt:lpstr>
      <vt:lpstr>PowerPoint Presentation</vt:lpstr>
      <vt:lpstr>PowerPoint Presentation</vt:lpstr>
      <vt:lpstr>       Language of Processor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SALMAN</dc:creator>
  <cp:lastModifiedBy>Taimur Sajjad</cp:lastModifiedBy>
  <cp:revision>1</cp:revision>
  <dcterms:created xsi:type="dcterms:W3CDTF">2014-02-17T16:56:43Z</dcterms:created>
  <dcterms:modified xsi:type="dcterms:W3CDTF">2025-02-17T17:37:23Z</dcterms:modified>
</cp:coreProperties>
</file>