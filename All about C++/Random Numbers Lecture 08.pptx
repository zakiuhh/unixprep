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5" r:id="rId3"/>
    <p:sldId id="346" r:id="rId4"/>
    <p:sldId id="257" r:id="rId5"/>
    <p:sldId id="350" r:id="rId6"/>
    <p:sldId id="258" r:id="rId7"/>
    <p:sldId id="259" r:id="rId8"/>
    <p:sldId id="347" r:id="rId9"/>
    <p:sldId id="260" r:id="rId10"/>
    <p:sldId id="348" r:id="rId1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6"/>
    <p:restoredTop sz="94092"/>
  </p:normalViewPr>
  <p:slideViewPr>
    <p:cSldViewPr>
      <p:cViewPr>
        <p:scale>
          <a:sx n="70" d="100"/>
          <a:sy n="70" d="100"/>
        </p:scale>
        <p:origin x="1112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CFBFFA-0D0C-431B-991D-CE6835F816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22FEE7-8F87-4EBB-8508-A50CE251645C}">
      <dgm:prSet phldrT="[Text]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Ternary Operators</a:t>
          </a:r>
        </a:p>
      </dgm:t>
    </dgm:pt>
    <dgm:pt modelId="{B295B78C-7E04-4789-8EC4-06905FD1820A}" type="parTrans" cxnId="{743413B5-03C3-4763-AE23-7E9E6ADFA10A}">
      <dgm:prSet/>
      <dgm:spPr/>
      <dgm:t>
        <a:bodyPr/>
        <a:lstStyle/>
        <a:p>
          <a:endParaRPr lang="en-US"/>
        </a:p>
      </dgm:t>
    </dgm:pt>
    <dgm:pt modelId="{337BB63F-F200-40B9-847F-C30579278438}" type="sibTrans" cxnId="{743413B5-03C3-4763-AE23-7E9E6ADFA10A}">
      <dgm:prSet/>
      <dgm:spPr/>
      <dgm:t>
        <a:bodyPr/>
        <a:lstStyle/>
        <a:p>
          <a:endParaRPr lang="en-US"/>
        </a:p>
      </dgm:t>
    </dgm:pt>
    <dgm:pt modelId="{850CD889-5F11-4E12-9CD7-005337A1D5BA}">
      <dgm:prSet phldrT="[Text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Switch in C++</a:t>
          </a:r>
        </a:p>
      </dgm:t>
    </dgm:pt>
    <dgm:pt modelId="{50E498B3-9050-442E-87AD-A3A458585E8F}" type="parTrans" cxnId="{FAA9744E-7EFD-40D0-8ACE-69FEB3E87464}">
      <dgm:prSet/>
      <dgm:spPr/>
      <dgm:t>
        <a:bodyPr/>
        <a:lstStyle/>
        <a:p>
          <a:endParaRPr lang="en-US"/>
        </a:p>
      </dgm:t>
    </dgm:pt>
    <dgm:pt modelId="{3328F58F-35EE-4BEB-B50C-880BFA8B9181}" type="sibTrans" cxnId="{FAA9744E-7EFD-40D0-8ACE-69FEB3E87464}">
      <dgm:prSet/>
      <dgm:spPr/>
      <dgm:t>
        <a:bodyPr/>
        <a:lstStyle/>
        <a:p>
          <a:endParaRPr lang="en-US"/>
        </a:p>
      </dgm:t>
    </dgm:pt>
    <dgm:pt modelId="{8DB48030-664A-4AE0-8248-5DD2DE6C156D}" type="pres">
      <dgm:prSet presAssocID="{C2CFBFFA-0D0C-431B-991D-CE6835F81666}" presName="linear" presStyleCnt="0">
        <dgm:presLayoutVars>
          <dgm:animLvl val="lvl"/>
          <dgm:resizeHandles val="exact"/>
        </dgm:presLayoutVars>
      </dgm:prSet>
      <dgm:spPr/>
    </dgm:pt>
    <dgm:pt modelId="{88E9FAD8-16A3-4D7F-9C5D-11C12F9BE12D}" type="pres">
      <dgm:prSet presAssocID="{0D22FEE7-8F87-4EBB-8508-A50CE251645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11BA0FB-668E-44AC-9972-01CEE6BBFCB0}" type="pres">
      <dgm:prSet presAssocID="{337BB63F-F200-40B9-847F-C30579278438}" presName="spacer" presStyleCnt="0"/>
      <dgm:spPr/>
    </dgm:pt>
    <dgm:pt modelId="{112334B5-66DD-4252-9800-DA045A7DAB44}" type="pres">
      <dgm:prSet presAssocID="{850CD889-5F11-4E12-9CD7-005337A1D5BA}" presName="parentText" presStyleLbl="node1" presStyleIdx="1" presStyleCnt="2" custLinFactNeighborX="-2899" custLinFactNeighborY="-96490">
        <dgm:presLayoutVars>
          <dgm:chMax val="0"/>
          <dgm:bulletEnabled val="1"/>
        </dgm:presLayoutVars>
      </dgm:prSet>
      <dgm:spPr/>
    </dgm:pt>
  </dgm:ptLst>
  <dgm:cxnLst>
    <dgm:cxn modelId="{FAA9744E-7EFD-40D0-8ACE-69FEB3E87464}" srcId="{C2CFBFFA-0D0C-431B-991D-CE6835F81666}" destId="{850CD889-5F11-4E12-9CD7-005337A1D5BA}" srcOrd="1" destOrd="0" parTransId="{50E498B3-9050-442E-87AD-A3A458585E8F}" sibTransId="{3328F58F-35EE-4BEB-B50C-880BFA8B9181}"/>
    <dgm:cxn modelId="{C3E7A880-A419-419E-B85D-BD24800D3C9C}" type="presOf" srcId="{850CD889-5F11-4E12-9CD7-005337A1D5BA}" destId="{112334B5-66DD-4252-9800-DA045A7DAB44}" srcOrd="0" destOrd="0" presId="urn:microsoft.com/office/officeart/2005/8/layout/vList2"/>
    <dgm:cxn modelId="{743413B5-03C3-4763-AE23-7E9E6ADFA10A}" srcId="{C2CFBFFA-0D0C-431B-991D-CE6835F81666}" destId="{0D22FEE7-8F87-4EBB-8508-A50CE251645C}" srcOrd="0" destOrd="0" parTransId="{B295B78C-7E04-4789-8EC4-06905FD1820A}" sibTransId="{337BB63F-F200-40B9-847F-C30579278438}"/>
    <dgm:cxn modelId="{5938D0B7-6C7E-40D5-8C2E-9CACC12D1D67}" type="presOf" srcId="{0D22FEE7-8F87-4EBB-8508-A50CE251645C}" destId="{88E9FAD8-16A3-4D7F-9C5D-11C12F9BE12D}" srcOrd="0" destOrd="0" presId="urn:microsoft.com/office/officeart/2005/8/layout/vList2"/>
    <dgm:cxn modelId="{2656F5E8-8484-4B3C-8AC3-7C1AF2440BB2}" type="presOf" srcId="{C2CFBFFA-0D0C-431B-991D-CE6835F81666}" destId="{8DB48030-664A-4AE0-8248-5DD2DE6C156D}" srcOrd="0" destOrd="0" presId="urn:microsoft.com/office/officeart/2005/8/layout/vList2"/>
    <dgm:cxn modelId="{4DE1EF92-642B-4830-9033-DC2F5B4195A2}" type="presParOf" srcId="{8DB48030-664A-4AE0-8248-5DD2DE6C156D}" destId="{88E9FAD8-16A3-4D7F-9C5D-11C12F9BE12D}" srcOrd="0" destOrd="0" presId="urn:microsoft.com/office/officeart/2005/8/layout/vList2"/>
    <dgm:cxn modelId="{4A87F550-D1D8-412F-92B5-54773EFBEB25}" type="presParOf" srcId="{8DB48030-664A-4AE0-8248-5DD2DE6C156D}" destId="{011BA0FB-668E-44AC-9972-01CEE6BBFCB0}" srcOrd="1" destOrd="0" presId="urn:microsoft.com/office/officeart/2005/8/layout/vList2"/>
    <dgm:cxn modelId="{6D553E08-3DAC-48F3-BE29-3E5E6E53FC7A}" type="presParOf" srcId="{8DB48030-664A-4AE0-8248-5DD2DE6C156D}" destId="{112334B5-66DD-4252-9800-DA045A7DAB4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CFBFFA-0D0C-431B-991D-CE6835F816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22FEE7-8F87-4EBB-8508-A50CE251645C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Generating Random Numbers</a:t>
          </a:r>
        </a:p>
      </dgm:t>
    </dgm:pt>
    <dgm:pt modelId="{B295B78C-7E04-4789-8EC4-06905FD1820A}" type="parTrans" cxnId="{743413B5-03C3-4763-AE23-7E9E6ADFA10A}">
      <dgm:prSet/>
      <dgm:spPr/>
      <dgm:t>
        <a:bodyPr/>
        <a:lstStyle/>
        <a:p>
          <a:endParaRPr lang="en-US"/>
        </a:p>
      </dgm:t>
    </dgm:pt>
    <dgm:pt modelId="{337BB63F-F200-40B9-847F-C30579278438}" type="sibTrans" cxnId="{743413B5-03C3-4763-AE23-7E9E6ADFA10A}">
      <dgm:prSet/>
      <dgm:spPr/>
      <dgm:t>
        <a:bodyPr/>
        <a:lstStyle/>
        <a:p>
          <a:endParaRPr lang="en-US"/>
        </a:p>
      </dgm:t>
    </dgm:pt>
    <dgm:pt modelId="{850CD889-5F11-4E12-9CD7-005337A1D5BA}">
      <dgm:prSet phldrT="[Text]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Class Activities for Random numbers</a:t>
          </a:r>
        </a:p>
      </dgm:t>
    </dgm:pt>
    <dgm:pt modelId="{50E498B3-9050-442E-87AD-A3A458585E8F}" type="parTrans" cxnId="{FAA9744E-7EFD-40D0-8ACE-69FEB3E87464}">
      <dgm:prSet/>
      <dgm:spPr/>
      <dgm:t>
        <a:bodyPr/>
        <a:lstStyle/>
        <a:p>
          <a:endParaRPr lang="en-US"/>
        </a:p>
      </dgm:t>
    </dgm:pt>
    <dgm:pt modelId="{3328F58F-35EE-4BEB-B50C-880BFA8B9181}" type="sibTrans" cxnId="{FAA9744E-7EFD-40D0-8ACE-69FEB3E87464}">
      <dgm:prSet/>
      <dgm:spPr/>
      <dgm:t>
        <a:bodyPr/>
        <a:lstStyle/>
        <a:p>
          <a:endParaRPr lang="en-US"/>
        </a:p>
      </dgm:t>
    </dgm:pt>
    <dgm:pt modelId="{8DB48030-664A-4AE0-8248-5DD2DE6C156D}" type="pres">
      <dgm:prSet presAssocID="{C2CFBFFA-0D0C-431B-991D-CE6835F81666}" presName="linear" presStyleCnt="0">
        <dgm:presLayoutVars>
          <dgm:animLvl val="lvl"/>
          <dgm:resizeHandles val="exact"/>
        </dgm:presLayoutVars>
      </dgm:prSet>
      <dgm:spPr/>
    </dgm:pt>
    <dgm:pt modelId="{88E9FAD8-16A3-4D7F-9C5D-11C12F9BE12D}" type="pres">
      <dgm:prSet presAssocID="{0D22FEE7-8F87-4EBB-8508-A50CE251645C}" presName="parentText" presStyleLbl="node1" presStyleIdx="0" presStyleCnt="2" custLinFactY="-50495" custLinFactNeighborY="-100000">
        <dgm:presLayoutVars>
          <dgm:chMax val="0"/>
          <dgm:bulletEnabled val="1"/>
        </dgm:presLayoutVars>
      </dgm:prSet>
      <dgm:spPr/>
    </dgm:pt>
    <dgm:pt modelId="{011BA0FB-668E-44AC-9972-01CEE6BBFCB0}" type="pres">
      <dgm:prSet presAssocID="{337BB63F-F200-40B9-847F-C30579278438}" presName="spacer" presStyleCnt="0"/>
      <dgm:spPr/>
    </dgm:pt>
    <dgm:pt modelId="{112334B5-66DD-4252-9800-DA045A7DAB44}" type="pres">
      <dgm:prSet presAssocID="{850CD889-5F11-4E12-9CD7-005337A1D5BA}" presName="parentText" presStyleLbl="node1" presStyleIdx="1" presStyleCnt="2" custLinFactY="-62993" custLinFactNeighborY="-100000">
        <dgm:presLayoutVars>
          <dgm:chMax val="0"/>
          <dgm:bulletEnabled val="1"/>
        </dgm:presLayoutVars>
      </dgm:prSet>
      <dgm:spPr/>
    </dgm:pt>
  </dgm:ptLst>
  <dgm:cxnLst>
    <dgm:cxn modelId="{FAA9744E-7EFD-40D0-8ACE-69FEB3E87464}" srcId="{C2CFBFFA-0D0C-431B-991D-CE6835F81666}" destId="{850CD889-5F11-4E12-9CD7-005337A1D5BA}" srcOrd="1" destOrd="0" parTransId="{50E498B3-9050-442E-87AD-A3A458585E8F}" sibTransId="{3328F58F-35EE-4BEB-B50C-880BFA8B9181}"/>
    <dgm:cxn modelId="{C3E7A880-A419-419E-B85D-BD24800D3C9C}" type="presOf" srcId="{850CD889-5F11-4E12-9CD7-005337A1D5BA}" destId="{112334B5-66DD-4252-9800-DA045A7DAB44}" srcOrd="0" destOrd="0" presId="urn:microsoft.com/office/officeart/2005/8/layout/vList2"/>
    <dgm:cxn modelId="{743413B5-03C3-4763-AE23-7E9E6ADFA10A}" srcId="{C2CFBFFA-0D0C-431B-991D-CE6835F81666}" destId="{0D22FEE7-8F87-4EBB-8508-A50CE251645C}" srcOrd="0" destOrd="0" parTransId="{B295B78C-7E04-4789-8EC4-06905FD1820A}" sibTransId="{337BB63F-F200-40B9-847F-C30579278438}"/>
    <dgm:cxn modelId="{5938D0B7-6C7E-40D5-8C2E-9CACC12D1D67}" type="presOf" srcId="{0D22FEE7-8F87-4EBB-8508-A50CE251645C}" destId="{88E9FAD8-16A3-4D7F-9C5D-11C12F9BE12D}" srcOrd="0" destOrd="0" presId="urn:microsoft.com/office/officeart/2005/8/layout/vList2"/>
    <dgm:cxn modelId="{2656F5E8-8484-4B3C-8AC3-7C1AF2440BB2}" type="presOf" srcId="{C2CFBFFA-0D0C-431B-991D-CE6835F81666}" destId="{8DB48030-664A-4AE0-8248-5DD2DE6C156D}" srcOrd="0" destOrd="0" presId="urn:microsoft.com/office/officeart/2005/8/layout/vList2"/>
    <dgm:cxn modelId="{4DE1EF92-642B-4830-9033-DC2F5B4195A2}" type="presParOf" srcId="{8DB48030-664A-4AE0-8248-5DD2DE6C156D}" destId="{88E9FAD8-16A3-4D7F-9C5D-11C12F9BE12D}" srcOrd="0" destOrd="0" presId="urn:microsoft.com/office/officeart/2005/8/layout/vList2"/>
    <dgm:cxn modelId="{4A87F550-D1D8-412F-92B5-54773EFBEB25}" type="presParOf" srcId="{8DB48030-664A-4AE0-8248-5DD2DE6C156D}" destId="{011BA0FB-668E-44AC-9972-01CEE6BBFCB0}" srcOrd="1" destOrd="0" presId="urn:microsoft.com/office/officeart/2005/8/layout/vList2"/>
    <dgm:cxn modelId="{6D553E08-3DAC-48F3-BE29-3E5E6E53FC7A}" type="presParOf" srcId="{8DB48030-664A-4AE0-8248-5DD2DE6C156D}" destId="{112334B5-66DD-4252-9800-DA045A7DAB4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9FAD8-16A3-4D7F-9C5D-11C12F9BE12D}">
      <dsp:nvSpPr>
        <dsp:cNvPr id="0" name=""/>
        <dsp:cNvSpPr/>
      </dsp:nvSpPr>
      <dsp:spPr>
        <a:xfrm>
          <a:off x="0" y="523043"/>
          <a:ext cx="10515600" cy="1559025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Ternary Operators</a:t>
          </a:r>
        </a:p>
      </dsp:txBody>
      <dsp:txXfrm>
        <a:off x="76105" y="599148"/>
        <a:ext cx="10363390" cy="1406815"/>
      </dsp:txXfrm>
    </dsp:sp>
    <dsp:sp modelId="{112334B5-66DD-4252-9800-DA045A7DAB44}">
      <dsp:nvSpPr>
        <dsp:cNvPr id="0" name=""/>
        <dsp:cNvSpPr/>
      </dsp:nvSpPr>
      <dsp:spPr>
        <a:xfrm>
          <a:off x="0" y="2088639"/>
          <a:ext cx="10515600" cy="1559025"/>
        </a:xfrm>
        <a:prstGeom prst="roundRect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Switch in C++</a:t>
          </a:r>
        </a:p>
      </dsp:txBody>
      <dsp:txXfrm>
        <a:off x="76105" y="2164744"/>
        <a:ext cx="10363390" cy="14068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9FAD8-16A3-4D7F-9C5D-11C12F9BE12D}">
      <dsp:nvSpPr>
        <dsp:cNvPr id="0" name=""/>
        <dsp:cNvSpPr/>
      </dsp:nvSpPr>
      <dsp:spPr>
        <a:xfrm>
          <a:off x="0" y="33609"/>
          <a:ext cx="10515600" cy="1271205"/>
        </a:xfrm>
        <a:prstGeom prst="roundRect">
          <a:avLst/>
        </a:prstGeom>
        <a:solidFill>
          <a:schemeClr val="accent6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Generating Random Numbers</a:t>
          </a:r>
        </a:p>
      </dsp:txBody>
      <dsp:txXfrm>
        <a:off x="62055" y="95664"/>
        <a:ext cx="10391490" cy="1147095"/>
      </dsp:txXfrm>
    </dsp:sp>
    <dsp:sp modelId="{112334B5-66DD-4252-9800-DA045A7DAB44}">
      <dsp:nvSpPr>
        <dsp:cNvPr id="0" name=""/>
        <dsp:cNvSpPr/>
      </dsp:nvSpPr>
      <dsp:spPr>
        <a:xfrm>
          <a:off x="0" y="1298578"/>
          <a:ext cx="10515600" cy="1271205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Class Activities for Random numbers</a:t>
          </a:r>
        </a:p>
      </dsp:txBody>
      <dsp:txXfrm>
        <a:off x="62055" y="1360633"/>
        <a:ext cx="10391490" cy="1147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F4FB2-11ED-4B64-9D7C-83608774464E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44184-8605-4A57-8368-322AD2B7C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3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90725" y="1103198"/>
            <a:ext cx="8210550" cy="2330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5035" y="1793189"/>
            <a:ext cx="10361929" cy="1604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586633"/>
            <a:ext cx="9144000" cy="923330"/>
          </a:xfrm>
        </p:spPr>
        <p:txBody>
          <a:bodyPr/>
          <a:lstStyle/>
          <a:p>
            <a:r>
              <a:rPr lang="en-US" dirty="0"/>
              <a:t>Generating Random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5779" y="5745708"/>
            <a:ext cx="7601803" cy="6277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COMSATS University Islamabad, </a:t>
            </a:r>
            <a:r>
              <a:rPr lang="en-US" dirty="0" err="1"/>
              <a:t>Wah</a:t>
            </a:r>
            <a:r>
              <a:rPr lang="en-US" dirty="0"/>
              <a:t> Campus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8" y="182563"/>
            <a:ext cx="1881330" cy="174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488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1103198"/>
            <a:ext cx="8210550" cy="830997"/>
          </a:xfrm>
        </p:spPr>
        <p:txBody>
          <a:bodyPr/>
          <a:lstStyle/>
          <a:p>
            <a:pPr algn="ctr"/>
            <a:r>
              <a:rPr lang="en-US" dirty="0"/>
              <a:t> 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A873E23-F1AD-4F94-BCA4-9908D3C1D522}"/>
              </a:ext>
            </a:extLst>
          </p:cNvPr>
          <p:cNvSpPr txBox="1"/>
          <p:nvPr/>
        </p:nvSpPr>
        <p:spPr>
          <a:xfrm>
            <a:off x="1219200" y="542559"/>
            <a:ext cx="9372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 Previous Lecture Outline</a:t>
            </a:r>
          </a:p>
        </p:txBody>
      </p:sp>
    </p:spTree>
    <p:extLst>
      <p:ext uri="{BB962C8B-B14F-4D97-AF65-F5344CB8AC3E}">
        <p14:creationId xmlns:p14="http://schemas.microsoft.com/office/powerpoint/2010/main" val="326180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1103198"/>
            <a:ext cx="8210550" cy="830997"/>
          </a:xfrm>
        </p:spPr>
        <p:txBody>
          <a:bodyPr/>
          <a:lstStyle/>
          <a:p>
            <a:pPr algn="ctr"/>
            <a:r>
              <a:rPr lang="en-US" dirty="0"/>
              <a:t> 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378036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A873E23-F1AD-4F94-BCA4-9908D3C1D522}"/>
              </a:ext>
            </a:extLst>
          </p:cNvPr>
          <p:cNvSpPr txBox="1"/>
          <p:nvPr/>
        </p:nvSpPr>
        <p:spPr>
          <a:xfrm>
            <a:off x="1219200" y="542559"/>
            <a:ext cx="800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 Lecture Outline</a:t>
            </a:r>
          </a:p>
        </p:txBody>
      </p:sp>
    </p:spTree>
    <p:extLst>
      <p:ext uri="{BB962C8B-B14F-4D97-AF65-F5344CB8AC3E}">
        <p14:creationId xmlns:p14="http://schemas.microsoft.com/office/powerpoint/2010/main" val="4180795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520945"/>
            <a:ext cx="67024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Generating </a:t>
            </a:r>
            <a:r>
              <a:rPr sz="4400" spc="-5" dirty="0"/>
              <a:t>Random</a:t>
            </a:r>
            <a:r>
              <a:rPr sz="4400" spc="-50" dirty="0"/>
              <a:t> </a:t>
            </a:r>
            <a:r>
              <a:rPr sz="4400" spc="-15" dirty="0"/>
              <a:t>Numbers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62660" y="1594925"/>
            <a:ext cx="10266680" cy="421576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3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800" i="1" spc="-70" dirty="0">
                <a:latin typeface="Calibri"/>
                <a:cs typeface="Calibri"/>
              </a:rPr>
              <a:t>You </a:t>
            </a:r>
            <a:r>
              <a:rPr sz="2800" i="1" spc="-10" dirty="0">
                <a:latin typeface="Calibri"/>
                <a:cs typeface="Calibri"/>
              </a:rPr>
              <a:t>can </a:t>
            </a:r>
            <a:r>
              <a:rPr sz="2800" i="1" spc="-5" dirty="0">
                <a:latin typeface="Calibri"/>
                <a:cs typeface="Calibri"/>
              </a:rPr>
              <a:t>use </a:t>
            </a:r>
            <a:r>
              <a:rPr sz="2800" i="1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rand() </a:t>
            </a:r>
            <a:r>
              <a:rPr sz="2800" i="1" spc="-5" dirty="0">
                <a:latin typeface="Calibri"/>
                <a:cs typeface="Calibri"/>
              </a:rPr>
              <a:t>function </a:t>
            </a:r>
            <a:r>
              <a:rPr sz="2800" i="1" spc="-25" dirty="0">
                <a:latin typeface="Calibri"/>
                <a:cs typeface="Calibri"/>
              </a:rPr>
              <a:t>to </a:t>
            </a:r>
            <a:r>
              <a:rPr sz="2800" i="1" spc="-15" dirty="0">
                <a:latin typeface="Calibri"/>
                <a:cs typeface="Calibri"/>
              </a:rPr>
              <a:t>obtain </a:t>
            </a:r>
            <a:r>
              <a:rPr sz="2800" i="1" spc="-5" dirty="0">
                <a:latin typeface="Calibri"/>
                <a:cs typeface="Calibri"/>
              </a:rPr>
              <a:t>a random</a:t>
            </a:r>
            <a:r>
              <a:rPr sz="2800" i="1" spc="114" dirty="0">
                <a:latin typeface="Calibri"/>
                <a:cs typeface="Calibri"/>
              </a:rPr>
              <a:t> </a:t>
            </a:r>
            <a:r>
              <a:rPr sz="2800" i="1" spc="-35" dirty="0">
                <a:latin typeface="Calibri"/>
                <a:cs typeface="Calibri"/>
              </a:rPr>
              <a:t>integer.</a:t>
            </a:r>
            <a:endParaRPr lang="en-US" sz="2800" i="1" spc="-35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b="0" i="0" u="none" strike="noStrike" baseline="0" dirty="0">
                <a:solidFill>
                  <a:srgbClr val="000000"/>
                </a:solidFill>
              </a:rPr>
              <a:t>This function returns a random integer between </a:t>
            </a:r>
            <a:r>
              <a:rPr lang="en-US" sz="2800" b="0" i="0" u="none" strike="noStrike" baseline="0" dirty="0">
                <a:solidFill>
                  <a:srgbClr val="FF0000"/>
                </a:solidFill>
              </a:rPr>
              <a:t>0 </a:t>
            </a:r>
            <a:r>
              <a:rPr lang="en-US" sz="2800" b="0" i="0" u="none" strike="noStrike" baseline="0" dirty="0">
                <a:solidFill>
                  <a:srgbClr val="000000"/>
                </a:solidFill>
              </a:rPr>
              <a:t>and </a:t>
            </a:r>
            <a:r>
              <a:rPr lang="en-US" sz="2800" b="0" i="0" u="none" strike="noStrike" baseline="0" dirty="0">
                <a:solidFill>
                  <a:srgbClr val="FF0000"/>
                </a:solidFill>
              </a:rPr>
              <a:t>RAND_MAX. RAND_MAX </a:t>
            </a:r>
            <a:r>
              <a:rPr lang="en-US" sz="2800" b="0" i="0" u="none" strike="noStrike" baseline="0" dirty="0">
                <a:solidFill>
                  <a:srgbClr val="000000"/>
                </a:solidFill>
              </a:rPr>
              <a:t>is platform-dependent constant.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rand() </a:t>
            </a:r>
            <a:r>
              <a:rPr sz="2800" spc="-25" dirty="0">
                <a:latin typeface="Calibri"/>
                <a:cs typeface="Calibri"/>
              </a:rPr>
              <a:t>function’s </a:t>
            </a:r>
            <a:r>
              <a:rPr sz="2800" spc="-10" dirty="0">
                <a:latin typeface="Calibri"/>
                <a:cs typeface="Calibri"/>
              </a:rPr>
              <a:t>algorithm uses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value </a:t>
            </a:r>
            <a:r>
              <a:rPr sz="2800" spc="-5" dirty="0">
                <a:latin typeface="Calibri"/>
                <a:cs typeface="Calibri"/>
              </a:rPr>
              <a:t>called the </a:t>
            </a:r>
            <a:r>
              <a:rPr sz="2800" i="1" spc="-10" dirty="0">
                <a:latin typeface="Calibri"/>
                <a:cs typeface="Calibri"/>
              </a:rPr>
              <a:t>seed </a:t>
            </a:r>
            <a:r>
              <a:rPr sz="2800" spc="-20" dirty="0">
                <a:latin typeface="Calibri"/>
                <a:cs typeface="Calibri"/>
              </a:rPr>
              <a:t>to control  </a:t>
            </a:r>
            <a:r>
              <a:rPr sz="2800" spc="-10" dirty="0">
                <a:latin typeface="Calibri"/>
                <a:cs typeface="Calibri"/>
              </a:rPr>
              <a:t>how </a:t>
            </a:r>
            <a:r>
              <a:rPr sz="2800" spc="-20" dirty="0">
                <a:latin typeface="Calibri"/>
                <a:cs typeface="Calibri"/>
              </a:rPr>
              <a:t>to generate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numbers. By default,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seed value is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15" dirty="0">
                <a:latin typeface="Calibri"/>
                <a:cs typeface="Calibri"/>
              </a:rPr>
              <a:t>1.</a:t>
            </a:r>
            <a:endParaRPr lang="en-US" sz="2800" spc="15" dirty="0">
              <a:latin typeface="Calibri"/>
              <a:cs typeface="Calibri"/>
            </a:endParaRPr>
          </a:p>
          <a:p>
            <a:pPr marL="241300" marR="252729" indent="-228600">
              <a:lnSpc>
                <a:spcPts val="269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If </a:t>
            </a:r>
            <a:r>
              <a:rPr sz="2800" spc="-20" dirty="0">
                <a:latin typeface="Calibri"/>
                <a:cs typeface="Calibri"/>
              </a:rPr>
              <a:t>you </a:t>
            </a:r>
            <a:r>
              <a:rPr sz="2800" spc="-5" dirty="0">
                <a:latin typeface="Calibri"/>
                <a:cs typeface="Calibri"/>
              </a:rPr>
              <a:t>change the seed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25" dirty="0">
                <a:latin typeface="Calibri"/>
                <a:cs typeface="Calibri"/>
              </a:rPr>
              <a:t>different </a:t>
            </a:r>
            <a:r>
              <a:rPr sz="2800" spc="-10" dirty="0">
                <a:latin typeface="Calibri"/>
                <a:cs typeface="Calibri"/>
              </a:rPr>
              <a:t>value,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sequence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random  numbers </a:t>
            </a:r>
            <a:r>
              <a:rPr sz="2800" spc="-5" dirty="0">
                <a:latin typeface="Calibri"/>
                <a:cs typeface="Calibri"/>
              </a:rPr>
              <a:t>will be </a:t>
            </a:r>
            <a:r>
              <a:rPr sz="2800" spc="-20" dirty="0">
                <a:latin typeface="Calibri"/>
                <a:cs typeface="Calibri"/>
              </a:rPr>
              <a:t>different. </a:t>
            </a:r>
            <a:r>
              <a:rPr sz="2800" spc="-13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change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seed, use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srand(seed)  </a:t>
            </a:r>
            <a:r>
              <a:rPr sz="2800" spc="-10" dirty="0">
                <a:latin typeface="Calibri"/>
                <a:cs typeface="Calibri"/>
              </a:rPr>
              <a:t>function </a:t>
            </a:r>
            <a:r>
              <a:rPr sz="2800" spc="-5" dirty="0">
                <a:latin typeface="Calibri"/>
                <a:cs typeface="Calibri"/>
              </a:rPr>
              <a:t>in the </a:t>
            </a:r>
            <a:r>
              <a:rPr sz="2800" spc="-20" dirty="0">
                <a:latin typeface="Calibri"/>
                <a:cs typeface="Calibri"/>
              </a:rPr>
              <a:t>cstdlib </a:t>
            </a:r>
            <a:r>
              <a:rPr sz="2800" spc="-10" dirty="0">
                <a:latin typeface="Calibri"/>
                <a:cs typeface="Calibri"/>
              </a:rPr>
              <a:t>header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file.</a:t>
            </a:r>
            <a:endParaRPr lang="en-US" sz="2800" spc="-5" dirty="0">
              <a:latin typeface="Calibri"/>
              <a:cs typeface="Calibri"/>
            </a:endParaRPr>
          </a:p>
          <a:p>
            <a:pPr marL="241300" marR="252729" indent="-228600">
              <a:lnSpc>
                <a:spcPts val="269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dirty="0" err="1">
                <a:latin typeface="Calibri"/>
                <a:cs typeface="Calibri"/>
              </a:rPr>
              <a:t>srand</a:t>
            </a:r>
            <a:r>
              <a:rPr lang="en-US" sz="2800" dirty="0">
                <a:latin typeface="Calibri"/>
                <a:cs typeface="Calibri"/>
              </a:rPr>
              <a:t>(time(0)); produces a different output every time you run the program.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1B5F4-F04D-4984-9B73-0B58CE9D4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5035" y="1793189"/>
            <a:ext cx="10361929" cy="2115964"/>
          </a:xfrm>
        </p:spPr>
        <p:txBody>
          <a:bodyPr/>
          <a:lstStyle/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30" dirty="0">
                <a:latin typeface="Calibri"/>
                <a:cs typeface="Calibri"/>
              </a:rPr>
              <a:t>To </a:t>
            </a:r>
            <a:r>
              <a:rPr lang="en-US" sz="2800" spc="-10" dirty="0">
                <a:latin typeface="Calibri"/>
                <a:cs typeface="Calibri"/>
              </a:rPr>
              <a:t>obtain </a:t>
            </a:r>
            <a:r>
              <a:rPr lang="en-US" sz="2800" spc="-5" dirty="0">
                <a:latin typeface="Calibri"/>
                <a:cs typeface="Calibri"/>
              </a:rPr>
              <a:t>a </a:t>
            </a:r>
            <a:r>
              <a:rPr lang="en-US" sz="2800" spc="-15" dirty="0">
                <a:latin typeface="Calibri"/>
                <a:cs typeface="Calibri"/>
              </a:rPr>
              <a:t>random integer </a:t>
            </a:r>
            <a:r>
              <a:rPr lang="en-US" sz="2800" spc="-10" dirty="0">
                <a:latin typeface="Calibri"/>
                <a:cs typeface="Calibri"/>
              </a:rPr>
              <a:t>between </a:t>
            </a:r>
            <a:r>
              <a:rPr lang="en-US" sz="2800" spc="-5" dirty="0">
                <a:latin typeface="Calibri"/>
                <a:cs typeface="Calibri"/>
              </a:rPr>
              <a:t>0 and 9,</a:t>
            </a:r>
            <a:r>
              <a:rPr lang="en-US" sz="2800" spc="26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use</a:t>
            </a:r>
            <a:endParaRPr lang="en-US" sz="2800" dirty="0">
              <a:latin typeface="Calibri"/>
              <a:cs typeface="Calibri"/>
            </a:endParaRPr>
          </a:p>
          <a:p>
            <a:pPr marL="2755900">
              <a:lnSpc>
                <a:spcPct val="100000"/>
              </a:lnSpc>
              <a:spcBef>
                <a:spcPts val="330"/>
              </a:spcBef>
            </a:pPr>
            <a:r>
              <a:rPr lang="en-US" sz="2800" spc="-15" dirty="0">
                <a:latin typeface="Calibri"/>
                <a:cs typeface="Calibri"/>
              </a:rPr>
              <a:t>rand() </a:t>
            </a:r>
            <a:r>
              <a:rPr lang="en-US" sz="2800" spc="-5" dirty="0">
                <a:latin typeface="Calibri"/>
                <a:cs typeface="Calibri"/>
              </a:rPr>
              <a:t>%</a:t>
            </a:r>
            <a:r>
              <a:rPr lang="en-US" sz="2800" spc="3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10</a:t>
            </a:r>
            <a:endParaRPr lang="en-US"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30" dirty="0">
                <a:latin typeface="Calibri"/>
                <a:cs typeface="Calibri"/>
              </a:rPr>
              <a:t>To </a:t>
            </a:r>
            <a:r>
              <a:rPr lang="en-US" sz="2800" spc="-15" dirty="0">
                <a:latin typeface="Calibri"/>
                <a:cs typeface="Calibri"/>
              </a:rPr>
              <a:t>obtain </a:t>
            </a:r>
            <a:r>
              <a:rPr lang="en-US" sz="2800" spc="-5" dirty="0">
                <a:latin typeface="Calibri"/>
                <a:cs typeface="Calibri"/>
              </a:rPr>
              <a:t>a </a:t>
            </a:r>
            <a:r>
              <a:rPr lang="en-US" sz="2800" spc="-15" dirty="0">
                <a:latin typeface="Calibri"/>
                <a:cs typeface="Calibri"/>
              </a:rPr>
              <a:t>random integer </a:t>
            </a:r>
            <a:r>
              <a:rPr lang="en-US" sz="2800" spc="-10" dirty="0">
                <a:latin typeface="Calibri"/>
                <a:cs typeface="Calibri"/>
              </a:rPr>
              <a:t>between </a:t>
            </a:r>
            <a:r>
              <a:rPr lang="en-US" sz="2800" spc="-5" dirty="0">
                <a:latin typeface="Calibri"/>
                <a:cs typeface="Calibri"/>
              </a:rPr>
              <a:t>0 and 99,</a:t>
            </a:r>
            <a:r>
              <a:rPr lang="en-US" sz="2800" spc="30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use</a:t>
            </a:r>
            <a:endParaRPr lang="en-US" sz="2800" dirty="0">
              <a:latin typeface="Calibri"/>
              <a:cs typeface="Calibri"/>
            </a:endParaRPr>
          </a:p>
          <a:p>
            <a:pPr marL="2755900">
              <a:lnSpc>
                <a:spcPct val="100000"/>
              </a:lnSpc>
              <a:spcBef>
                <a:spcPts val="325"/>
              </a:spcBef>
            </a:pPr>
            <a:r>
              <a:rPr lang="en-US" sz="2800" spc="-15" dirty="0">
                <a:latin typeface="Calibri"/>
                <a:cs typeface="Calibri"/>
              </a:rPr>
              <a:t>rand() </a:t>
            </a:r>
            <a:r>
              <a:rPr lang="en-US" sz="2800" spc="-5" dirty="0">
                <a:latin typeface="Calibri"/>
                <a:cs typeface="Calibri"/>
              </a:rPr>
              <a:t>%</a:t>
            </a:r>
            <a:r>
              <a:rPr lang="en-US" sz="2800" spc="3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100</a:t>
            </a:r>
            <a:endParaRPr lang="en-US" sz="28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DCAED6-74EB-4929-B991-911AC1AA9D99}"/>
              </a:ext>
            </a:extLst>
          </p:cNvPr>
          <p:cNvSpPr txBox="1"/>
          <p:nvPr/>
        </p:nvSpPr>
        <p:spPr>
          <a:xfrm>
            <a:off x="1143000" y="685800"/>
            <a:ext cx="7665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Generating random numbers:</a:t>
            </a:r>
          </a:p>
        </p:txBody>
      </p:sp>
    </p:spTree>
    <p:extLst>
      <p:ext uri="{BB962C8B-B14F-4D97-AF65-F5344CB8AC3E}">
        <p14:creationId xmlns:p14="http://schemas.microsoft.com/office/powerpoint/2010/main" val="259626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1320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5" dirty="0"/>
              <a:t>Activity: </a:t>
            </a:r>
            <a:r>
              <a:rPr sz="4400" spc="-15" dirty="0"/>
              <a:t>Generating </a:t>
            </a:r>
            <a:r>
              <a:rPr sz="4400" spc="-5" dirty="0"/>
              <a:t>Random</a:t>
            </a:r>
            <a:r>
              <a:rPr sz="4400" spc="-50" dirty="0"/>
              <a:t> </a:t>
            </a:r>
            <a:r>
              <a:rPr sz="4400" spc="-15" dirty="0"/>
              <a:t>Numbers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9726295" cy="41211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5" dirty="0">
                <a:latin typeface="Calibri"/>
                <a:cs typeface="Calibri"/>
              </a:rPr>
              <a:t>program </a:t>
            </a:r>
            <a:r>
              <a:rPr sz="2800" spc="-20" dirty="0">
                <a:latin typeface="Calibri"/>
                <a:cs typeface="Calibri"/>
              </a:rPr>
              <a:t>may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set </a:t>
            </a:r>
            <a:r>
              <a:rPr sz="2800" spc="-5" dirty="0">
                <a:latin typeface="Calibri"/>
                <a:cs typeface="Calibri"/>
              </a:rPr>
              <a:t>up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work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follows:</a:t>
            </a:r>
            <a:endParaRPr sz="2800" dirty="0">
              <a:latin typeface="Calibri"/>
              <a:cs typeface="Calibri"/>
            </a:endParaRPr>
          </a:p>
          <a:p>
            <a:pPr marL="927100" marR="162560" algn="just">
              <a:lnSpc>
                <a:spcPts val="3020"/>
              </a:lnSpc>
              <a:spcBef>
                <a:spcPts val="1060"/>
              </a:spcBef>
            </a:pPr>
            <a:r>
              <a:rPr sz="2800" spc="-15" dirty="0">
                <a:latin typeface="Calibri"/>
                <a:cs typeface="Calibri"/>
              </a:rPr>
              <a:t>Step </a:t>
            </a:r>
            <a:r>
              <a:rPr sz="2800" spc="-5" dirty="0">
                <a:latin typeface="Calibri"/>
                <a:cs typeface="Calibri"/>
              </a:rPr>
              <a:t>1: </a:t>
            </a:r>
            <a:r>
              <a:rPr sz="2800" spc="-20" dirty="0">
                <a:latin typeface="Calibri"/>
                <a:cs typeface="Calibri"/>
              </a:rPr>
              <a:t>Generate </a:t>
            </a:r>
            <a:r>
              <a:rPr sz="2800" spc="-15" dirty="0">
                <a:latin typeface="Calibri"/>
                <a:cs typeface="Calibri"/>
              </a:rPr>
              <a:t>two </a:t>
            </a:r>
            <a:r>
              <a:rPr sz="2800" spc="-10" dirty="0">
                <a:latin typeface="Calibri"/>
                <a:cs typeface="Calibri"/>
              </a:rPr>
              <a:t>single-digit </a:t>
            </a:r>
            <a:r>
              <a:rPr sz="2800" spc="-20" dirty="0">
                <a:latin typeface="Calibri"/>
                <a:cs typeface="Calibri"/>
              </a:rPr>
              <a:t>integers into </a:t>
            </a:r>
            <a:r>
              <a:rPr sz="2800" spc="-10" dirty="0">
                <a:latin typeface="Calibri"/>
                <a:cs typeface="Calibri"/>
              </a:rPr>
              <a:t>number1 </a:t>
            </a:r>
            <a:r>
              <a:rPr sz="2800" spc="-5" dirty="0">
                <a:latin typeface="Calibri"/>
                <a:cs typeface="Calibri"/>
              </a:rPr>
              <a:t>and  </a:t>
            </a:r>
            <a:r>
              <a:rPr sz="2800" spc="-10" dirty="0">
                <a:latin typeface="Calibri"/>
                <a:cs typeface="Calibri"/>
              </a:rPr>
              <a:t>number2.</a:t>
            </a:r>
            <a:endParaRPr sz="2800" dirty="0">
              <a:latin typeface="Calibri"/>
              <a:cs typeface="Calibri"/>
            </a:endParaRPr>
          </a:p>
          <a:p>
            <a:pPr marL="927100" algn="just">
              <a:lnSpc>
                <a:spcPct val="100000"/>
              </a:lnSpc>
              <a:spcBef>
                <a:spcPts val="620"/>
              </a:spcBef>
            </a:pPr>
            <a:r>
              <a:rPr sz="2800" spc="-10" dirty="0">
                <a:latin typeface="Calibri"/>
                <a:cs typeface="Calibri"/>
              </a:rPr>
              <a:t>Step </a:t>
            </a:r>
            <a:r>
              <a:rPr sz="2800" spc="-5" dirty="0">
                <a:latin typeface="Calibri"/>
                <a:cs typeface="Calibri"/>
              </a:rPr>
              <a:t>2: Ask </a:t>
            </a:r>
            <a:r>
              <a:rPr sz="2800" spc="-10" dirty="0">
                <a:latin typeface="Calibri"/>
                <a:cs typeface="Calibri"/>
              </a:rPr>
              <a:t>user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5" dirty="0">
                <a:latin typeface="Calibri"/>
                <a:cs typeface="Calibri"/>
              </a:rPr>
              <a:t>enter </a:t>
            </a:r>
            <a:r>
              <a:rPr sz="2800" spc="-5" dirty="0">
                <a:latin typeface="Calibri"/>
                <a:cs typeface="Calibri"/>
              </a:rPr>
              <a:t>y if </a:t>
            </a:r>
            <a:r>
              <a:rPr sz="2800" spc="-15" dirty="0">
                <a:latin typeface="Calibri"/>
                <a:cs typeface="Calibri"/>
              </a:rPr>
              <a:t>he/she wants </a:t>
            </a:r>
            <a:r>
              <a:rPr sz="2800" spc="-20" dirty="0">
                <a:latin typeface="Calibri"/>
                <a:cs typeface="Calibri"/>
              </a:rPr>
              <a:t>to play </a:t>
            </a:r>
            <a:r>
              <a:rPr sz="2800" spc="-5" dirty="0">
                <a:latin typeface="Calibri"/>
                <a:cs typeface="Calibri"/>
              </a:rPr>
              <a:t>this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game.</a:t>
            </a:r>
            <a:endParaRPr sz="2800" dirty="0">
              <a:latin typeface="Calibri"/>
              <a:cs typeface="Calibri"/>
            </a:endParaRPr>
          </a:p>
          <a:p>
            <a:pPr marL="927100" marR="5080" algn="just">
              <a:lnSpc>
                <a:spcPts val="3020"/>
              </a:lnSpc>
              <a:spcBef>
                <a:spcPts val="1045"/>
              </a:spcBef>
            </a:pPr>
            <a:r>
              <a:rPr sz="2800" spc="-15" dirty="0">
                <a:latin typeface="Calibri"/>
                <a:cs typeface="Calibri"/>
              </a:rPr>
              <a:t>Step </a:t>
            </a:r>
            <a:r>
              <a:rPr sz="2800" spc="-5" dirty="0">
                <a:latin typeface="Calibri"/>
                <a:cs typeface="Calibri"/>
              </a:rPr>
              <a:t>3: if </a:t>
            </a:r>
            <a:r>
              <a:rPr sz="2800" spc="-10" dirty="0">
                <a:latin typeface="Calibri"/>
                <a:cs typeface="Calibri"/>
              </a:rPr>
              <a:t>user </a:t>
            </a:r>
            <a:r>
              <a:rPr sz="2800" spc="-25" dirty="0">
                <a:latin typeface="Calibri"/>
                <a:cs typeface="Calibri"/>
              </a:rPr>
              <a:t>enters </a:t>
            </a:r>
            <a:r>
              <a:rPr sz="2800" spc="-20" dirty="0">
                <a:latin typeface="Calibri"/>
                <a:cs typeface="Calibri"/>
              </a:rPr>
              <a:t>yes Prompt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user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answer “What </a:t>
            </a:r>
            <a:r>
              <a:rPr sz="2800" spc="-5" dirty="0">
                <a:latin typeface="Calibri"/>
                <a:cs typeface="Calibri"/>
              </a:rPr>
              <a:t>is  </a:t>
            </a:r>
            <a:r>
              <a:rPr sz="2800" spc="-10" dirty="0">
                <a:latin typeface="Calibri"/>
                <a:cs typeface="Calibri"/>
              </a:rPr>
              <a:t>number1 </a:t>
            </a:r>
            <a:r>
              <a:rPr sz="2800" spc="-5" dirty="0">
                <a:latin typeface="Calibri"/>
                <a:cs typeface="Calibri"/>
              </a:rPr>
              <a:t>+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number2?”</a:t>
            </a:r>
          </a:p>
          <a:p>
            <a:pPr marL="927100" marR="127000" algn="just">
              <a:lnSpc>
                <a:spcPts val="3020"/>
              </a:lnSpc>
              <a:spcBef>
                <a:spcPts val="1019"/>
              </a:spcBef>
            </a:pPr>
            <a:r>
              <a:rPr sz="2800" spc="-15" dirty="0">
                <a:latin typeface="Calibri"/>
                <a:cs typeface="Calibri"/>
              </a:rPr>
              <a:t>Step </a:t>
            </a:r>
            <a:r>
              <a:rPr sz="2800" spc="-5" dirty="0">
                <a:latin typeface="Calibri"/>
                <a:cs typeface="Calibri"/>
              </a:rPr>
              <a:t>4: </a:t>
            </a:r>
            <a:r>
              <a:rPr sz="2800" spc="-10" dirty="0">
                <a:latin typeface="Calibri"/>
                <a:cs typeface="Calibri"/>
              </a:rPr>
              <a:t>Check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student’s </a:t>
            </a:r>
            <a:r>
              <a:rPr sz="2800" spc="-10" dirty="0">
                <a:latin typeface="Calibri"/>
                <a:cs typeface="Calibri"/>
              </a:rPr>
              <a:t>answer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display </a:t>
            </a:r>
            <a:r>
              <a:rPr sz="2800" spc="-5" dirty="0">
                <a:latin typeface="Calibri"/>
                <a:cs typeface="Calibri"/>
              </a:rPr>
              <a:t>whether it is  </a:t>
            </a:r>
            <a:r>
              <a:rPr sz="2800" spc="-15" dirty="0">
                <a:latin typeface="Calibri"/>
                <a:cs typeface="Calibri"/>
              </a:rPr>
              <a:t>correct. </a:t>
            </a:r>
            <a:r>
              <a:rPr sz="2800" spc="-5" dirty="0">
                <a:latin typeface="Calibri"/>
                <a:cs typeface="Calibri"/>
              </a:rPr>
              <a:t>If </a:t>
            </a:r>
            <a:r>
              <a:rPr sz="2800" spc="-10" dirty="0">
                <a:latin typeface="Calibri"/>
                <a:cs typeface="Calibri"/>
              </a:rPr>
              <a:t>user </a:t>
            </a:r>
            <a:r>
              <a:rPr sz="2800" spc="-5" dirty="0">
                <a:latin typeface="Calibri"/>
                <a:cs typeface="Calibri"/>
              </a:rPr>
              <a:t>guess </a:t>
            </a:r>
            <a:r>
              <a:rPr sz="2800" spc="-15" dirty="0">
                <a:latin typeface="Calibri"/>
                <a:cs typeface="Calibri"/>
              </a:rPr>
              <a:t>correct </a:t>
            </a:r>
            <a:r>
              <a:rPr sz="2800" spc="-10" dirty="0">
                <a:latin typeface="Calibri"/>
                <a:cs typeface="Calibri"/>
              </a:rPr>
              <a:t>answer</a:t>
            </a:r>
            <a:r>
              <a:rPr lang="en-US" sz="2800" spc="-10" dirty="0">
                <a:latin typeface="Calibri"/>
                <a:cs typeface="Calibri"/>
              </a:rPr>
              <a:t>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display Congratulations  </a:t>
            </a:r>
            <a:r>
              <a:rPr sz="2800" spc="-10" dirty="0">
                <a:latin typeface="Calibri"/>
                <a:cs typeface="Calibri"/>
              </a:rPr>
              <a:t>otherwise </a:t>
            </a:r>
            <a:r>
              <a:rPr sz="2800" spc="-15" dirty="0">
                <a:latin typeface="Calibri"/>
                <a:cs typeface="Calibri"/>
              </a:rPr>
              <a:t>print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sorry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0176" y="12560"/>
            <a:ext cx="8215883" cy="68454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AA2AE9-5305-404A-991D-024C0220D216}"/>
              </a:ext>
            </a:extLst>
          </p:cNvPr>
          <p:cNvSpPr txBox="1"/>
          <p:nvPr/>
        </p:nvSpPr>
        <p:spPr>
          <a:xfrm>
            <a:off x="1066800" y="1097281"/>
            <a:ext cx="9372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Generating random number between lower and upper bound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48AFB2-4D37-4740-990B-010A12845974}"/>
              </a:ext>
            </a:extLst>
          </p:cNvPr>
          <p:cNvSpPr txBox="1"/>
          <p:nvPr/>
        </p:nvSpPr>
        <p:spPr>
          <a:xfrm>
            <a:off x="1066800" y="2209800"/>
            <a:ext cx="114300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Example:</a:t>
            </a:r>
          </a:p>
          <a:p>
            <a:r>
              <a:rPr lang="en-US" sz="2600" b="1" dirty="0"/>
              <a:t>Generating random numbers between 1 and 6 where 1 = minimum value and 6 = maximum value</a:t>
            </a:r>
          </a:p>
          <a:p>
            <a:r>
              <a:rPr lang="en-US" sz="2600" b="1" dirty="0"/>
              <a:t>	</a:t>
            </a:r>
          </a:p>
          <a:p>
            <a:endParaRPr lang="en-US" sz="2600" b="1" dirty="0">
              <a:solidFill>
                <a:srgbClr val="C00000"/>
              </a:solidFill>
            </a:endParaRPr>
          </a:p>
          <a:p>
            <a:r>
              <a:rPr lang="en-US" sz="2600" b="1" dirty="0">
                <a:solidFill>
                  <a:srgbClr val="C00000"/>
                </a:solidFill>
              </a:rPr>
              <a:t>Formula = (rand()%(maximum value-minimum value+1))+minimum value</a:t>
            </a:r>
          </a:p>
        </p:txBody>
      </p:sp>
    </p:spTree>
    <p:extLst>
      <p:ext uri="{BB962C8B-B14F-4D97-AF65-F5344CB8AC3E}">
        <p14:creationId xmlns:p14="http://schemas.microsoft.com/office/powerpoint/2010/main" val="3550321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1887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5" dirty="0"/>
              <a:t>T</a:t>
            </a:r>
            <a:r>
              <a:rPr sz="4400" dirty="0"/>
              <a:t>as</a:t>
            </a:r>
            <a:r>
              <a:rPr sz="4400" spc="-50" dirty="0"/>
              <a:t>k</a:t>
            </a:r>
            <a:r>
              <a:rPr sz="4400" dirty="0"/>
              <a:t>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36801"/>
            <a:ext cx="8929370" cy="2473113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241300" marR="5080" indent="-241300">
              <a:lnSpc>
                <a:spcPct val="102000"/>
              </a:lnSpc>
              <a:spcBef>
                <a:spcPts val="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Which of the </a:t>
            </a:r>
            <a:r>
              <a:rPr sz="2600" spc="-10" dirty="0">
                <a:latin typeface="Calibri"/>
                <a:cs typeface="Calibri"/>
              </a:rPr>
              <a:t>following </a:t>
            </a:r>
            <a:r>
              <a:rPr sz="2600" dirty="0">
                <a:latin typeface="Calibri"/>
                <a:cs typeface="Calibri"/>
              </a:rPr>
              <a:t>is a </a:t>
            </a:r>
            <a:r>
              <a:rPr sz="2600" spc="-5" dirty="0">
                <a:latin typeface="Calibri"/>
                <a:cs typeface="Calibri"/>
              </a:rPr>
              <a:t>possible output </a:t>
            </a:r>
            <a:r>
              <a:rPr sz="2600" spc="-10" dirty="0">
                <a:latin typeface="Calibri"/>
                <a:cs typeface="Calibri"/>
              </a:rPr>
              <a:t>from invoking </a:t>
            </a:r>
            <a:r>
              <a:rPr sz="2600" spc="-5" dirty="0">
                <a:latin typeface="Calibri"/>
                <a:cs typeface="Calibri"/>
              </a:rPr>
              <a:t>rand()?  </a:t>
            </a:r>
            <a:r>
              <a:rPr sz="2600" dirty="0">
                <a:latin typeface="Calibri"/>
                <a:cs typeface="Calibri"/>
              </a:rPr>
              <a:t>323.4, 5, 34, 1, 0.5,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0.234</a:t>
            </a:r>
          </a:p>
          <a:p>
            <a:pPr marL="328930" indent="-316865">
              <a:lnSpc>
                <a:spcPct val="100000"/>
              </a:lnSpc>
              <a:spcBef>
                <a:spcPts val="65"/>
              </a:spcBef>
              <a:buAutoNum type="alphaLcPeriod"/>
              <a:tabLst>
                <a:tab pos="329565" algn="l"/>
              </a:tabLst>
            </a:pPr>
            <a:r>
              <a:rPr sz="2600" spc="-5" dirty="0">
                <a:latin typeface="Calibri"/>
                <a:cs typeface="Calibri"/>
              </a:rPr>
              <a:t>How do </a:t>
            </a:r>
            <a:r>
              <a:rPr sz="2600" spc="-15" dirty="0">
                <a:latin typeface="Calibri"/>
                <a:cs typeface="Calibri"/>
              </a:rPr>
              <a:t>you generate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random integer </a:t>
            </a:r>
            <a:r>
              <a:rPr sz="2600" dirty="0">
                <a:latin typeface="Calibri"/>
                <a:cs typeface="Calibri"/>
              </a:rPr>
              <a:t>i </a:t>
            </a:r>
            <a:r>
              <a:rPr sz="2600" spc="-5" dirty="0">
                <a:latin typeface="Calibri"/>
                <a:cs typeface="Calibri"/>
              </a:rPr>
              <a:t>such that </a:t>
            </a:r>
            <a:r>
              <a:rPr sz="2600" dirty="0">
                <a:latin typeface="Calibri"/>
                <a:cs typeface="Calibri"/>
              </a:rPr>
              <a:t>0&lt;=</a:t>
            </a:r>
            <a:r>
              <a:rPr sz="2600" i="1" dirty="0">
                <a:latin typeface="Calibri"/>
                <a:cs typeface="Calibri"/>
              </a:rPr>
              <a:t>i &lt;</a:t>
            </a:r>
            <a:r>
              <a:rPr sz="2600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20?</a:t>
            </a:r>
          </a:p>
          <a:p>
            <a:pPr marL="344170" indent="-332105">
              <a:lnSpc>
                <a:spcPct val="100000"/>
              </a:lnSpc>
              <a:spcBef>
                <a:spcPts val="70"/>
              </a:spcBef>
              <a:buAutoNum type="alphaLcPeriod"/>
              <a:tabLst>
                <a:tab pos="344805" algn="l"/>
              </a:tabLst>
            </a:pPr>
            <a:r>
              <a:rPr sz="2600" spc="-10" dirty="0">
                <a:latin typeface="Calibri"/>
                <a:cs typeface="Calibri"/>
              </a:rPr>
              <a:t>How </a:t>
            </a:r>
            <a:r>
              <a:rPr sz="2600" dirty="0">
                <a:latin typeface="Calibri"/>
                <a:cs typeface="Calibri"/>
              </a:rPr>
              <a:t>do </a:t>
            </a:r>
            <a:r>
              <a:rPr sz="2600" spc="-15" dirty="0">
                <a:latin typeface="Calibri"/>
                <a:cs typeface="Calibri"/>
              </a:rPr>
              <a:t>you generate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random </a:t>
            </a:r>
            <a:r>
              <a:rPr sz="2600" spc="-10" dirty="0">
                <a:latin typeface="Calibri"/>
                <a:cs typeface="Calibri"/>
              </a:rPr>
              <a:t>integer </a:t>
            </a:r>
            <a:r>
              <a:rPr sz="2600" dirty="0">
                <a:latin typeface="Calibri"/>
                <a:cs typeface="Calibri"/>
              </a:rPr>
              <a:t>i </a:t>
            </a:r>
            <a:r>
              <a:rPr sz="2600" spc="-5" dirty="0">
                <a:latin typeface="Calibri"/>
                <a:cs typeface="Calibri"/>
              </a:rPr>
              <a:t>such that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10&lt;=</a:t>
            </a:r>
            <a:r>
              <a:rPr sz="2600" i="1" spc="-5" dirty="0">
                <a:latin typeface="Calibri"/>
                <a:cs typeface="Calibri"/>
              </a:rPr>
              <a:t>i&lt;=</a:t>
            </a:r>
            <a:r>
              <a:rPr sz="2600" spc="-5" dirty="0">
                <a:latin typeface="Calibri"/>
                <a:cs typeface="Calibri"/>
              </a:rPr>
              <a:t>20?</a:t>
            </a:r>
            <a:endParaRPr sz="2600" dirty="0">
              <a:latin typeface="Calibri"/>
              <a:cs typeface="Calibri"/>
            </a:endParaRPr>
          </a:p>
          <a:p>
            <a:pPr marL="310515" indent="-298450">
              <a:lnSpc>
                <a:spcPct val="100000"/>
              </a:lnSpc>
              <a:spcBef>
                <a:spcPts val="60"/>
              </a:spcBef>
              <a:buAutoNum type="alphaLcPeriod"/>
              <a:tabLst>
                <a:tab pos="311150" algn="l"/>
              </a:tabLst>
            </a:pPr>
            <a:r>
              <a:rPr sz="2600" spc="-5" dirty="0">
                <a:latin typeface="Calibri"/>
                <a:cs typeface="Calibri"/>
              </a:rPr>
              <a:t>How do </a:t>
            </a:r>
            <a:r>
              <a:rPr sz="2600" spc="-15" dirty="0">
                <a:latin typeface="Calibri"/>
                <a:cs typeface="Calibri"/>
              </a:rPr>
              <a:t>you generate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random integer </a:t>
            </a:r>
            <a:r>
              <a:rPr sz="2600" dirty="0">
                <a:latin typeface="Calibri"/>
                <a:cs typeface="Calibri"/>
              </a:rPr>
              <a:t>i </a:t>
            </a:r>
            <a:r>
              <a:rPr sz="2600" spc="-5" dirty="0">
                <a:latin typeface="Calibri"/>
                <a:cs typeface="Calibri"/>
              </a:rPr>
              <a:t>such that </a:t>
            </a:r>
            <a:r>
              <a:rPr sz="2600" dirty="0">
                <a:latin typeface="Calibri"/>
                <a:cs typeface="Calibri"/>
              </a:rPr>
              <a:t>10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&lt;=</a:t>
            </a:r>
            <a:r>
              <a:rPr sz="2600" i="1" dirty="0">
                <a:latin typeface="Calibri"/>
                <a:cs typeface="Calibri"/>
              </a:rPr>
              <a:t>i&lt;=</a:t>
            </a:r>
            <a:r>
              <a:rPr sz="2600">
                <a:latin typeface="Calibri"/>
                <a:cs typeface="Calibri"/>
              </a:rPr>
              <a:t>50</a:t>
            </a:r>
            <a:r>
              <a:rPr lang="en-US" sz="2600">
                <a:latin typeface="Calibri"/>
                <a:cs typeface="Calibri"/>
              </a:rPr>
              <a:t>?</a:t>
            </a:r>
            <a:endParaRPr lang="en-US" sz="2600" spc="-5" dirty="0">
              <a:latin typeface="Calibri"/>
              <a:cs typeface="Calibri"/>
            </a:endParaRPr>
          </a:p>
          <a:p>
            <a:pPr marL="344805" indent="-332740">
              <a:lnSpc>
                <a:spcPct val="100000"/>
              </a:lnSpc>
              <a:spcBef>
                <a:spcPts val="75"/>
              </a:spcBef>
              <a:buAutoNum type="alphaLcPeriod" startAt="4"/>
              <a:tabLst>
                <a:tab pos="345440" algn="l"/>
              </a:tabLst>
            </a:pPr>
            <a:r>
              <a:rPr lang="en-US" sz="2600" spc="-5" dirty="0">
                <a:latin typeface="Calibri"/>
                <a:cs typeface="Calibri"/>
              </a:rPr>
              <a:t>Find out what </a:t>
            </a:r>
            <a:r>
              <a:rPr lang="en-US" sz="2600" dirty="0">
                <a:latin typeface="Calibri"/>
                <a:cs typeface="Calibri"/>
              </a:rPr>
              <a:t>RAND_MAX is </a:t>
            </a:r>
            <a:r>
              <a:rPr lang="en-US" sz="2600" spc="-5" dirty="0">
                <a:latin typeface="Calibri"/>
                <a:cs typeface="Calibri"/>
              </a:rPr>
              <a:t>on </a:t>
            </a:r>
            <a:r>
              <a:rPr lang="en-US" sz="2600" spc="-15" dirty="0">
                <a:latin typeface="Calibri"/>
                <a:cs typeface="Calibri"/>
              </a:rPr>
              <a:t>your</a:t>
            </a:r>
            <a:r>
              <a:rPr lang="en-US" sz="2600" spc="-6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machine.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856B4-BF90-411F-977E-F8EAEF319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762000"/>
            <a:ext cx="10361929" cy="492443"/>
          </a:xfrm>
        </p:spPr>
        <p:txBody>
          <a:bodyPr/>
          <a:lstStyle/>
          <a:p>
            <a:r>
              <a:rPr lang="en-US" sz="3200" dirty="0"/>
              <a:t>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CEAB54-CEE1-4A96-8EE0-FFDC4554B860}"/>
              </a:ext>
            </a:extLst>
          </p:cNvPr>
          <p:cNvSpPr txBox="1"/>
          <p:nvPr/>
        </p:nvSpPr>
        <p:spPr>
          <a:xfrm>
            <a:off x="914400" y="2011681"/>
            <a:ext cx="8915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Write a program which ask user to generate a random number between 1 and 3 and print apple if random number is 1, prints, grapes if random number is 2 and prints peach if number is 3 (note use switch)</a:t>
            </a:r>
          </a:p>
          <a:p>
            <a:endParaRPr lang="en-US" sz="2400" b="1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29500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443</Words>
  <Application>Microsoft Macintosh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Generating Random Numbers</vt:lpstr>
      <vt:lpstr> </vt:lpstr>
      <vt:lpstr> </vt:lpstr>
      <vt:lpstr>Generating Random Numbers</vt:lpstr>
      <vt:lpstr>PowerPoint Presentation</vt:lpstr>
      <vt:lpstr>Activity: Generating Random Numbers</vt:lpstr>
      <vt:lpstr>PowerPoint Presentation</vt:lpstr>
      <vt:lpstr>PowerPoint Presentation</vt:lpstr>
      <vt:lpstr>Tasks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Switch</dc:title>
  <dc:creator>anamjavaid1992@gmail.com</dc:creator>
  <cp:lastModifiedBy>Taimur Sajjad</cp:lastModifiedBy>
  <cp:revision>17</cp:revision>
  <dcterms:created xsi:type="dcterms:W3CDTF">2020-05-21T00:32:45Z</dcterms:created>
  <dcterms:modified xsi:type="dcterms:W3CDTF">2026-03-15T17:33:05Z</dcterms:modified>
</cp:coreProperties>
</file>