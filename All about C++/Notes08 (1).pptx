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89" r:id="rId2"/>
    <p:sldId id="298" r:id="rId3"/>
    <p:sldId id="378" r:id="rId4"/>
    <p:sldId id="356" r:id="rId5"/>
    <p:sldId id="376" r:id="rId6"/>
    <p:sldId id="359" r:id="rId7"/>
    <p:sldId id="361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1BC7"/>
    <a:srgbClr val="B80000"/>
    <a:srgbClr val="008000"/>
    <a:srgbClr val="2C14DE"/>
    <a:srgbClr val="39DFE7"/>
    <a:srgbClr val="27558D"/>
    <a:srgbClr val="D20000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560" autoAdjust="0"/>
  </p:normalViewPr>
  <p:slideViewPr>
    <p:cSldViewPr>
      <p:cViewPr varScale="1">
        <p:scale>
          <a:sx n="97" d="100"/>
          <a:sy n="97" d="100"/>
        </p:scale>
        <p:origin x="19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man Ahmed/CS" userId="a601457e-3438-476a-8301-1014df0e74bf" providerId="ADAL" clId="{8B30CE42-95EC-4B69-BAD9-BB382FB9653E}"/>
    <pc:docChg chg="modSld">
      <pc:chgData name="Salman Ahmed/CS" userId="a601457e-3438-476a-8301-1014df0e74bf" providerId="ADAL" clId="{8B30CE42-95EC-4B69-BAD9-BB382FB9653E}" dt="2022-10-26T05:01:17.814" v="9" actId="20577"/>
      <pc:docMkLst>
        <pc:docMk/>
      </pc:docMkLst>
      <pc:sldChg chg="modSp mod">
        <pc:chgData name="Salman Ahmed/CS" userId="a601457e-3438-476a-8301-1014df0e74bf" providerId="ADAL" clId="{8B30CE42-95EC-4B69-BAD9-BB382FB9653E}" dt="2022-10-20T05:32:06.678" v="5" actId="20577"/>
        <pc:sldMkLst>
          <pc:docMk/>
          <pc:sldMk cId="275063414" sldId="345"/>
        </pc:sldMkLst>
        <pc:spChg chg="mod">
          <ac:chgData name="Salman Ahmed/CS" userId="a601457e-3438-476a-8301-1014df0e74bf" providerId="ADAL" clId="{8B30CE42-95EC-4B69-BAD9-BB382FB9653E}" dt="2022-10-20T05:32:06.678" v="5" actId="20577"/>
          <ac:spMkLst>
            <pc:docMk/>
            <pc:sldMk cId="275063414" sldId="345"/>
            <ac:spMk id="8" creationId="{00000000-0000-0000-0000-000000000000}"/>
          </ac:spMkLst>
        </pc:spChg>
      </pc:sldChg>
      <pc:sldChg chg="modSp mod">
        <pc:chgData name="Salman Ahmed/CS" userId="a601457e-3438-476a-8301-1014df0e74bf" providerId="ADAL" clId="{8B30CE42-95EC-4B69-BAD9-BB382FB9653E}" dt="2022-10-26T05:01:17.814" v="9" actId="20577"/>
        <pc:sldMkLst>
          <pc:docMk/>
          <pc:sldMk cId="3104864027" sldId="366"/>
        </pc:sldMkLst>
        <pc:spChg chg="mod">
          <ac:chgData name="Salman Ahmed/CS" userId="a601457e-3438-476a-8301-1014df0e74bf" providerId="ADAL" clId="{8B30CE42-95EC-4B69-BAD9-BB382FB9653E}" dt="2022-10-26T05:01:17.814" v="9" actId="20577"/>
          <ac:spMkLst>
            <pc:docMk/>
            <pc:sldMk cId="3104864027" sldId="366"/>
            <ac:spMk id="20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C187-C0AA-4A6A-BF8E-10F3D85C1A15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8B042-BBAA-416E-A5FB-5C41925677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3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97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B3DD-A758-5B69-A9CC-1CC2E394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5" descr="C:\Users\SALMAN\Desktop\cp 1\org.solovyev.android.calculator.png">
            <a:extLst>
              <a:ext uri="{FF2B5EF4-FFF2-40B4-BE49-F238E27FC236}">
                <a16:creationId xmlns:a16="http://schemas.microsoft.com/office/drawing/2014/main" id="{8C56617C-031F-653A-9790-3C697158C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38258"/>
            <a:ext cx="1981200" cy="1981200"/>
          </a:xfrm>
          <a:prstGeom prst="rect">
            <a:avLst/>
          </a:prstGeom>
          <a:noFill/>
        </p:spPr>
      </p:pic>
      <p:pic>
        <p:nvPicPr>
          <p:cNvPr id="6" name="Picture 2" descr="Comsats University Logo - CrystalPng">
            <a:extLst>
              <a:ext uri="{FF2B5EF4-FFF2-40B4-BE49-F238E27FC236}">
                <a16:creationId xmlns:a16="http://schemas.microsoft.com/office/drawing/2014/main" id="{85E4A07D-75EE-43FA-7AC1-1FC880BA9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69505"/>
            <a:ext cx="1282245" cy="128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F021BB-0692-5DC3-1857-900ECE8695D1}"/>
              </a:ext>
            </a:extLst>
          </p:cNvPr>
          <p:cNvSpPr txBox="1"/>
          <p:nvPr/>
        </p:nvSpPr>
        <p:spPr>
          <a:xfrm>
            <a:off x="486697" y="3958107"/>
            <a:ext cx="3124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Taimur Sajjad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400" dirty="0">
                <a:solidFill>
                  <a:schemeClr val="bg1"/>
                </a:solidFill>
              </a:rPr>
              <a:t>MS(Data Science)</a:t>
            </a:r>
            <a:endParaRPr lang="en-PK" sz="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3DC6E6-C348-1BA2-E017-BEEED77C51EE}"/>
              </a:ext>
            </a:extLst>
          </p:cNvPr>
          <p:cNvSpPr txBox="1"/>
          <p:nvPr/>
        </p:nvSpPr>
        <p:spPr>
          <a:xfrm>
            <a:off x="3452353" y="1868842"/>
            <a:ext cx="513489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Fundamentals</a:t>
            </a:r>
            <a:endParaRPr lang="en-PK" sz="2800" dirty="0"/>
          </a:p>
          <a:p>
            <a:endParaRPr lang="en-US" sz="2800" dirty="0"/>
          </a:p>
          <a:p>
            <a:endParaRPr lang="en-US" sz="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B9442-1567-D0B7-528E-2A268ED3728B}"/>
              </a:ext>
            </a:extLst>
          </p:cNvPr>
          <p:cNvSpPr txBox="1"/>
          <p:nvPr/>
        </p:nvSpPr>
        <p:spPr>
          <a:xfrm>
            <a:off x="476865" y="4556854"/>
            <a:ext cx="4753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MS(</a:t>
            </a:r>
            <a:r>
              <a:rPr lang="en-US" dirty="0"/>
              <a:t>Mob. Computing</a:t>
            </a:r>
            <a:r>
              <a:rPr lang="en-US" sz="1800" dirty="0"/>
              <a:t>)</a:t>
            </a:r>
          </a:p>
          <a:p>
            <a:r>
              <a:rPr lang="en-US" sz="1800" dirty="0"/>
              <a:t>Lecturer (Computer Science),, </a:t>
            </a:r>
          </a:p>
          <a:p>
            <a:r>
              <a:rPr lang="en-US" sz="1800" dirty="0"/>
              <a:t>CUI Wah Campus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9674497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457200"/>
            <a:ext cx="4646296" cy="470802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000" spc="-15" dirty="0"/>
              <a:t>Nested</a:t>
            </a:r>
            <a:r>
              <a:rPr sz="3000" spc="-68" dirty="0"/>
              <a:t> </a:t>
            </a:r>
            <a:r>
              <a:rPr sz="3000" spc="-4" dirty="0"/>
              <a:t>if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04800" y="1066800"/>
            <a:ext cx="8839199" cy="5560176"/>
          </a:xfrm>
          <a:prstGeom prst="rect">
            <a:avLst/>
          </a:prstGeom>
        </p:spPr>
        <p:txBody>
          <a:bodyPr vert="horz" wrap="square" lIns="0" tIns="50483" rIns="0" bIns="0" rtlCol="0">
            <a:spAutoFit/>
          </a:bodyPr>
          <a:lstStyle/>
          <a:p>
            <a:pPr marL="9525">
              <a:spcBef>
                <a:spcPts val="398"/>
              </a:spcBef>
            </a:pPr>
            <a:r>
              <a:rPr sz="1600" b="1" i="1" spc="-4" dirty="0">
                <a:latin typeface="Calibri"/>
                <a:cs typeface="Calibri"/>
              </a:rPr>
              <a:t>An if </a:t>
            </a:r>
            <a:r>
              <a:rPr sz="1600" b="1" i="1" spc="-11" dirty="0">
                <a:latin typeface="Calibri"/>
                <a:cs typeface="Calibri"/>
              </a:rPr>
              <a:t>statement </a:t>
            </a:r>
            <a:r>
              <a:rPr sz="1600" b="1" i="1" spc="-8" dirty="0">
                <a:latin typeface="Calibri"/>
                <a:cs typeface="Calibri"/>
              </a:rPr>
              <a:t>can </a:t>
            </a:r>
            <a:r>
              <a:rPr sz="1600" b="1" i="1" spc="-4" dirty="0">
                <a:latin typeface="Calibri"/>
                <a:cs typeface="Calibri"/>
              </a:rPr>
              <a:t>be inside another if </a:t>
            </a:r>
            <a:r>
              <a:rPr sz="1600" b="1" i="1" spc="-11" dirty="0">
                <a:latin typeface="Calibri"/>
                <a:cs typeface="Calibri"/>
              </a:rPr>
              <a:t>statement </a:t>
            </a:r>
            <a:r>
              <a:rPr sz="1600" b="1" i="1" spc="-8" dirty="0">
                <a:latin typeface="Calibri"/>
                <a:cs typeface="Calibri"/>
              </a:rPr>
              <a:t>to form </a:t>
            </a:r>
            <a:r>
              <a:rPr sz="1600" b="1" i="1" spc="-4" dirty="0">
                <a:latin typeface="Calibri"/>
                <a:cs typeface="Calibri"/>
              </a:rPr>
              <a:t>a </a:t>
            </a:r>
            <a:r>
              <a:rPr sz="1600" b="1" i="1" spc="-11" dirty="0">
                <a:latin typeface="Calibri"/>
                <a:cs typeface="Calibri"/>
              </a:rPr>
              <a:t>nested </a:t>
            </a:r>
            <a:r>
              <a:rPr sz="1600" b="1" i="1" spc="-4" dirty="0">
                <a:latin typeface="Calibri"/>
                <a:cs typeface="Calibri"/>
              </a:rPr>
              <a:t>if</a:t>
            </a:r>
            <a:r>
              <a:rPr sz="1600" b="1" i="1" spc="240" dirty="0">
                <a:latin typeface="Calibri"/>
                <a:cs typeface="Calibri"/>
              </a:rPr>
              <a:t> </a:t>
            </a:r>
            <a:r>
              <a:rPr sz="1600" b="1" i="1" spc="-11" dirty="0">
                <a:latin typeface="Calibri"/>
                <a:cs typeface="Calibri"/>
              </a:rPr>
              <a:t>statement.</a:t>
            </a:r>
            <a:endParaRPr sz="1600" dirty="0">
              <a:latin typeface="Calibri"/>
              <a:cs typeface="Calibri"/>
            </a:endParaRPr>
          </a:p>
          <a:p>
            <a:pPr marL="9525">
              <a:spcBef>
                <a:spcPts val="326"/>
              </a:spcBef>
            </a:pPr>
            <a:r>
              <a:rPr sz="1600" spc="-26" dirty="0">
                <a:latin typeface="Calibri"/>
                <a:cs typeface="Calibri"/>
              </a:rPr>
              <a:t>Task </a:t>
            </a:r>
            <a:r>
              <a:rPr sz="1600" spc="-4" dirty="0">
                <a:latin typeface="Calibri"/>
                <a:cs typeface="Calibri"/>
              </a:rPr>
              <a:t>1: </a:t>
            </a:r>
            <a:r>
              <a:rPr sz="1600" spc="-15" dirty="0">
                <a:latin typeface="Calibri"/>
                <a:cs typeface="Calibri"/>
              </a:rPr>
              <a:t>Write </a:t>
            </a:r>
            <a:r>
              <a:rPr sz="1600" spc="-4" dirty="0">
                <a:latin typeface="Calibri"/>
                <a:cs typeface="Calibri"/>
              </a:rPr>
              <a:t>a </a:t>
            </a:r>
            <a:r>
              <a:rPr sz="1600" spc="-8" dirty="0">
                <a:latin typeface="Calibri"/>
                <a:cs typeface="Calibri"/>
              </a:rPr>
              <a:t>code </a:t>
            </a:r>
            <a:r>
              <a:rPr sz="1600" spc="-4" dirty="0">
                <a:latin typeface="Calibri"/>
                <a:cs typeface="Calibri"/>
              </a:rPr>
              <a:t>using </a:t>
            </a:r>
            <a:r>
              <a:rPr sz="1600" spc="-8" dirty="0">
                <a:latin typeface="Calibri"/>
                <a:cs typeface="Calibri"/>
              </a:rPr>
              <a:t>nested </a:t>
            </a:r>
            <a:r>
              <a:rPr sz="1600" spc="-4" dirty="0">
                <a:latin typeface="Calibri"/>
                <a:cs typeface="Calibri"/>
              </a:rPr>
              <a:t>if in which </a:t>
            </a:r>
            <a:r>
              <a:rPr sz="1600" spc="-8" dirty="0">
                <a:latin typeface="Calibri"/>
                <a:cs typeface="Calibri"/>
              </a:rPr>
              <a:t>user enter three numbers, </a:t>
            </a:r>
            <a:r>
              <a:rPr sz="1600" spc="-4" dirty="0">
                <a:latin typeface="Calibri"/>
                <a:cs typeface="Calibri"/>
              </a:rPr>
              <a:t>and find if </a:t>
            </a:r>
            <a:r>
              <a:rPr sz="1600" spc="-8" dirty="0">
                <a:latin typeface="Calibri"/>
                <a:cs typeface="Calibri"/>
              </a:rPr>
              <a:t>1st number </a:t>
            </a:r>
            <a:r>
              <a:rPr sz="1600" spc="-4" dirty="0">
                <a:latin typeface="Calibri"/>
                <a:cs typeface="Calibri"/>
              </a:rPr>
              <a:t>is </a:t>
            </a:r>
            <a:r>
              <a:rPr sz="1600" spc="-8" dirty="0">
                <a:latin typeface="Calibri"/>
                <a:cs typeface="Calibri"/>
              </a:rPr>
              <a:t>greater </a:t>
            </a:r>
            <a:r>
              <a:rPr sz="1600" spc="-4" dirty="0">
                <a:latin typeface="Calibri"/>
                <a:cs typeface="Calibri"/>
              </a:rPr>
              <a:t>or</a:t>
            </a:r>
            <a:r>
              <a:rPr sz="1600" spc="244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not.</a:t>
            </a:r>
            <a:endParaRPr sz="1600" dirty="0">
              <a:latin typeface="Calibri"/>
              <a:cs typeface="Calibri"/>
            </a:endParaRPr>
          </a:p>
          <a:p>
            <a:pPr marL="9525" marR="4935379">
              <a:lnSpc>
                <a:spcPts val="1755"/>
              </a:lnSpc>
              <a:spcBef>
                <a:spcPts val="101"/>
              </a:spcBef>
            </a:pPr>
            <a:r>
              <a:rPr sz="1600" b="1" spc="-4" dirty="0">
                <a:latin typeface="Aharoni"/>
                <a:cs typeface="Aharoni"/>
              </a:rPr>
              <a:t>int </a:t>
            </a:r>
            <a:r>
              <a:rPr sz="1600" b="1" spc="-8" dirty="0">
                <a:latin typeface="Aharoni"/>
                <a:cs typeface="Aharoni"/>
              </a:rPr>
              <a:t>num1,num2,num3  </a:t>
            </a:r>
            <a:r>
              <a:rPr sz="1600" b="1" spc="-4" dirty="0">
                <a:latin typeface="Aharoni"/>
                <a:cs typeface="Aharoni"/>
              </a:rPr>
              <a:t>ci</a:t>
            </a:r>
            <a:r>
              <a:rPr sz="1600" b="1" spc="-8" dirty="0">
                <a:latin typeface="Aharoni"/>
                <a:cs typeface="Aharoni"/>
              </a:rPr>
              <a:t>n&gt;</a:t>
            </a:r>
            <a:r>
              <a:rPr sz="1600" b="1" spc="-4" dirty="0">
                <a:latin typeface="Aharoni"/>
                <a:cs typeface="Aharoni"/>
              </a:rPr>
              <a:t>&gt;</a:t>
            </a:r>
            <a:r>
              <a:rPr sz="1600" b="1" spc="-8" dirty="0">
                <a:latin typeface="Aharoni"/>
                <a:cs typeface="Aharoni"/>
              </a:rPr>
              <a:t>nu</a:t>
            </a:r>
            <a:r>
              <a:rPr sz="1600" b="1" dirty="0">
                <a:latin typeface="Aharoni"/>
                <a:cs typeface="Aharoni"/>
              </a:rPr>
              <a:t>m</a:t>
            </a:r>
            <a:r>
              <a:rPr sz="1600" b="1" spc="-8" dirty="0">
                <a:latin typeface="Aharoni"/>
                <a:cs typeface="Aharoni"/>
              </a:rPr>
              <a:t>1&gt;&gt;nu</a:t>
            </a:r>
            <a:r>
              <a:rPr sz="1600" b="1" spc="4" dirty="0">
                <a:latin typeface="Aharoni"/>
                <a:cs typeface="Aharoni"/>
              </a:rPr>
              <a:t>m</a:t>
            </a:r>
            <a:r>
              <a:rPr sz="1600" b="1" spc="-8" dirty="0">
                <a:latin typeface="Aharoni"/>
                <a:cs typeface="Aharoni"/>
              </a:rPr>
              <a:t>2&gt;&gt;nu</a:t>
            </a:r>
            <a:r>
              <a:rPr sz="1600" b="1" spc="4" dirty="0">
                <a:latin typeface="Aharoni"/>
                <a:cs typeface="Aharoni"/>
              </a:rPr>
              <a:t>m</a:t>
            </a:r>
            <a:r>
              <a:rPr sz="1600" b="1" spc="-8" dirty="0">
                <a:latin typeface="Aharoni"/>
                <a:cs typeface="Aharoni"/>
              </a:rPr>
              <a:t>3;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214"/>
              </a:spcBef>
            </a:pPr>
            <a:r>
              <a:rPr sz="1600" b="1" spc="-4" dirty="0">
                <a:latin typeface="Aharoni"/>
                <a:cs typeface="Aharoni"/>
              </a:rPr>
              <a:t>if(num&gt;num2)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{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19"/>
              </a:spcBef>
            </a:pPr>
            <a:r>
              <a:rPr sz="1600" b="1" spc="-4" dirty="0">
                <a:latin typeface="Aharoni"/>
                <a:cs typeface="Aharoni"/>
              </a:rPr>
              <a:t>If(num2&gt;num3)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23"/>
              </a:spcBef>
            </a:pPr>
            <a:r>
              <a:rPr sz="1600" b="1" spc="-4" dirty="0">
                <a:latin typeface="Aharoni"/>
                <a:cs typeface="Aharoni"/>
              </a:rPr>
              <a:t>{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cout&lt;&lt;num1&lt;&lt;“ is greater”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}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23"/>
              </a:spcBef>
            </a:pPr>
            <a:r>
              <a:rPr sz="1600" b="1" spc="-8" dirty="0">
                <a:latin typeface="Aharoni"/>
                <a:cs typeface="Aharoni"/>
              </a:rPr>
              <a:t>else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19"/>
              </a:spcBef>
            </a:pPr>
            <a:r>
              <a:rPr sz="1600" b="1" spc="-4" dirty="0">
                <a:latin typeface="Aharoni"/>
                <a:cs typeface="Aharoni"/>
              </a:rPr>
              <a:t>{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cout&lt;&lt;num1&lt;&lt;“ is </a:t>
            </a:r>
            <a:r>
              <a:rPr sz="1600" b="1" spc="-8" dirty="0">
                <a:latin typeface="Aharoni"/>
                <a:cs typeface="Aharoni"/>
              </a:rPr>
              <a:t>not</a:t>
            </a:r>
            <a:r>
              <a:rPr sz="1600" b="1" spc="-4" dirty="0">
                <a:latin typeface="Aharoni"/>
                <a:cs typeface="Aharoni"/>
              </a:rPr>
              <a:t> greater”;</a:t>
            </a:r>
            <a:endParaRPr sz="1600" dirty="0">
              <a:latin typeface="Aharoni"/>
              <a:cs typeface="Aharoni"/>
            </a:endParaRPr>
          </a:p>
          <a:p>
            <a:pPr marL="1381125">
              <a:spcBef>
                <a:spcPts val="323"/>
              </a:spcBef>
            </a:pPr>
            <a:r>
              <a:rPr sz="1600" b="1" spc="-4" dirty="0">
                <a:latin typeface="Aharoni"/>
                <a:cs typeface="Aharoni"/>
              </a:rPr>
              <a:t>}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}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319"/>
              </a:spcBef>
            </a:pPr>
            <a:r>
              <a:rPr sz="1600" b="1" spc="-8" dirty="0">
                <a:latin typeface="Aharoni"/>
                <a:cs typeface="Aharoni"/>
              </a:rPr>
              <a:t>else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323"/>
              </a:spcBef>
            </a:pPr>
            <a:r>
              <a:rPr sz="1600" b="1" spc="-4" dirty="0">
                <a:latin typeface="Aharoni"/>
                <a:cs typeface="Aharoni"/>
              </a:rPr>
              <a:t>{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cout&lt;&lt;num1&lt;&lt;“ is </a:t>
            </a:r>
            <a:r>
              <a:rPr sz="1600" b="1" spc="-8" dirty="0">
                <a:latin typeface="Aharoni"/>
                <a:cs typeface="Aharoni"/>
              </a:rPr>
              <a:t>not</a:t>
            </a:r>
            <a:r>
              <a:rPr sz="1600" b="1" spc="-4" dirty="0">
                <a:latin typeface="Aharoni"/>
                <a:cs typeface="Aharoni"/>
              </a:rPr>
              <a:t> greater”;</a:t>
            </a:r>
            <a:endParaRPr sz="1600" dirty="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 dirty="0">
                <a:latin typeface="Aharoni"/>
                <a:cs typeface="Aharoni"/>
              </a:rPr>
              <a:t>}</a:t>
            </a:r>
            <a:endParaRPr sz="1600" dirty="0">
              <a:latin typeface="Aharoni"/>
              <a:cs typeface="Aharoni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>
                <a:solidFill>
                  <a:srgbClr val="B80000"/>
                </a:solidFill>
              </a:rPr>
              <a:t>Matching the “else”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763000" cy="5943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514350" indent="-514350"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a, b, c;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&lt;&lt;“Enter three numbers, a, b, and c:\n”;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&gt;&gt; a &gt;&gt; b &gt;&gt; c;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if( a==b )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  if( b==c )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     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“a, b, and c are the same\n”;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“a and b are different\n”;</a:t>
            </a:r>
          </a:p>
          <a:p>
            <a:pPr marL="514350" indent="-514350"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514350" indent="-51435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4876800"/>
            <a:ext cx="7467600" cy="7386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r>
              <a:rPr lang="en-US" sz="21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1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100" b="1" dirty="0">
                <a:latin typeface="Courier New" pitchFamily="49" charset="0"/>
                <a:cs typeface="Courier New" pitchFamily="49" charset="0"/>
              </a:rPr>
              <a:t> &lt;&lt; “b and c are different\n”;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33800"/>
            <a:ext cx="8153400" cy="2246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if( a==b )</a:t>
            </a:r>
          </a:p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 if( b==c )</a:t>
            </a:r>
          </a:p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&lt;&lt; “a, b, and c are the same\n”;</a:t>
            </a:r>
          </a:p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514350" indent="-51435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&lt;&lt; “a and b are different\n”;</a:t>
            </a:r>
            <a:endParaRPr lang="en-US" sz="21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0960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B80000"/>
                </a:solidFill>
              </a:rPr>
              <a:t>Conditional Operator (Ternary operator)</a:t>
            </a:r>
            <a:endParaRPr lang="en-US" sz="3800" b="1" dirty="0">
              <a:solidFill>
                <a:srgbClr val="B80000"/>
              </a:solidFill>
              <a:latin typeface="Book Antiqua" pitchFamily="18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9067800" cy="5943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30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x &gt; 0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sz="3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y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sz="3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y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b="1" dirty="0">
                <a:solidFill>
                  <a:srgbClr val="2C14DE"/>
                </a:solidFill>
              </a:rPr>
              <a:t>				is equivalent to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 b="1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 dirty="0"/>
              <a:t>  y = (</a:t>
            </a:r>
            <a:r>
              <a:rPr lang="en-US" sz="3000" b="1" dirty="0">
                <a:solidFill>
                  <a:srgbClr val="2C14DE"/>
                </a:solidFill>
              </a:rPr>
              <a:t>x &gt; 0</a:t>
            </a:r>
            <a:r>
              <a:rPr lang="en-US" sz="3000" b="1" dirty="0"/>
              <a:t>) ? </a:t>
            </a:r>
            <a:r>
              <a:rPr lang="en-US" sz="3000" b="1" dirty="0">
                <a:solidFill>
                  <a:srgbClr val="008000"/>
                </a:solidFill>
              </a:rPr>
              <a:t>1</a:t>
            </a:r>
            <a:r>
              <a:rPr lang="en-US" sz="3000" b="1" dirty="0"/>
              <a:t> : </a:t>
            </a:r>
            <a:r>
              <a:rPr lang="en-US" sz="3000" b="1" dirty="0">
                <a:solidFill>
                  <a:srgbClr val="B80000"/>
                </a:solidFill>
              </a:rPr>
              <a:t>-1</a:t>
            </a:r>
            <a:r>
              <a:rPr lang="en-US" sz="3000" b="1" dirty="0"/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 u="sng" dirty="0"/>
              <a:t>Syntax: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 dirty="0"/>
              <a:t>		 result = (</a:t>
            </a:r>
            <a:r>
              <a:rPr lang="en-US" sz="3000" b="1" dirty="0">
                <a:solidFill>
                  <a:srgbClr val="2C14DE"/>
                </a:solidFill>
              </a:rPr>
              <a:t>condition</a:t>
            </a:r>
            <a:r>
              <a:rPr lang="en-US" sz="3000" b="1" dirty="0"/>
              <a:t>) ? </a:t>
            </a:r>
            <a:r>
              <a:rPr lang="en-US" sz="3000" b="1" dirty="0">
                <a:solidFill>
                  <a:srgbClr val="008000"/>
                </a:solidFill>
              </a:rPr>
              <a:t>Expression1</a:t>
            </a:r>
            <a:r>
              <a:rPr lang="en-US" sz="3000" b="1" dirty="0"/>
              <a:t> : </a:t>
            </a:r>
            <a:r>
              <a:rPr lang="en-US" sz="3000" b="1" dirty="0">
                <a:solidFill>
                  <a:srgbClr val="B80000"/>
                </a:solidFill>
              </a:rPr>
              <a:t>Expression2</a:t>
            </a:r>
            <a:r>
              <a:rPr lang="en-US" sz="3000" b="1" dirty="0"/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4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/>
          <a:lstStyle/>
          <a:p>
            <a:r>
              <a:rPr lang="en-US" dirty="0">
                <a:solidFill>
                  <a:srgbClr val="B80000"/>
                </a:solidFill>
              </a:rPr>
              <a:t>Conditional Operator, examples</a:t>
            </a:r>
            <a:endParaRPr lang="en-US" b="1" dirty="0">
              <a:solidFill>
                <a:srgbClr val="B80000"/>
              </a:solidFill>
              <a:latin typeface="Book Antiqua" pitchFamily="18" charset="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257800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sz="3000" b="1" dirty="0" err="1">
                <a:latin typeface="+mj-lt"/>
              </a:rPr>
              <a:t>cout</a:t>
            </a:r>
            <a:r>
              <a:rPr lang="en-US" sz="3000" b="1" dirty="0">
                <a:latin typeface="+mj-lt"/>
              </a:rPr>
              <a:t> &lt;&lt; ((</a:t>
            </a:r>
            <a:r>
              <a:rPr lang="en-US" sz="3000" b="1" dirty="0">
                <a:solidFill>
                  <a:srgbClr val="2F1BC7"/>
                </a:solidFill>
                <a:latin typeface="+mj-lt"/>
              </a:rPr>
              <a:t>num % 2 == 0</a:t>
            </a:r>
            <a:r>
              <a:rPr lang="en-US" sz="3000" b="1" dirty="0">
                <a:latin typeface="+mj-lt"/>
              </a:rPr>
              <a:t>) ? "</a:t>
            </a:r>
            <a:r>
              <a:rPr lang="en-US" sz="3000" b="1" dirty="0">
                <a:solidFill>
                  <a:srgbClr val="008000"/>
                </a:solidFill>
                <a:latin typeface="+mj-lt"/>
              </a:rPr>
              <a:t>num is even</a:t>
            </a:r>
            <a:r>
              <a:rPr lang="en-US" sz="3000" b="1" dirty="0">
                <a:latin typeface="+mj-lt"/>
              </a:rPr>
              <a:t>" : "</a:t>
            </a:r>
            <a:r>
              <a:rPr lang="en-US" sz="3000" b="1" dirty="0">
                <a:solidFill>
                  <a:srgbClr val="B80000"/>
                </a:solidFill>
                <a:latin typeface="+mj-lt"/>
              </a:rPr>
              <a:t>num is odd</a:t>
            </a:r>
            <a:r>
              <a:rPr lang="en-US" sz="3000" b="1" dirty="0">
                <a:latin typeface="+mj-lt"/>
              </a:rPr>
              <a:t>");</a:t>
            </a:r>
          </a:p>
          <a:p>
            <a:pPr>
              <a:buFont typeface="Monotype Sorts" pitchFamily="2" charset="2"/>
              <a:buNone/>
            </a:pPr>
            <a:r>
              <a:rPr lang="en-US" sz="3000" b="1" dirty="0"/>
              <a:t> </a:t>
            </a:r>
            <a:r>
              <a:rPr lang="en-US" sz="3000" b="1" dirty="0" err="1"/>
              <a:t>int</a:t>
            </a:r>
            <a:r>
              <a:rPr lang="en-US" sz="3000" b="1" dirty="0"/>
              <a:t> </a:t>
            </a:r>
            <a:r>
              <a:rPr lang="en-US" sz="3000" b="1" dirty="0" err="1"/>
              <a:t>min_value</a:t>
            </a:r>
            <a:r>
              <a:rPr lang="en-US" sz="3000" b="1" dirty="0"/>
              <a:t> = (</a:t>
            </a:r>
            <a:r>
              <a:rPr lang="en-US" sz="3000" b="1" dirty="0">
                <a:solidFill>
                  <a:srgbClr val="2F1BC7"/>
                </a:solidFill>
              </a:rPr>
              <a:t>num1&lt;num2</a:t>
            </a:r>
            <a:r>
              <a:rPr lang="en-US" sz="3000" b="1" dirty="0"/>
              <a:t>) ? </a:t>
            </a:r>
            <a:r>
              <a:rPr lang="en-US" sz="3000" b="1" dirty="0">
                <a:solidFill>
                  <a:srgbClr val="008000"/>
                </a:solidFill>
              </a:rPr>
              <a:t>num1</a:t>
            </a:r>
            <a:r>
              <a:rPr lang="en-US" sz="3000" b="1" dirty="0"/>
              <a:t> : </a:t>
            </a:r>
            <a:r>
              <a:rPr lang="en-US" sz="3000" b="1" dirty="0">
                <a:solidFill>
                  <a:srgbClr val="B80000"/>
                </a:solidFill>
              </a:rPr>
              <a:t>num2</a:t>
            </a:r>
            <a:r>
              <a:rPr lang="en-US" sz="3000" b="1" dirty="0"/>
              <a:t>;</a:t>
            </a:r>
          </a:p>
          <a:p>
            <a:pPr>
              <a:buFont typeface="Monotype Sorts" pitchFamily="2" charset="2"/>
              <a:buNone/>
            </a:pPr>
            <a:r>
              <a:rPr lang="en-US" sz="3000" b="1" dirty="0"/>
              <a:t> unsigned </a:t>
            </a:r>
            <a:r>
              <a:rPr lang="en-US" sz="3000" b="1" dirty="0" err="1"/>
              <a:t>int</a:t>
            </a:r>
            <a:r>
              <a:rPr lang="en-US" sz="3000" b="1" dirty="0"/>
              <a:t> </a:t>
            </a:r>
            <a:r>
              <a:rPr lang="en-US" sz="3000" b="1" dirty="0" err="1"/>
              <a:t>absvalue</a:t>
            </a:r>
            <a:r>
              <a:rPr lang="en-US" sz="3000" b="1" dirty="0"/>
              <a:t> = (</a:t>
            </a:r>
            <a:r>
              <a:rPr lang="en-US" sz="3000" b="1" dirty="0">
                <a:solidFill>
                  <a:srgbClr val="2F1BC7"/>
                </a:solidFill>
              </a:rPr>
              <a:t>n&lt; 0</a:t>
            </a:r>
            <a:r>
              <a:rPr lang="en-US" sz="3000" b="1" dirty="0"/>
              <a:t>) ? </a:t>
            </a:r>
            <a:r>
              <a:rPr lang="en-US" sz="3000" b="1" dirty="0">
                <a:solidFill>
                  <a:srgbClr val="008000"/>
                </a:solidFill>
              </a:rPr>
              <a:t>-n</a:t>
            </a:r>
            <a:r>
              <a:rPr lang="en-US" sz="3000" b="1" dirty="0"/>
              <a:t> : </a:t>
            </a:r>
            <a:r>
              <a:rPr lang="en-US" sz="3000" b="1" dirty="0">
                <a:solidFill>
                  <a:srgbClr val="B80000"/>
                </a:solidFill>
              </a:rPr>
              <a:t>n</a:t>
            </a:r>
            <a:r>
              <a:rPr lang="en-US" sz="3000" b="1" dirty="0"/>
              <a:t>;</a:t>
            </a:r>
          </a:p>
          <a:p>
            <a:pPr>
              <a:buFont typeface="Monotype Sorts" pitchFamily="2" charset="2"/>
              <a:buNone/>
            </a:pPr>
            <a:endParaRPr lang="en-US" sz="3000" b="1" dirty="0">
              <a:latin typeface="+mj-lt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1A57E-A984-178F-BC40-CC73EB1A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925" y="3657600"/>
            <a:ext cx="6678275" cy="217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Switch - Syntax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(Variable)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&lt;value_1&gt; : 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       statement2;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       statement3;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       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&lt;value_2&gt; : 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       statement2;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       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&lt;value_3&gt; : 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       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default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:		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            		 statement2;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48400" y="5181600"/>
            <a:ext cx="1736486" cy="914400"/>
            <a:chOff x="6248400" y="5181600"/>
            <a:chExt cx="1736486" cy="914400"/>
          </a:xfrm>
        </p:grpSpPr>
        <p:sp>
          <p:nvSpPr>
            <p:cNvPr id="8" name="Right Brace 7"/>
            <p:cNvSpPr/>
            <p:nvPr/>
          </p:nvSpPr>
          <p:spPr>
            <a:xfrm>
              <a:off x="6248400" y="5181600"/>
              <a:ext cx="381000" cy="914400"/>
            </a:xfrm>
            <a:prstGeom prst="rightBrace">
              <a:avLst/>
            </a:prstGeom>
            <a:ln w="41275">
              <a:solidFill>
                <a:srgbClr val="B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81800" y="5410200"/>
              <a:ext cx="12030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/>
                <a:t>Optional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27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Switch – Example-1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char grade;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&gt;&gt;grade;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(grade)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‘A’: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*= 0.20; 		          		     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‘B’: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*= 0.40; 		          		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‘C’: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*= 0.60; 		          			</a:t>
            </a: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	default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: 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*= 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		          			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03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Switch – Example-2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405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          			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" y="685800"/>
            <a:ext cx="83820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 err="1">
                <a:solidFill>
                  <a:srgbClr val="000000"/>
                </a:solidFill>
                <a:latin typeface="+mj-lt"/>
                <a:cs typeface="Arial" pitchFamily="34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  day;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 err="1">
                <a:solidFill>
                  <a:srgbClr val="000000"/>
                </a:solidFill>
                <a:latin typeface="+mj-lt"/>
                <a:cs typeface="Arial" pitchFamily="34" charset="0"/>
              </a:rPr>
              <a:t>cout</a:t>
            </a: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&lt;&lt;“Enter day number“;   </a:t>
            </a:r>
            <a:r>
              <a:rPr lang="en-US" sz="2600" dirty="0" err="1">
                <a:solidFill>
                  <a:srgbClr val="000000"/>
                </a:solidFill>
                <a:latin typeface="+mj-lt"/>
                <a:cs typeface="Arial" pitchFamily="34" charset="0"/>
              </a:rPr>
              <a:t>cin</a:t>
            </a: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&gt;&gt;day;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switch (day) </a:t>
            </a:r>
            <a:b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</a:b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           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case 1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8000"/>
                </a:solidFill>
                <a:latin typeface="+mj-lt"/>
                <a:cs typeface="Arial" pitchFamily="34" charset="0"/>
              </a:rPr>
              <a:t>	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case 7 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cout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 &lt;&lt; "This is a weekend day";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		 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B80000"/>
                </a:solidFill>
                <a:effectLst/>
                <a:latin typeface="+mj-lt"/>
                <a:cs typeface="Arial" pitchFamily="34" charset="0"/>
              </a:rPr>
              <a:t>break;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	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case 2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3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4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5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6 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cout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 &lt;&lt; "This is a weekday";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B80000"/>
                </a:solidFill>
                <a:effectLst/>
                <a:latin typeface="+mj-lt"/>
                <a:cs typeface="Arial" pitchFamily="34" charset="0"/>
              </a:rPr>
              <a:t>break;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	default 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cout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 &lt;&lt; "Not a legal day";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}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233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Switch – Example-3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405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          			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28600" y="838200"/>
            <a:ext cx="8382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+mj-lt"/>
                <a:cs typeface="Arial" pitchFamily="34" charset="0"/>
              </a:rPr>
              <a:t>int  a</a:t>
            </a: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, b; </a:t>
            </a:r>
            <a:r>
              <a:rPr lang="en-US" sz="2800" dirty="0"/>
              <a:t>char key;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err="1"/>
              <a:t>cout</a:t>
            </a:r>
            <a:r>
              <a:rPr lang="en-US" sz="2800" dirty="0"/>
              <a:t>&lt;&lt;“\</a:t>
            </a:r>
            <a:r>
              <a:rPr lang="en-US" sz="2800" dirty="0" err="1"/>
              <a:t>nEnter</a:t>
            </a:r>
            <a:r>
              <a:rPr lang="en-US" sz="2800" dirty="0"/>
              <a:t> numbers: “;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err="1"/>
              <a:t>cin</a:t>
            </a:r>
            <a:r>
              <a:rPr lang="en-US" sz="2800" dirty="0"/>
              <a:t>&gt;&gt;a&gt;&gt;b;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err="1"/>
              <a:t>cout</a:t>
            </a:r>
            <a:r>
              <a:rPr lang="en-US" sz="2800" dirty="0"/>
              <a:t>&lt;&lt;“Enter an arithmetic operator”;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err="1"/>
              <a:t>cin</a:t>
            </a:r>
            <a:r>
              <a:rPr lang="en-US" sz="2800" dirty="0"/>
              <a:t>&gt;&gt; key;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2C14DE"/>
                </a:solidFill>
              </a:rPr>
              <a:t>switch</a:t>
            </a:r>
            <a:r>
              <a:rPr lang="en-US" sz="2800" dirty="0"/>
              <a:t> (key)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{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2C14DE"/>
                </a:solidFill>
              </a:rPr>
              <a:t>case</a:t>
            </a:r>
            <a:r>
              <a:rPr lang="en-US" sz="2800" dirty="0"/>
              <a:t> ‘+’  :   </a:t>
            </a:r>
            <a:r>
              <a:rPr lang="en-US" sz="2800" dirty="0" err="1"/>
              <a:t>cout</a:t>
            </a:r>
            <a:r>
              <a:rPr lang="en-US" sz="2800" dirty="0"/>
              <a:t>&lt;&lt;(</a:t>
            </a:r>
            <a:r>
              <a:rPr lang="en-US" sz="2800" dirty="0" err="1"/>
              <a:t>a+b</a:t>
            </a:r>
            <a:r>
              <a:rPr lang="en-US" sz="2800" dirty="0"/>
              <a:t>);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2C14DE"/>
                </a:solidFill>
              </a:rPr>
              <a:t>case</a:t>
            </a:r>
            <a:r>
              <a:rPr lang="en-US" sz="2800" dirty="0"/>
              <a:t> ‘-’   :   </a:t>
            </a:r>
            <a:r>
              <a:rPr lang="en-US" sz="2800" dirty="0" err="1"/>
              <a:t>cout</a:t>
            </a:r>
            <a:r>
              <a:rPr lang="en-US" sz="2800" dirty="0"/>
              <a:t>&lt;&lt;(a-b); 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2C14DE"/>
                </a:solidFill>
              </a:rPr>
              <a:t>case</a:t>
            </a:r>
            <a:r>
              <a:rPr lang="en-US" sz="2800" dirty="0"/>
              <a:t> ‘*’  :   </a:t>
            </a:r>
            <a:r>
              <a:rPr lang="en-US" sz="2800" dirty="0" err="1"/>
              <a:t>cout</a:t>
            </a:r>
            <a:r>
              <a:rPr lang="en-US" sz="2800" dirty="0"/>
              <a:t>&lt;&lt;(a*b);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2C14DE"/>
                </a:solidFill>
              </a:rPr>
              <a:t>case</a:t>
            </a:r>
            <a:r>
              <a:rPr lang="en-US" sz="2800" dirty="0"/>
              <a:t> ‘/’   :   </a:t>
            </a:r>
            <a:r>
              <a:rPr lang="en-US" sz="2800" dirty="0" err="1"/>
              <a:t>cout</a:t>
            </a:r>
            <a:r>
              <a:rPr lang="en-US" sz="2800" dirty="0"/>
              <a:t>&lt;&lt;(a/b);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	default   :   </a:t>
            </a:r>
            <a:r>
              <a:rPr lang="en-US" sz="2800" dirty="0" err="1"/>
              <a:t>cout</a:t>
            </a:r>
            <a:r>
              <a:rPr lang="en-US" sz="2800" dirty="0"/>
              <a:t>&lt;&lt;“Error: Invalid key…";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 }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864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Class Exercise-1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838200"/>
            <a:ext cx="86106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 dirty="0"/>
          </a:p>
          <a:p>
            <a:r>
              <a:rPr lang="en-US" sz="3000" dirty="0" err="1"/>
              <a:t>int</a:t>
            </a:r>
            <a:r>
              <a:rPr lang="en-US" sz="3000" dirty="0"/>
              <a:t> marks = 60;  </a:t>
            </a:r>
          </a:p>
          <a:p>
            <a:endParaRPr lang="en-US" sz="3000" dirty="0"/>
          </a:p>
          <a:p>
            <a:r>
              <a:rPr lang="en-US" sz="3000" dirty="0"/>
              <a:t>switch(marks)</a:t>
            </a:r>
          </a:p>
          <a:p>
            <a:r>
              <a:rPr lang="en-US" sz="3000" dirty="0"/>
              <a:t>{</a:t>
            </a:r>
          </a:p>
          <a:p>
            <a:r>
              <a:rPr lang="en-US" sz="3000" dirty="0"/>
              <a:t>       case  50 : </a:t>
            </a:r>
            <a:r>
              <a:rPr lang="en-US" sz="3000" dirty="0" err="1"/>
              <a:t>cout</a:t>
            </a:r>
            <a:r>
              <a:rPr lang="en-US" sz="3000" dirty="0"/>
              <a:t>&lt;&lt;”Passed”;</a:t>
            </a:r>
          </a:p>
          <a:p>
            <a:r>
              <a:rPr lang="en-US" sz="3000" dirty="0"/>
              <a:t>       case  60 : </a:t>
            </a:r>
            <a:r>
              <a:rPr lang="en-US" sz="3000" dirty="0" err="1"/>
              <a:t>cout</a:t>
            </a:r>
            <a:r>
              <a:rPr lang="en-US" sz="3000" dirty="0"/>
              <a:t>&lt;&lt;”Got C”;</a:t>
            </a:r>
          </a:p>
          <a:p>
            <a:r>
              <a:rPr lang="en-US" sz="3000" dirty="0"/>
              <a:t>       case  70 : </a:t>
            </a:r>
            <a:r>
              <a:rPr lang="en-US" sz="3000" dirty="0" err="1"/>
              <a:t>cout</a:t>
            </a:r>
            <a:r>
              <a:rPr lang="en-US" sz="3000" dirty="0"/>
              <a:t>&lt;&lt;”Got B”;</a:t>
            </a:r>
          </a:p>
          <a:p>
            <a:r>
              <a:rPr lang="en-US" sz="3000" dirty="0"/>
              <a:t>       case  80 : </a:t>
            </a:r>
            <a:r>
              <a:rPr lang="en-US" sz="3000" dirty="0" err="1"/>
              <a:t>cout</a:t>
            </a:r>
            <a:r>
              <a:rPr lang="en-US" sz="3000" dirty="0"/>
              <a:t>&lt;&lt;”Got A”;</a:t>
            </a:r>
          </a:p>
          <a:p>
            <a:r>
              <a:rPr lang="en-US" sz="3000" dirty="0"/>
              <a:t>}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9975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Class Exercise-2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2886" y="1600200"/>
            <a:ext cx="7761514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 dirty="0"/>
          </a:p>
          <a:p>
            <a:r>
              <a:rPr lang="en-US" sz="3200" dirty="0" err="1"/>
              <a:t>int</a:t>
            </a:r>
            <a:r>
              <a:rPr lang="en-US" sz="3200" dirty="0"/>
              <a:t> n = -29;</a:t>
            </a:r>
          </a:p>
          <a:p>
            <a:r>
              <a:rPr lang="en-US" sz="3200" dirty="0" err="1"/>
              <a:t>int</a:t>
            </a:r>
            <a:r>
              <a:rPr lang="en-US" sz="3200" dirty="0"/>
              <a:t> temp = (n&lt;0)?-n:n;</a:t>
            </a:r>
          </a:p>
          <a:p>
            <a:r>
              <a:rPr lang="en-US" sz="3200" dirty="0" err="1"/>
              <a:t>cout</a:t>
            </a:r>
            <a:r>
              <a:rPr lang="en-US" sz="3200" dirty="0"/>
              <a:t>&lt;&lt;temp;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794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Class Exercise-3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 dirty="0"/>
          </a:p>
          <a:p>
            <a:r>
              <a:rPr lang="en-US" sz="3200" dirty="0" err="1"/>
              <a:t>int</a:t>
            </a:r>
            <a:r>
              <a:rPr lang="en-US" sz="3200" dirty="0"/>
              <a:t> x=21, y=31, z=44;</a:t>
            </a:r>
          </a:p>
          <a:p>
            <a:endParaRPr lang="en-US" sz="3200" dirty="0"/>
          </a:p>
          <a:p>
            <a:r>
              <a:rPr lang="de-DE" sz="3200" dirty="0"/>
              <a:t>if( ( x&gt;16) &amp;&amp; (y&gt;x) || (z%2==0) )</a:t>
            </a:r>
            <a:endParaRPr lang="en-US" sz="3200" dirty="0"/>
          </a:p>
          <a:p>
            <a:r>
              <a:rPr lang="de-DE" sz="3200" dirty="0"/>
              <a:t>        cout&lt;&lt;“Hello“;</a:t>
            </a:r>
            <a:endParaRPr lang="en-US" sz="3200" dirty="0"/>
          </a:p>
          <a:p>
            <a:r>
              <a:rPr lang="de-DE" sz="3200" dirty="0"/>
              <a:t>else</a:t>
            </a:r>
            <a:endParaRPr lang="en-US" sz="3200" dirty="0"/>
          </a:p>
          <a:p>
            <a:r>
              <a:rPr lang="de-DE" sz="3200" dirty="0"/>
              <a:t>        cout&lt;&lt;“World!“;</a:t>
            </a:r>
            <a:endParaRPr lang="en-US" sz="3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686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Class Exercise-4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8534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 dirty="0"/>
          </a:p>
          <a:p>
            <a:r>
              <a:rPr lang="en-US" sz="3200" dirty="0" err="1"/>
              <a:t>int</a:t>
            </a:r>
            <a:r>
              <a:rPr lang="en-US" sz="3200" dirty="0"/>
              <a:t> a = 5, b = 30;</a:t>
            </a:r>
          </a:p>
          <a:p>
            <a:r>
              <a:rPr lang="en-US" sz="3200" dirty="0"/>
              <a:t>       if(a &gt; b)</a:t>
            </a:r>
          </a:p>
          <a:p>
            <a:r>
              <a:rPr lang="en-US" sz="3200" dirty="0"/>
              <a:t>              if(b &gt; 0)</a:t>
            </a:r>
          </a:p>
          <a:p>
            <a:r>
              <a:rPr lang="en-US" sz="3200" dirty="0"/>
              <a:t>                      a = a + 5;</a:t>
            </a:r>
          </a:p>
          <a:p>
            <a:r>
              <a:rPr lang="en-US" sz="3200" dirty="0"/>
              <a:t>             else</a:t>
            </a:r>
          </a:p>
          <a:p>
            <a:r>
              <a:rPr lang="en-US" sz="3200" dirty="0"/>
              <a:t>                      if(b &gt;= 30)</a:t>
            </a:r>
          </a:p>
          <a:p>
            <a:r>
              <a:rPr lang="en-US" sz="3200" dirty="0"/>
              <a:t>                                b = b * 10;  </a:t>
            </a:r>
          </a:p>
          <a:p>
            <a:r>
              <a:rPr lang="en-US" sz="3200" dirty="0"/>
              <a:t> </a:t>
            </a:r>
            <a:r>
              <a:rPr lang="en-US" sz="3200" dirty="0" err="1"/>
              <a:t>cout</a:t>
            </a:r>
            <a:r>
              <a:rPr lang="en-US" sz="3200" dirty="0"/>
              <a:t>&lt;&lt;”a=”&lt;&lt;a&lt;&lt;” ”&lt;&lt;”, b=”&lt;&lt;b;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9150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0000"/>
                </a:solidFill>
                <a:cs typeface="Courier New" pitchFamily="49" charset="0"/>
              </a:rPr>
              <a:t>Class Exercise-5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990600"/>
            <a:ext cx="8382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 dirty="0"/>
          </a:p>
          <a:p>
            <a:r>
              <a:rPr lang="en-US" sz="3200" dirty="0" err="1"/>
              <a:t>int</a:t>
            </a:r>
            <a:r>
              <a:rPr lang="en-US" sz="3200" dirty="0"/>
              <a:t> x = 5, y = 30;</a:t>
            </a:r>
          </a:p>
          <a:p>
            <a:endParaRPr lang="en-US" sz="3200" dirty="0"/>
          </a:p>
          <a:p>
            <a:r>
              <a:rPr lang="en-US" sz="3200" dirty="0"/>
              <a:t>if(y/x &gt; 2)</a:t>
            </a:r>
          </a:p>
          <a:p>
            <a:r>
              <a:rPr lang="en-US" sz="3200" dirty="0"/>
              <a:t>        if(y % x !=2)</a:t>
            </a:r>
          </a:p>
          <a:p>
            <a:r>
              <a:rPr lang="en-US" sz="3200" dirty="0"/>
              <a:t>                 x = x + 2;</a:t>
            </a:r>
          </a:p>
          <a:p>
            <a:r>
              <a:rPr lang="en-US" sz="3200" dirty="0"/>
              <a:t> </a:t>
            </a:r>
          </a:p>
          <a:p>
            <a:r>
              <a:rPr lang="en-US" sz="3200" dirty="0" err="1"/>
              <a:t>cout</a:t>
            </a:r>
            <a:r>
              <a:rPr lang="en-US" sz="3200" dirty="0"/>
              <a:t>&lt;&lt;x&lt;&lt;”\n“&lt;&lt;y;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4499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2672</TotalTime>
  <Words>1068</Words>
  <Application>Microsoft Macintosh PowerPoint</Application>
  <PresentationFormat>On-screen Show (4:3)</PresentationFormat>
  <Paragraphs>187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Aharoni</vt:lpstr>
      <vt:lpstr>Arial</vt:lpstr>
      <vt:lpstr>Book Antiqua</vt:lpstr>
      <vt:lpstr>Calibri</vt:lpstr>
      <vt:lpstr>Courier New</vt:lpstr>
      <vt:lpstr>Monotype Sorts</vt:lpstr>
      <vt:lpstr>Wingdings</vt:lpstr>
      <vt:lpstr>Office Theme</vt:lpstr>
      <vt:lpstr>PowerPoint Presentation</vt:lpstr>
      <vt:lpstr>PowerPoint Presentation</vt:lpstr>
      <vt:lpstr>Nested if</vt:lpstr>
      <vt:lpstr>Matching the “else”</vt:lpstr>
      <vt:lpstr>Conditional Operator (Ternary operator)</vt:lpstr>
      <vt:lpstr>Conditional Operator, examples</vt:lpstr>
      <vt:lpstr>Switch - Syntax</vt:lpstr>
      <vt:lpstr>Switch – Example-1</vt:lpstr>
      <vt:lpstr>Switch – Example-2</vt:lpstr>
      <vt:lpstr>Switch – Example-3</vt:lpstr>
      <vt:lpstr>Class Exercise-1</vt:lpstr>
      <vt:lpstr>Class Exercise-2</vt:lpstr>
      <vt:lpstr>Class Exercise-3</vt:lpstr>
      <vt:lpstr>Class Exercise-4</vt:lpstr>
      <vt:lpstr>Class Exercise-5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Taimur Sajjad</cp:lastModifiedBy>
  <cp:revision>590</cp:revision>
  <dcterms:created xsi:type="dcterms:W3CDTF">2012-08-28T12:59:58Z</dcterms:created>
  <dcterms:modified xsi:type="dcterms:W3CDTF">2024-10-01T06:14:35Z</dcterms:modified>
</cp:coreProperties>
</file>