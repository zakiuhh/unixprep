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x="10693400" cy="7556500"/>
  <p:notesSz cx="10693400" cy="7556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2400" y="850900"/>
            <a:ext cx="10388600" cy="5842000"/>
          </a:xfrm>
          <a:custGeom>
            <a:avLst/>
            <a:gdLst/>
            <a:ahLst/>
            <a:cxnLst/>
            <a:rect l="l" t="t" r="r" b="b"/>
            <a:pathLst>
              <a:path w="10388600" h="5842000">
                <a:moveTo>
                  <a:pt x="10388600" y="0"/>
                </a:moveTo>
                <a:lnTo>
                  <a:pt x="0" y="0"/>
                </a:lnTo>
                <a:lnTo>
                  <a:pt x="0" y="5842000"/>
                </a:lnTo>
                <a:lnTo>
                  <a:pt x="10388600" y="5842000"/>
                </a:lnTo>
                <a:lnTo>
                  <a:pt x="10388600" y="0"/>
                </a:lnTo>
                <a:close/>
              </a:path>
            </a:pathLst>
          </a:custGeom>
          <a:solidFill>
            <a:srgbClr val="191B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7098551" y="2287269"/>
            <a:ext cx="2790825" cy="3755390"/>
          </a:xfrm>
          <a:custGeom>
            <a:avLst/>
            <a:gdLst/>
            <a:ahLst/>
            <a:cxnLst/>
            <a:rect l="l" t="t" r="r" b="b"/>
            <a:pathLst>
              <a:path w="2790825" h="3755390">
                <a:moveTo>
                  <a:pt x="2790583" y="0"/>
                </a:moveTo>
                <a:lnTo>
                  <a:pt x="2444889" y="0"/>
                </a:lnTo>
                <a:lnTo>
                  <a:pt x="2444889" y="3430270"/>
                </a:lnTo>
                <a:lnTo>
                  <a:pt x="0" y="3430270"/>
                </a:lnTo>
                <a:lnTo>
                  <a:pt x="0" y="3755390"/>
                </a:lnTo>
                <a:lnTo>
                  <a:pt x="2790583" y="3755390"/>
                </a:lnTo>
                <a:lnTo>
                  <a:pt x="2790583" y="3430270"/>
                </a:lnTo>
                <a:lnTo>
                  <a:pt x="2790583" y="0"/>
                </a:lnTo>
                <a:close/>
              </a:path>
            </a:pathLst>
          </a:custGeom>
          <a:solidFill>
            <a:srgbClr val="EFED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33976" y="3028930"/>
            <a:ext cx="6035040" cy="1061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1" i="0">
                <a:solidFill>
                  <a:srgbClr val="191B0E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188428" y="4108385"/>
            <a:ext cx="5092065" cy="863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rgbClr val="191B0E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rgbClr val="191B0E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rgbClr val="191B0E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2400" y="850900"/>
            <a:ext cx="407670" cy="5842000"/>
          </a:xfrm>
          <a:custGeom>
            <a:avLst/>
            <a:gdLst/>
            <a:ahLst/>
            <a:cxnLst/>
            <a:rect l="l" t="t" r="r" b="b"/>
            <a:pathLst>
              <a:path w="407670" h="5842000">
                <a:moveTo>
                  <a:pt x="0" y="5842000"/>
                </a:moveTo>
                <a:lnTo>
                  <a:pt x="407376" y="5842000"/>
                </a:lnTo>
                <a:lnTo>
                  <a:pt x="407376" y="0"/>
                </a:lnTo>
                <a:lnTo>
                  <a:pt x="0" y="0"/>
                </a:lnTo>
                <a:lnTo>
                  <a:pt x="0" y="5842000"/>
                </a:lnTo>
                <a:close/>
              </a:path>
            </a:pathLst>
          </a:custGeom>
          <a:solidFill>
            <a:srgbClr val="EFED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754562" y="850900"/>
            <a:ext cx="9786620" cy="5842000"/>
          </a:xfrm>
          <a:custGeom>
            <a:avLst/>
            <a:gdLst/>
            <a:ahLst/>
            <a:cxnLst/>
            <a:rect l="l" t="t" r="r" b="b"/>
            <a:pathLst>
              <a:path w="9786620" h="5842000">
                <a:moveTo>
                  <a:pt x="0" y="5842000"/>
                </a:moveTo>
                <a:lnTo>
                  <a:pt x="9786436" y="5842000"/>
                </a:lnTo>
                <a:lnTo>
                  <a:pt x="9786436" y="0"/>
                </a:lnTo>
                <a:lnTo>
                  <a:pt x="0" y="0"/>
                </a:lnTo>
                <a:lnTo>
                  <a:pt x="0" y="5842000"/>
                </a:lnTo>
                <a:close/>
              </a:path>
            </a:pathLst>
          </a:custGeom>
          <a:solidFill>
            <a:srgbClr val="EFED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559776" y="851220"/>
            <a:ext cx="194945" cy="5842000"/>
          </a:xfrm>
          <a:custGeom>
            <a:avLst/>
            <a:gdLst/>
            <a:ahLst/>
            <a:cxnLst/>
            <a:rect l="l" t="t" r="r" b="b"/>
            <a:pathLst>
              <a:path w="194945" h="5842000">
                <a:moveTo>
                  <a:pt x="194786" y="0"/>
                </a:moveTo>
                <a:lnTo>
                  <a:pt x="0" y="0"/>
                </a:lnTo>
                <a:lnTo>
                  <a:pt x="0" y="5842000"/>
                </a:lnTo>
                <a:lnTo>
                  <a:pt x="194786" y="5842000"/>
                </a:lnTo>
                <a:lnTo>
                  <a:pt x="194786" y="0"/>
                </a:lnTo>
                <a:close/>
              </a:path>
            </a:pathLst>
          </a:custGeom>
          <a:solidFill>
            <a:srgbClr val="191B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744982" y="850899"/>
            <a:ext cx="9796145" cy="680720"/>
          </a:xfrm>
          <a:custGeom>
            <a:avLst/>
            <a:gdLst/>
            <a:ahLst/>
            <a:cxnLst/>
            <a:rect l="l" t="t" r="r" b="b"/>
            <a:pathLst>
              <a:path w="9796145" h="680719">
                <a:moveTo>
                  <a:pt x="9796005" y="0"/>
                </a:moveTo>
                <a:lnTo>
                  <a:pt x="0" y="0"/>
                </a:lnTo>
                <a:lnTo>
                  <a:pt x="0" y="29210"/>
                </a:lnTo>
                <a:lnTo>
                  <a:pt x="0" y="650240"/>
                </a:lnTo>
                <a:lnTo>
                  <a:pt x="0" y="680720"/>
                </a:lnTo>
                <a:lnTo>
                  <a:pt x="9796005" y="680720"/>
                </a:lnTo>
                <a:lnTo>
                  <a:pt x="9796005" y="650443"/>
                </a:lnTo>
                <a:lnTo>
                  <a:pt x="9796005" y="650240"/>
                </a:lnTo>
                <a:lnTo>
                  <a:pt x="9796005" y="29756"/>
                </a:lnTo>
                <a:lnTo>
                  <a:pt x="9766249" y="29756"/>
                </a:lnTo>
                <a:lnTo>
                  <a:pt x="9766249" y="650240"/>
                </a:lnTo>
                <a:lnTo>
                  <a:pt x="29756" y="650240"/>
                </a:lnTo>
                <a:lnTo>
                  <a:pt x="29756" y="29210"/>
                </a:lnTo>
                <a:lnTo>
                  <a:pt x="9796005" y="29210"/>
                </a:lnTo>
                <a:lnTo>
                  <a:pt x="97960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2400" y="850900"/>
            <a:ext cx="10388600" cy="5842000"/>
          </a:xfrm>
          <a:custGeom>
            <a:avLst/>
            <a:gdLst/>
            <a:ahLst/>
            <a:cxnLst/>
            <a:rect l="l" t="t" r="r" b="b"/>
            <a:pathLst>
              <a:path w="10388600" h="5842000">
                <a:moveTo>
                  <a:pt x="10388600" y="0"/>
                </a:moveTo>
                <a:lnTo>
                  <a:pt x="0" y="0"/>
                </a:lnTo>
                <a:lnTo>
                  <a:pt x="0" y="5842000"/>
                </a:lnTo>
                <a:lnTo>
                  <a:pt x="10388600" y="5842000"/>
                </a:lnTo>
                <a:lnTo>
                  <a:pt x="10388600" y="0"/>
                </a:lnTo>
                <a:close/>
              </a:path>
            </a:pathLst>
          </a:custGeom>
          <a:solidFill>
            <a:srgbClr val="EFED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559776" y="851220"/>
            <a:ext cx="194945" cy="5842000"/>
          </a:xfrm>
          <a:custGeom>
            <a:avLst/>
            <a:gdLst/>
            <a:ahLst/>
            <a:cxnLst/>
            <a:rect l="l" t="t" r="r" b="b"/>
            <a:pathLst>
              <a:path w="194945" h="5842000">
                <a:moveTo>
                  <a:pt x="194786" y="0"/>
                </a:moveTo>
                <a:lnTo>
                  <a:pt x="0" y="0"/>
                </a:lnTo>
                <a:lnTo>
                  <a:pt x="0" y="5842000"/>
                </a:lnTo>
                <a:lnTo>
                  <a:pt x="194786" y="5842000"/>
                </a:lnTo>
                <a:lnTo>
                  <a:pt x="194786" y="0"/>
                </a:lnTo>
                <a:close/>
              </a:path>
            </a:pathLst>
          </a:custGeom>
          <a:solidFill>
            <a:srgbClr val="191B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7044" y="865505"/>
            <a:ext cx="9789123" cy="11102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1" i="0">
                <a:solidFill>
                  <a:srgbClr val="191B0E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192" y="2510924"/>
            <a:ext cx="9437370" cy="3309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850900"/>
            <a:ext cx="10388600" cy="5842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2400" y="850900"/>
            <a:ext cx="10388600" cy="5842000"/>
          </a:xfrm>
          <a:custGeom>
            <a:avLst/>
            <a:gdLst/>
            <a:ahLst/>
            <a:cxnLst/>
            <a:rect l="l" t="t" r="r" b="b"/>
            <a:pathLst>
              <a:path w="10388600" h="5842000">
                <a:moveTo>
                  <a:pt x="10388600" y="0"/>
                </a:moveTo>
                <a:lnTo>
                  <a:pt x="0" y="0"/>
                </a:lnTo>
                <a:lnTo>
                  <a:pt x="0" y="5842000"/>
                </a:lnTo>
                <a:lnTo>
                  <a:pt x="10388600" y="5842000"/>
                </a:lnTo>
                <a:lnTo>
                  <a:pt x="10388600" y="0"/>
                </a:lnTo>
                <a:close/>
              </a:path>
            </a:pathLst>
          </a:custGeom>
          <a:solidFill>
            <a:srgbClr val="191B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098551" y="2287269"/>
            <a:ext cx="2790825" cy="3755390"/>
          </a:xfrm>
          <a:custGeom>
            <a:avLst/>
            <a:gdLst/>
            <a:ahLst/>
            <a:cxnLst/>
            <a:rect l="l" t="t" r="r" b="b"/>
            <a:pathLst>
              <a:path w="2790825" h="3755390">
                <a:moveTo>
                  <a:pt x="2790583" y="0"/>
                </a:moveTo>
                <a:lnTo>
                  <a:pt x="2444889" y="0"/>
                </a:lnTo>
                <a:lnTo>
                  <a:pt x="2444889" y="3430270"/>
                </a:lnTo>
                <a:lnTo>
                  <a:pt x="0" y="3430270"/>
                </a:lnTo>
                <a:lnTo>
                  <a:pt x="0" y="3755390"/>
                </a:lnTo>
                <a:lnTo>
                  <a:pt x="2790583" y="3755390"/>
                </a:lnTo>
                <a:lnTo>
                  <a:pt x="2790583" y="3430270"/>
                </a:lnTo>
                <a:lnTo>
                  <a:pt x="2790583" y="0"/>
                </a:lnTo>
                <a:close/>
              </a:path>
            </a:pathLst>
          </a:custGeom>
          <a:solidFill>
            <a:srgbClr val="EFED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72322" y="3952475"/>
            <a:ext cx="6409055" cy="10617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cap="small" sz="6800">
                <a:solidFill>
                  <a:srgbClr val="EFEDE3"/>
                </a:solidFill>
              </a:rPr>
              <a:t>History</a:t>
            </a:r>
            <a:r>
              <a:rPr dirty="0" cap="small" sz="6800" spc="290">
                <a:solidFill>
                  <a:srgbClr val="EFEDE3"/>
                </a:solidFill>
              </a:rPr>
              <a:t> </a:t>
            </a:r>
            <a:r>
              <a:rPr dirty="0" cap="small" sz="6800">
                <a:solidFill>
                  <a:srgbClr val="EFEDE3"/>
                </a:solidFill>
              </a:rPr>
              <a:t>of</a:t>
            </a:r>
            <a:r>
              <a:rPr dirty="0" cap="small" sz="6800" spc="290">
                <a:solidFill>
                  <a:srgbClr val="EFEDE3"/>
                </a:solidFill>
              </a:rPr>
              <a:t> </a:t>
            </a:r>
            <a:r>
              <a:rPr dirty="0" cap="small" sz="6800" spc="25">
                <a:solidFill>
                  <a:srgbClr val="EFEDE3"/>
                </a:solidFill>
              </a:rPr>
              <a:t>C++</a:t>
            </a:r>
            <a:endParaRPr sz="6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2499" y="1062324"/>
            <a:ext cx="9238432" cy="54780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5680" y="1040070"/>
            <a:ext cx="9519489" cy="54747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3630" y="1062324"/>
            <a:ext cx="9527831" cy="54970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846" y="1017813"/>
            <a:ext cx="9538959" cy="55415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2400" y="850900"/>
            <a:ext cx="407670" cy="5842000"/>
          </a:xfrm>
          <a:custGeom>
            <a:avLst/>
            <a:gdLst/>
            <a:ahLst/>
            <a:cxnLst/>
            <a:rect l="l" t="t" r="r" b="b"/>
            <a:pathLst>
              <a:path w="407670" h="5842000">
                <a:moveTo>
                  <a:pt x="0" y="5842000"/>
                </a:moveTo>
                <a:lnTo>
                  <a:pt x="407376" y="5842000"/>
                </a:lnTo>
                <a:lnTo>
                  <a:pt x="407376" y="0"/>
                </a:lnTo>
                <a:lnTo>
                  <a:pt x="0" y="0"/>
                </a:lnTo>
                <a:lnTo>
                  <a:pt x="0" y="5842000"/>
                </a:lnTo>
                <a:close/>
              </a:path>
            </a:pathLst>
          </a:custGeom>
          <a:solidFill>
            <a:srgbClr val="EFEDE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559776" y="850900"/>
            <a:ext cx="9981565" cy="5842635"/>
            <a:chOff x="559776" y="850900"/>
            <a:chExt cx="9981565" cy="5842635"/>
          </a:xfrm>
        </p:grpSpPr>
        <p:sp>
          <p:nvSpPr>
            <p:cNvPr id="4" name="object 4" descr=""/>
            <p:cNvSpPr/>
            <p:nvPr/>
          </p:nvSpPr>
          <p:spPr>
            <a:xfrm>
              <a:off x="754562" y="850900"/>
              <a:ext cx="9786620" cy="5842000"/>
            </a:xfrm>
            <a:custGeom>
              <a:avLst/>
              <a:gdLst/>
              <a:ahLst/>
              <a:cxnLst/>
              <a:rect l="l" t="t" r="r" b="b"/>
              <a:pathLst>
                <a:path w="9786620" h="5842000">
                  <a:moveTo>
                    <a:pt x="0" y="5842000"/>
                  </a:moveTo>
                  <a:lnTo>
                    <a:pt x="9786436" y="5842000"/>
                  </a:lnTo>
                  <a:lnTo>
                    <a:pt x="9786436" y="0"/>
                  </a:lnTo>
                  <a:lnTo>
                    <a:pt x="0" y="0"/>
                  </a:lnTo>
                  <a:lnTo>
                    <a:pt x="0" y="5842000"/>
                  </a:lnTo>
                  <a:close/>
                </a:path>
              </a:pathLst>
            </a:custGeom>
            <a:solidFill>
              <a:srgbClr val="EFED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59776" y="851220"/>
              <a:ext cx="194945" cy="5842000"/>
            </a:xfrm>
            <a:custGeom>
              <a:avLst/>
              <a:gdLst/>
              <a:ahLst/>
              <a:cxnLst/>
              <a:rect l="l" t="t" r="r" b="b"/>
              <a:pathLst>
                <a:path w="194945" h="5842000">
                  <a:moveTo>
                    <a:pt x="194786" y="0"/>
                  </a:moveTo>
                  <a:lnTo>
                    <a:pt x="0" y="0"/>
                  </a:lnTo>
                  <a:lnTo>
                    <a:pt x="0" y="5842000"/>
                  </a:lnTo>
                  <a:lnTo>
                    <a:pt x="194786" y="5842000"/>
                  </a:lnTo>
                  <a:lnTo>
                    <a:pt x="194786" y="0"/>
                  </a:lnTo>
                  <a:close/>
                </a:path>
              </a:pathLst>
            </a:custGeom>
            <a:solidFill>
              <a:srgbClr val="191B0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44982" y="850899"/>
              <a:ext cx="9796145" cy="680720"/>
            </a:xfrm>
            <a:custGeom>
              <a:avLst/>
              <a:gdLst/>
              <a:ahLst/>
              <a:cxnLst/>
              <a:rect l="l" t="t" r="r" b="b"/>
              <a:pathLst>
                <a:path w="9796145" h="680719">
                  <a:moveTo>
                    <a:pt x="9796005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0" y="650240"/>
                  </a:lnTo>
                  <a:lnTo>
                    <a:pt x="0" y="680720"/>
                  </a:lnTo>
                  <a:lnTo>
                    <a:pt x="9796005" y="680720"/>
                  </a:lnTo>
                  <a:lnTo>
                    <a:pt x="9796005" y="650443"/>
                  </a:lnTo>
                  <a:lnTo>
                    <a:pt x="9796005" y="650240"/>
                  </a:lnTo>
                  <a:lnTo>
                    <a:pt x="9796005" y="29756"/>
                  </a:lnTo>
                  <a:lnTo>
                    <a:pt x="9766249" y="29756"/>
                  </a:lnTo>
                  <a:lnTo>
                    <a:pt x="9766249" y="650240"/>
                  </a:lnTo>
                  <a:lnTo>
                    <a:pt x="29756" y="650240"/>
                  </a:lnTo>
                  <a:lnTo>
                    <a:pt x="29756" y="29210"/>
                  </a:lnTo>
                  <a:lnTo>
                    <a:pt x="9796005" y="29210"/>
                  </a:lnTo>
                  <a:lnTo>
                    <a:pt x="97960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139025" y="996273"/>
            <a:ext cx="1010919" cy="406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30">
                <a:solidFill>
                  <a:srgbClr val="000000"/>
                </a:solidFill>
                <a:latin typeface="Constantia"/>
                <a:cs typeface="Constantia"/>
              </a:rPr>
              <a:t>RULES</a:t>
            </a:r>
            <a:endParaRPr sz="2500">
              <a:latin typeface="Constantia"/>
              <a:cs typeface="Constanti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846" y="1064399"/>
            <a:ext cx="9561222" cy="56284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0237" y="1028942"/>
            <a:ext cx="9550090" cy="55946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cap="small" sz="6800">
                <a:solidFill>
                  <a:srgbClr val="EFEDE3"/>
                </a:solidFill>
              </a:rPr>
              <a:t>Algorithms</a:t>
            </a:r>
            <a:r>
              <a:rPr dirty="0" cap="small" sz="6800" spc="880">
                <a:solidFill>
                  <a:srgbClr val="EFEDE3"/>
                </a:solidFill>
              </a:rPr>
              <a:t> </a:t>
            </a:r>
            <a:r>
              <a:rPr dirty="0" cap="small" sz="6800" spc="-180">
                <a:solidFill>
                  <a:srgbClr val="EFEDE3"/>
                </a:solidFill>
              </a:rPr>
              <a:t>&amp;</a:t>
            </a:r>
            <a:endParaRPr sz="6800"/>
          </a:p>
        </p:txBody>
      </p:sp>
      <p:sp>
        <p:nvSpPr>
          <p:cNvPr id="3" name="object 3" descr="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0" spc="-10" b="1">
                <a:solidFill>
                  <a:srgbClr val="EFEDE3"/>
                </a:solidFill>
                <a:latin typeface="Times New Roman"/>
                <a:cs typeface="Times New Roman"/>
              </a:rPr>
              <a:t>FLOWCHARTS</a:t>
            </a:r>
            <a:endParaRPr sz="5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2238" y="1926319"/>
            <a:ext cx="8326120" cy="3021965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marL="339725" indent="-327025">
              <a:lnSpc>
                <a:spcPct val="100000"/>
              </a:lnSpc>
              <a:spcBef>
                <a:spcPts val="915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2400" spc="-20">
                <a:solidFill>
                  <a:srgbClr val="191B0E"/>
                </a:solidFill>
                <a:latin typeface="Times New Roman"/>
                <a:cs typeface="Times New Roman"/>
              </a:rPr>
              <a:t>A</a:t>
            </a:r>
            <a:r>
              <a:rPr dirty="0" sz="2400" spc="-14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typical</a:t>
            </a:r>
            <a:r>
              <a:rPr dirty="0" sz="2400" spc="-10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programming</a:t>
            </a:r>
            <a:r>
              <a:rPr dirty="0" sz="2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task</a:t>
            </a:r>
            <a:r>
              <a:rPr dirty="0" sz="2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can</a:t>
            </a:r>
            <a:r>
              <a:rPr dirty="0" sz="2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be</a:t>
            </a:r>
            <a:r>
              <a:rPr dirty="0" sz="2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divided</a:t>
            </a:r>
            <a:r>
              <a:rPr dirty="0" sz="2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into</a:t>
            </a:r>
            <a:r>
              <a:rPr dirty="0" sz="24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two</a:t>
            </a:r>
            <a:r>
              <a:rPr dirty="0" sz="2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phases:</a:t>
            </a:r>
            <a:endParaRPr sz="2400">
              <a:latin typeface="Times New Roman"/>
              <a:cs typeface="Times New Roman"/>
            </a:endParaRPr>
          </a:p>
          <a:p>
            <a:pPr marL="339725" indent="-327025">
              <a:lnSpc>
                <a:spcPct val="100000"/>
              </a:lnSpc>
              <a:spcBef>
                <a:spcPts val="815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2400" spc="-10" b="1">
                <a:solidFill>
                  <a:srgbClr val="191B0E"/>
                </a:solidFill>
                <a:latin typeface="Times New Roman"/>
                <a:cs typeface="Times New Roman"/>
              </a:rPr>
              <a:t>Problem</a:t>
            </a:r>
            <a:r>
              <a:rPr dirty="0" sz="2400" spc="-8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solving</a:t>
            </a:r>
            <a:r>
              <a:rPr dirty="0" sz="2400" spc="-8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191B0E"/>
                </a:solidFill>
                <a:latin typeface="Times New Roman"/>
                <a:cs typeface="Times New Roman"/>
              </a:rPr>
              <a:t>phase</a:t>
            </a:r>
            <a:endParaRPr sz="2400">
              <a:latin typeface="Times New Roman"/>
              <a:cs typeface="Times New Roman"/>
            </a:endParaRPr>
          </a:p>
          <a:p>
            <a:pPr lvl="1" marL="791845" marR="5080" indent="-327660">
              <a:lnSpc>
                <a:spcPts val="2710"/>
              </a:lnSpc>
              <a:spcBef>
                <a:spcPts val="640"/>
              </a:spcBef>
              <a:buFont typeface="Franklin Gothic Medium"/>
              <a:buChar char="–"/>
              <a:tabLst>
                <a:tab pos="791845" algn="l"/>
              </a:tabLst>
            </a:pP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produce</a:t>
            </a:r>
            <a:r>
              <a:rPr dirty="0" sz="2400" spc="-8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an</a:t>
            </a:r>
            <a:r>
              <a:rPr dirty="0" sz="2400" spc="-7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ordered</a:t>
            </a:r>
            <a:r>
              <a:rPr dirty="0" sz="2400" spc="-7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sequence</a:t>
            </a:r>
            <a:r>
              <a:rPr dirty="0" sz="2400" spc="-7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of</a:t>
            </a:r>
            <a:r>
              <a:rPr dirty="0" sz="2400" spc="-7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steps</a:t>
            </a:r>
            <a:r>
              <a:rPr dirty="0" sz="2400" spc="-7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that</a:t>
            </a:r>
            <a:r>
              <a:rPr dirty="0" sz="2400" spc="-7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describe</a:t>
            </a:r>
            <a:r>
              <a:rPr dirty="0" sz="2400" spc="-7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solution</a:t>
            </a:r>
            <a:r>
              <a:rPr dirty="0" sz="2400" spc="-7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191B0E"/>
                </a:solidFill>
                <a:latin typeface="Times New Roman"/>
                <a:cs typeface="Times New Roman"/>
              </a:rPr>
              <a:t>of </a:t>
            </a: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problem</a:t>
            </a:r>
            <a:endParaRPr sz="2400">
              <a:latin typeface="Times New Roman"/>
              <a:cs typeface="Times New Roman"/>
            </a:endParaRPr>
          </a:p>
          <a:p>
            <a:pPr lvl="1" marL="791210" indent="-327025">
              <a:lnSpc>
                <a:spcPct val="100000"/>
              </a:lnSpc>
              <a:spcBef>
                <a:spcPts val="254"/>
              </a:spcBef>
              <a:buFont typeface="Franklin Gothic Medium"/>
              <a:buChar char="–"/>
              <a:tabLst>
                <a:tab pos="791210" algn="l"/>
              </a:tabLst>
            </a:pP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this</a:t>
            </a:r>
            <a:r>
              <a:rPr dirty="0" sz="24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sequence</a:t>
            </a:r>
            <a:r>
              <a:rPr dirty="0" sz="24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of</a:t>
            </a:r>
            <a:r>
              <a:rPr dirty="0" sz="2400" spc="-5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steps</a:t>
            </a:r>
            <a:r>
              <a:rPr dirty="0" sz="2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is</a:t>
            </a:r>
            <a:r>
              <a:rPr dirty="0" sz="2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called</a:t>
            </a:r>
            <a:r>
              <a:rPr dirty="0" sz="24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an</a:t>
            </a:r>
            <a:r>
              <a:rPr dirty="0" sz="2400" spc="-5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191B0E"/>
                </a:solidFill>
                <a:latin typeface="Times New Roman"/>
                <a:cs typeface="Times New Roman"/>
              </a:rPr>
              <a:t>algorithm</a:t>
            </a:r>
            <a:endParaRPr sz="2400">
              <a:latin typeface="Times New Roman"/>
              <a:cs typeface="Times New Roman"/>
            </a:endParaRPr>
          </a:p>
          <a:p>
            <a:pPr marL="339725" indent="-327025">
              <a:lnSpc>
                <a:spcPct val="100000"/>
              </a:lnSpc>
              <a:spcBef>
                <a:spcPts val="815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2400" spc="-10" b="1">
                <a:solidFill>
                  <a:srgbClr val="191B0E"/>
                </a:solidFill>
                <a:latin typeface="Times New Roman"/>
                <a:cs typeface="Times New Roman"/>
              </a:rPr>
              <a:t>Implementation</a:t>
            </a:r>
            <a:r>
              <a:rPr dirty="0" sz="2400" spc="-6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20" b="1">
                <a:solidFill>
                  <a:srgbClr val="191B0E"/>
                </a:solidFill>
                <a:latin typeface="Times New Roman"/>
                <a:cs typeface="Times New Roman"/>
              </a:rPr>
              <a:t>phase</a:t>
            </a:r>
            <a:endParaRPr sz="2400">
              <a:latin typeface="Times New Roman"/>
              <a:cs typeface="Times New Roman"/>
            </a:endParaRPr>
          </a:p>
          <a:p>
            <a:pPr lvl="1" marL="791210" indent="-327025">
              <a:lnSpc>
                <a:spcPct val="100000"/>
              </a:lnSpc>
              <a:spcBef>
                <a:spcPts val="430"/>
              </a:spcBef>
              <a:buFont typeface="Franklin Gothic Medium"/>
              <a:buChar char="–"/>
              <a:tabLst>
                <a:tab pos="791210" algn="l"/>
              </a:tabLst>
            </a:pP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implement</a:t>
            </a:r>
            <a:r>
              <a:rPr dirty="0" sz="2400" spc="-7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the</a:t>
            </a:r>
            <a:r>
              <a:rPr dirty="0" sz="2400" spc="-7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program</a:t>
            </a:r>
            <a:r>
              <a:rPr dirty="0" sz="2400" spc="-8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in</a:t>
            </a:r>
            <a:r>
              <a:rPr dirty="0" sz="2400" spc="-7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some</a:t>
            </a:r>
            <a:r>
              <a:rPr dirty="0" sz="2400" spc="-8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programming</a:t>
            </a:r>
            <a:r>
              <a:rPr dirty="0" sz="2400" spc="-7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language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9867" y="865505"/>
            <a:ext cx="9766300" cy="650875"/>
          </a:xfrm>
          <a:prstGeom prst="rect"/>
          <a:ln w="29758">
            <a:solidFill>
              <a:srgbClr val="000000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dirty="0" cap="small" sz="3400">
                <a:solidFill>
                  <a:srgbClr val="000000"/>
                </a:solidFill>
                <a:latin typeface="Constantia"/>
                <a:cs typeface="Constantia"/>
              </a:rPr>
              <a:t>Algorithms</a:t>
            </a:r>
            <a:r>
              <a:rPr dirty="0" cap="small" sz="3400" spc="204">
                <a:solidFill>
                  <a:srgbClr val="000000"/>
                </a:solidFill>
                <a:latin typeface="Constantia"/>
                <a:cs typeface="Constantia"/>
              </a:rPr>
              <a:t> </a:t>
            </a:r>
            <a:r>
              <a:rPr dirty="0" cap="small" sz="3400">
                <a:solidFill>
                  <a:srgbClr val="000000"/>
                </a:solidFill>
                <a:latin typeface="Constantia"/>
                <a:cs typeface="Constantia"/>
              </a:rPr>
              <a:t>&amp;</a:t>
            </a:r>
            <a:r>
              <a:rPr dirty="0" cap="small" sz="3400" spc="25">
                <a:solidFill>
                  <a:srgbClr val="000000"/>
                </a:solidFill>
                <a:latin typeface="Constantia"/>
                <a:cs typeface="Constantia"/>
              </a:rPr>
              <a:t> </a:t>
            </a:r>
            <a:r>
              <a:rPr dirty="0" cap="small" sz="3400" spc="-10">
                <a:solidFill>
                  <a:srgbClr val="000000"/>
                </a:solidFill>
                <a:latin typeface="Constantia"/>
                <a:cs typeface="Constantia"/>
              </a:rPr>
              <a:t>flowcharts</a:t>
            </a:r>
            <a:endParaRPr sz="34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2238" y="1469764"/>
            <a:ext cx="8849360" cy="4204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9090" indent="-326390">
              <a:lnSpc>
                <a:spcPts val="3804"/>
              </a:lnSpc>
              <a:spcBef>
                <a:spcPts val="100"/>
              </a:spcBef>
              <a:buFont typeface="Franklin Gothic Medium"/>
              <a:buChar char="■"/>
              <a:tabLst>
                <a:tab pos="339090" algn="l"/>
              </a:tabLst>
            </a:pPr>
            <a:r>
              <a:rPr dirty="0" sz="3500">
                <a:solidFill>
                  <a:srgbClr val="191B0E"/>
                </a:solidFill>
                <a:latin typeface="Times New Roman"/>
                <a:cs typeface="Times New Roman"/>
              </a:rPr>
              <a:t>First</a:t>
            </a:r>
            <a:r>
              <a:rPr dirty="0" sz="3500" spc="-4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500">
                <a:solidFill>
                  <a:srgbClr val="191B0E"/>
                </a:solidFill>
                <a:latin typeface="Times New Roman"/>
                <a:cs typeface="Times New Roman"/>
              </a:rPr>
              <a:t>produce</a:t>
            </a:r>
            <a:r>
              <a:rPr dirty="0" sz="3500" spc="-4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500">
                <a:solidFill>
                  <a:srgbClr val="191B0E"/>
                </a:solidFill>
                <a:latin typeface="Times New Roman"/>
                <a:cs typeface="Times New Roman"/>
              </a:rPr>
              <a:t>a</a:t>
            </a:r>
            <a:r>
              <a:rPr dirty="0" sz="3500" spc="-3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500">
                <a:solidFill>
                  <a:srgbClr val="191B0E"/>
                </a:solidFill>
                <a:latin typeface="Times New Roman"/>
                <a:cs typeface="Times New Roman"/>
              </a:rPr>
              <a:t>general</a:t>
            </a:r>
            <a:r>
              <a:rPr dirty="0" sz="3500" spc="-4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500">
                <a:solidFill>
                  <a:srgbClr val="191B0E"/>
                </a:solidFill>
                <a:latin typeface="Times New Roman"/>
                <a:cs typeface="Times New Roman"/>
              </a:rPr>
              <a:t>algorithm</a:t>
            </a:r>
            <a:r>
              <a:rPr dirty="0" sz="3500" spc="-4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500">
                <a:solidFill>
                  <a:srgbClr val="191B0E"/>
                </a:solidFill>
                <a:latin typeface="Times New Roman"/>
                <a:cs typeface="Times New Roman"/>
              </a:rPr>
              <a:t>(one</a:t>
            </a:r>
            <a:r>
              <a:rPr dirty="0" sz="3500" spc="-4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500">
                <a:solidFill>
                  <a:srgbClr val="191B0E"/>
                </a:solidFill>
                <a:latin typeface="Times New Roman"/>
                <a:cs typeface="Times New Roman"/>
              </a:rPr>
              <a:t>can</a:t>
            </a:r>
            <a:r>
              <a:rPr dirty="0" sz="3500" spc="-3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500" spc="-25">
                <a:solidFill>
                  <a:srgbClr val="191B0E"/>
                </a:solidFill>
                <a:latin typeface="Times New Roman"/>
                <a:cs typeface="Times New Roman"/>
              </a:rPr>
              <a:t>use</a:t>
            </a:r>
            <a:endParaRPr sz="3500">
              <a:latin typeface="Times New Roman"/>
              <a:cs typeface="Times New Roman"/>
            </a:endParaRPr>
          </a:p>
          <a:p>
            <a:pPr marL="339725">
              <a:lnSpc>
                <a:spcPts val="3804"/>
              </a:lnSpc>
            </a:pPr>
            <a:r>
              <a:rPr dirty="0" sz="3500" spc="-10" b="1" i="1">
                <a:solidFill>
                  <a:srgbClr val="191B0E"/>
                </a:solidFill>
                <a:latin typeface="Times New Roman"/>
                <a:cs typeface="Times New Roman"/>
              </a:rPr>
              <a:t>pseudocode</a:t>
            </a:r>
            <a:r>
              <a:rPr dirty="0" sz="3500" spc="-10">
                <a:solidFill>
                  <a:srgbClr val="191B0E"/>
                </a:solidFill>
                <a:latin typeface="Times New Roman"/>
                <a:cs typeface="Times New Roman"/>
              </a:rPr>
              <a:t>)</a:t>
            </a:r>
            <a:endParaRPr sz="3500">
              <a:latin typeface="Times New Roman"/>
              <a:cs typeface="Times New Roman"/>
            </a:endParaRPr>
          </a:p>
          <a:p>
            <a:pPr marL="338455" marR="5080" indent="-326390">
              <a:lnSpc>
                <a:spcPct val="79700"/>
              </a:lnSpc>
              <a:spcBef>
                <a:spcPts val="944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3500">
                <a:solidFill>
                  <a:srgbClr val="191B0E"/>
                </a:solidFill>
                <a:latin typeface="Times New Roman"/>
                <a:cs typeface="Times New Roman"/>
              </a:rPr>
              <a:t>Refine</a:t>
            </a:r>
            <a:r>
              <a:rPr dirty="0" sz="3500" spc="-4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500">
                <a:solidFill>
                  <a:srgbClr val="191B0E"/>
                </a:solidFill>
                <a:latin typeface="Times New Roman"/>
                <a:cs typeface="Times New Roman"/>
              </a:rPr>
              <a:t>the</a:t>
            </a:r>
            <a:r>
              <a:rPr dirty="0" sz="3500" spc="-4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500">
                <a:solidFill>
                  <a:srgbClr val="191B0E"/>
                </a:solidFill>
                <a:latin typeface="Times New Roman"/>
                <a:cs typeface="Times New Roman"/>
              </a:rPr>
              <a:t>algorithm</a:t>
            </a:r>
            <a:r>
              <a:rPr dirty="0" sz="3500" spc="-4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500">
                <a:solidFill>
                  <a:srgbClr val="191B0E"/>
                </a:solidFill>
                <a:latin typeface="Times New Roman"/>
                <a:cs typeface="Times New Roman"/>
              </a:rPr>
              <a:t>successively</a:t>
            </a:r>
            <a:r>
              <a:rPr dirty="0" sz="3500" spc="-4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500">
                <a:solidFill>
                  <a:srgbClr val="191B0E"/>
                </a:solidFill>
                <a:latin typeface="Times New Roman"/>
                <a:cs typeface="Times New Roman"/>
              </a:rPr>
              <a:t>to</a:t>
            </a:r>
            <a:r>
              <a:rPr dirty="0" sz="3500" spc="-4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500">
                <a:solidFill>
                  <a:srgbClr val="191B0E"/>
                </a:solidFill>
                <a:latin typeface="Times New Roman"/>
                <a:cs typeface="Times New Roman"/>
              </a:rPr>
              <a:t>get</a:t>
            </a:r>
            <a:r>
              <a:rPr dirty="0" sz="3500" spc="-5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500">
                <a:solidFill>
                  <a:srgbClr val="191B0E"/>
                </a:solidFill>
                <a:latin typeface="Times New Roman"/>
                <a:cs typeface="Times New Roman"/>
              </a:rPr>
              <a:t>step</a:t>
            </a:r>
            <a:r>
              <a:rPr dirty="0" sz="3500" spc="-4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500" spc="-25">
                <a:solidFill>
                  <a:srgbClr val="191B0E"/>
                </a:solidFill>
                <a:latin typeface="Times New Roman"/>
                <a:cs typeface="Times New Roman"/>
              </a:rPr>
              <a:t>by </a:t>
            </a:r>
            <a:r>
              <a:rPr dirty="0" sz="3500" spc="-25">
                <a:solidFill>
                  <a:srgbClr val="191B0E"/>
                </a:solidFill>
                <a:latin typeface="Times New Roman"/>
                <a:cs typeface="Times New Roman"/>
              </a:rPr>
              <a:t>	</a:t>
            </a:r>
            <a:r>
              <a:rPr dirty="0" sz="3500">
                <a:solidFill>
                  <a:srgbClr val="191B0E"/>
                </a:solidFill>
                <a:latin typeface="Times New Roman"/>
                <a:cs typeface="Times New Roman"/>
              </a:rPr>
              <a:t>step</a:t>
            </a:r>
            <a:r>
              <a:rPr dirty="0" sz="3500" spc="-5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500">
                <a:solidFill>
                  <a:srgbClr val="191B0E"/>
                </a:solidFill>
                <a:latin typeface="Times New Roman"/>
                <a:cs typeface="Times New Roman"/>
              </a:rPr>
              <a:t>detailed</a:t>
            </a:r>
            <a:r>
              <a:rPr dirty="0" sz="3500" spc="-5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500" b="1" i="1">
                <a:solidFill>
                  <a:srgbClr val="191B0E"/>
                </a:solidFill>
                <a:latin typeface="Times New Roman"/>
                <a:cs typeface="Times New Roman"/>
              </a:rPr>
              <a:t>algorithm</a:t>
            </a:r>
            <a:r>
              <a:rPr dirty="0" sz="3500" spc="-50" b="1" i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500">
                <a:solidFill>
                  <a:srgbClr val="191B0E"/>
                </a:solidFill>
                <a:latin typeface="Times New Roman"/>
                <a:cs typeface="Times New Roman"/>
              </a:rPr>
              <a:t>that</a:t>
            </a:r>
            <a:r>
              <a:rPr dirty="0" sz="3500" spc="-5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500">
                <a:solidFill>
                  <a:srgbClr val="191B0E"/>
                </a:solidFill>
                <a:latin typeface="Times New Roman"/>
                <a:cs typeface="Times New Roman"/>
              </a:rPr>
              <a:t>is</a:t>
            </a:r>
            <a:r>
              <a:rPr dirty="0" sz="3500" spc="-5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500">
                <a:solidFill>
                  <a:srgbClr val="191B0E"/>
                </a:solidFill>
                <a:latin typeface="Times New Roman"/>
                <a:cs typeface="Times New Roman"/>
              </a:rPr>
              <a:t>very</a:t>
            </a:r>
            <a:r>
              <a:rPr dirty="0" sz="3500" spc="-5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500">
                <a:solidFill>
                  <a:srgbClr val="191B0E"/>
                </a:solidFill>
                <a:latin typeface="Times New Roman"/>
                <a:cs typeface="Times New Roman"/>
              </a:rPr>
              <a:t>close</a:t>
            </a:r>
            <a:r>
              <a:rPr dirty="0" sz="3500" spc="-5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500">
                <a:solidFill>
                  <a:srgbClr val="191B0E"/>
                </a:solidFill>
                <a:latin typeface="Times New Roman"/>
                <a:cs typeface="Times New Roman"/>
              </a:rPr>
              <a:t>to</a:t>
            </a:r>
            <a:r>
              <a:rPr dirty="0" sz="3500" spc="-5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500" spc="-50">
                <a:solidFill>
                  <a:srgbClr val="191B0E"/>
                </a:solidFill>
                <a:latin typeface="Times New Roman"/>
                <a:cs typeface="Times New Roman"/>
              </a:rPr>
              <a:t>a </a:t>
            </a:r>
            <a:r>
              <a:rPr dirty="0" sz="3500" spc="-50">
                <a:solidFill>
                  <a:srgbClr val="191B0E"/>
                </a:solidFill>
                <a:latin typeface="Times New Roman"/>
                <a:cs typeface="Times New Roman"/>
              </a:rPr>
              <a:t>	</a:t>
            </a:r>
            <a:r>
              <a:rPr dirty="0" sz="3500">
                <a:solidFill>
                  <a:srgbClr val="191B0E"/>
                </a:solidFill>
                <a:latin typeface="Times New Roman"/>
                <a:cs typeface="Times New Roman"/>
              </a:rPr>
              <a:t>computer</a:t>
            </a:r>
            <a:r>
              <a:rPr dirty="0" sz="3500" spc="-8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500" spc="-10">
                <a:solidFill>
                  <a:srgbClr val="191B0E"/>
                </a:solidFill>
                <a:latin typeface="Times New Roman"/>
                <a:cs typeface="Times New Roman"/>
              </a:rPr>
              <a:t>language.</a:t>
            </a:r>
            <a:endParaRPr sz="3500">
              <a:latin typeface="Times New Roman"/>
              <a:cs typeface="Times New Roman"/>
            </a:endParaRPr>
          </a:p>
          <a:p>
            <a:pPr marL="338455" marR="1081405" indent="-326390">
              <a:lnSpc>
                <a:spcPct val="79200"/>
              </a:lnSpc>
              <a:spcBef>
                <a:spcPts val="994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3500" b="1" i="1">
                <a:solidFill>
                  <a:srgbClr val="191B0E"/>
                </a:solidFill>
                <a:latin typeface="Times New Roman"/>
                <a:cs typeface="Times New Roman"/>
              </a:rPr>
              <a:t>Pseudocode</a:t>
            </a:r>
            <a:r>
              <a:rPr dirty="0" sz="3500" spc="-40" b="1" i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500">
                <a:solidFill>
                  <a:srgbClr val="191B0E"/>
                </a:solidFill>
                <a:latin typeface="Times New Roman"/>
                <a:cs typeface="Times New Roman"/>
              </a:rPr>
              <a:t>is</a:t>
            </a:r>
            <a:r>
              <a:rPr dirty="0" sz="3500" spc="-3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500">
                <a:solidFill>
                  <a:srgbClr val="191B0E"/>
                </a:solidFill>
                <a:latin typeface="Times New Roman"/>
                <a:cs typeface="Times New Roman"/>
              </a:rPr>
              <a:t>an</a:t>
            </a:r>
            <a:r>
              <a:rPr dirty="0" sz="3500" spc="-3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500">
                <a:solidFill>
                  <a:srgbClr val="191B0E"/>
                </a:solidFill>
                <a:latin typeface="Times New Roman"/>
                <a:cs typeface="Times New Roman"/>
              </a:rPr>
              <a:t>artificial</a:t>
            </a:r>
            <a:r>
              <a:rPr dirty="0" sz="3500" spc="-3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500">
                <a:solidFill>
                  <a:srgbClr val="191B0E"/>
                </a:solidFill>
                <a:latin typeface="Times New Roman"/>
                <a:cs typeface="Times New Roman"/>
              </a:rPr>
              <a:t>and</a:t>
            </a:r>
            <a:r>
              <a:rPr dirty="0" sz="3500" spc="-3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500" spc="-10">
                <a:solidFill>
                  <a:srgbClr val="191B0E"/>
                </a:solidFill>
                <a:latin typeface="Times New Roman"/>
                <a:cs typeface="Times New Roman"/>
              </a:rPr>
              <a:t>informal </a:t>
            </a:r>
            <a:r>
              <a:rPr dirty="0" sz="3500" spc="-10">
                <a:solidFill>
                  <a:srgbClr val="191B0E"/>
                </a:solidFill>
                <a:latin typeface="Times New Roman"/>
                <a:cs typeface="Times New Roman"/>
              </a:rPr>
              <a:t>	</a:t>
            </a:r>
            <a:r>
              <a:rPr dirty="0" sz="3500">
                <a:solidFill>
                  <a:srgbClr val="191B0E"/>
                </a:solidFill>
                <a:latin typeface="Times New Roman"/>
                <a:cs typeface="Times New Roman"/>
              </a:rPr>
              <a:t>language</a:t>
            </a:r>
            <a:r>
              <a:rPr dirty="0" sz="35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500">
                <a:solidFill>
                  <a:srgbClr val="191B0E"/>
                </a:solidFill>
                <a:latin typeface="Times New Roman"/>
                <a:cs typeface="Times New Roman"/>
              </a:rPr>
              <a:t>that</a:t>
            </a:r>
            <a:r>
              <a:rPr dirty="0" sz="3500" spc="-5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500">
                <a:solidFill>
                  <a:srgbClr val="191B0E"/>
                </a:solidFill>
                <a:latin typeface="Times New Roman"/>
                <a:cs typeface="Times New Roman"/>
              </a:rPr>
              <a:t>helps</a:t>
            </a:r>
            <a:r>
              <a:rPr dirty="0" sz="3500" spc="-5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500">
                <a:solidFill>
                  <a:srgbClr val="191B0E"/>
                </a:solidFill>
                <a:latin typeface="Times New Roman"/>
                <a:cs typeface="Times New Roman"/>
              </a:rPr>
              <a:t>programmers</a:t>
            </a:r>
            <a:r>
              <a:rPr dirty="0" sz="3500" spc="-5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500" spc="-10">
                <a:solidFill>
                  <a:srgbClr val="191B0E"/>
                </a:solidFill>
                <a:latin typeface="Times New Roman"/>
                <a:cs typeface="Times New Roman"/>
              </a:rPr>
              <a:t>develop </a:t>
            </a:r>
            <a:r>
              <a:rPr dirty="0" sz="3500" spc="-10">
                <a:solidFill>
                  <a:srgbClr val="191B0E"/>
                </a:solidFill>
                <a:latin typeface="Times New Roman"/>
                <a:cs typeface="Times New Roman"/>
              </a:rPr>
              <a:t>	</a:t>
            </a:r>
            <a:r>
              <a:rPr dirty="0" sz="3500">
                <a:solidFill>
                  <a:srgbClr val="191B0E"/>
                </a:solidFill>
                <a:latin typeface="Times New Roman"/>
                <a:cs typeface="Times New Roman"/>
              </a:rPr>
              <a:t>algorithms.</a:t>
            </a:r>
            <a:r>
              <a:rPr dirty="0" sz="3500" spc="-7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500">
                <a:solidFill>
                  <a:srgbClr val="191B0E"/>
                </a:solidFill>
                <a:latin typeface="Times New Roman"/>
                <a:cs typeface="Times New Roman"/>
              </a:rPr>
              <a:t>Pseudocode</a:t>
            </a:r>
            <a:r>
              <a:rPr dirty="0" sz="35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500">
                <a:solidFill>
                  <a:srgbClr val="191B0E"/>
                </a:solidFill>
                <a:latin typeface="Times New Roman"/>
                <a:cs typeface="Times New Roman"/>
              </a:rPr>
              <a:t>is</a:t>
            </a:r>
            <a:r>
              <a:rPr dirty="0" sz="35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500">
                <a:solidFill>
                  <a:srgbClr val="191B0E"/>
                </a:solidFill>
                <a:latin typeface="Times New Roman"/>
                <a:cs typeface="Times New Roman"/>
              </a:rPr>
              <a:t>very</a:t>
            </a:r>
            <a:r>
              <a:rPr dirty="0" sz="35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500">
                <a:solidFill>
                  <a:srgbClr val="191B0E"/>
                </a:solidFill>
                <a:latin typeface="Times New Roman"/>
                <a:cs typeface="Times New Roman"/>
              </a:rPr>
              <a:t>similar</a:t>
            </a:r>
            <a:r>
              <a:rPr dirty="0" sz="35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500" spc="-25">
                <a:solidFill>
                  <a:srgbClr val="191B0E"/>
                </a:solidFill>
                <a:latin typeface="Times New Roman"/>
                <a:cs typeface="Times New Roman"/>
              </a:rPr>
              <a:t>to </a:t>
            </a:r>
            <a:r>
              <a:rPr dirty="0" sz="3500" spc="-25">
                <a:solidFill>
                  <a:srgbClr val="191B0E"/>
                </a:solidFill>
                <a:latin typeface="Times New Roman"/>
                <a:cs typeface="Times New Roman"/>
              </a:rPr>
              <a:t>	</a:t>
            </a:r>
            <a:r>
              <a:rPr dirty="0" sz="3500">
                <a:solidFill>
                  <a:srgbClr val="191B0E"/>
                </a:solidFill>
                <a:latin typeface="Times New Roman"/>
                <a:cs typeface="Times New Roman"/>
              </a:rPr>
              <a:t>everyday</a:t>
            </a:r>
            <a:r>
              <a:rPr dirty="0" sz="3500" spc="-3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500" spc="-10">
                <a:solidFill>
                  <a:srgbClr val="191B0E"/>
                </a:solidFill>
                <a:latin typeface="Times New Roman"/>
                <a:cs typeface="Times New Roman"/>
              </a:rPr>
              <a:t>English.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9867" y="865505"/>
            <a:ext cx="9766300" cy="650875"/>
          </a:xfrm>
          <a:prstGeom prst="rect"/>
          <a:ln w="29758">
            <a:solidFill>
              <a:srgbClr val="000000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dirty="0" cap="small" sz="3400">
                <a:solidFill>
                  <a:srgbClr val="000000"/>
                </a:solidFill>
                <a:latin typeface="Constantia"/>
                <a:cs typeface="Constantia"/>
              </a:rPr>
              <a:t>Steps</a:t>
            </a:r>
            <a:r>
              <a:rPr dirty="0" cap="small" sz="3400" spc="140">
                <a:solidFill>
                  <a:srgbClr val="000000"/>
                </a:solidFill>
                <a:latin typeface="Constantia"/>
                <a:cs typeface="Constantia"/>
              </a:rPr>
              <a:t> </a:t>
            </a:r>
            <a:r>
              <a:rPr dirty="0" cap="small" sz="3400">
                <a:solidFill>
                  <a:srgbClr val="000000"/>
                </a:solidFill>
                <a:latin typeface="Constantia"/>
                <a:cs typeface="Constantia"/>
              </a:rPr>
              <a:t>in</a:t>
            </a:r>
            <a:r>
              <a:rPr dirty="0" cap="small" sz="3400" spc="160">
                <a:solidFill>
                  <a:srgbClr val="000000"/>
                </a:solidFill>
                <a:latin typeface="Constantia"/>
                <a:cs typeface="Constantia"/>
              </a:rPr>
              <a:t> </a:t>
            </a:r>
            <a:r>
              <a:rPr dirty="0" cap="small" sz="3400">
                <a:solidFill>
                  <a:srgbClr val="000000"/>
                </a:solidFill>
                <a:latin typeface="Constantia"/>
                <a:cs typeface="Constantia"/>
              </a:rPr>
              <a:t>problem</a:t>
            </a:r>
            <a:r>
              <a:rPr dirty="0" cap="small" sz="3400" spc="150">
                <a:solidFill>
                  <a:srgbClr val="000000"/>
                </a:solidFill>
                <a:latin typeface="Constantia"/>
                <a:cs typeface="Constantia"/>
              </a:rPr>
              <a:t> </a:t>
            </a:r>
            <a:r>
              <a:rPr dirty="0" cap="small" sz="3400" spc="-10">
                <a:solidFill>
                  <a:srgbClr val="000000"/>
                </a:solidFill>
                <a:latin typeface="Constantia"/>
                <a:cs typeface="Constantia"/>
              </a:rPr>
              <a:t>solving</a:t>
            </a:r>
            <a:endParaRPr sz="34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2238" y="2030050"/>
            <a:ext cx="8705850" cy="2473325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339725" marR="5080" indent="-327660">
              <a:lnSpc>
                <a:spcPts val="2690"/>
              </a:lnSpc>
              <a:spcBef>
                <a:spcPts val="345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2400" spc="-40">
                <a:solidFill>
                  <a:srgbClr val="191B0E"/>
                </a:solidFill>
                <a:latin typeface="Times New Roman"/>
                <a:cs typeface="Times New Roman"/>
              </a:rPr>
              <a:t>To</a:t>
            </a:r>
            <a:r>
              <a:rPr dirty="0" sz="2400" spc="-7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write</a:t>
            </a:r>
            <a:r>
              <a:rPr dirty="0" sz="2400" spc="-7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a</a:t>
            </a:r>
            <a:r>
              <a:rPr dirty="0" sz="2400" spc="-7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correct</a:t>
            </a:r>
            <a:r>
              <a:rPr dirty="0" sz="2400" spc="-7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program,</a:t>
            </a:r>
            <a:r>
              <a:rPr dirty="0" sz="24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a</a:t>
            </a:r>
            <a:r>
              <a:rPr dirty="0" sz="2400" spc="-7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programmer</a:t>
            </a:r>
            <a:r>
              <a:rPr dirty="0" sz="24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must</a:t>
            </a:r>
            <a:r>
              <a:rPr dirty="0" sz="24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write</a:t>
            </a:r>
            <a:r>
              <a:rPr dirty="0" sz="2400" spc="-7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each</a:t>
            </a:r>
            <a:r>
              <a:rPr dirty="0" sz="2400" spc="-7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and</a:t>
            </a:r>
            <a:r>
              <a:rPr dirty="0" sz="2400" spc="-7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every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instruction</a:t>
            </a:r>
            <a:r>
              <a:rPr dirty="0" sz="2400" spc="-7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in</a:t>
            </a:r>
            <a:r>
              <a:rPr dirty="0" sz="24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the</a:t>
            </a:r>
            <a:r>
              <a:rPr dirty="0" sz="2400" spc="-7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correct</a:t>
            </a:r>
            <a:r>
              <a:rPr dirty="0" sz="24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sequence</a:t>
            </a:r>
            <a:endParaRPr sz="2400">
              <a:latin typeface="Times New Roman"/>
              <a:cs typeface="Times New Roman"/>
            </a:endParaRPr>
          </a:p>
          <a:p>
            <a:pPr marL="415290" indent="-402590">
              <a:lnSpc>
                <a:spcPct val="100000"/>
              </a:lnSpc>
              <a:spcBef>
                <a:spcPts val="780"/>
              </a:spcBef>
              <a:buFont typeface="Franklin Gothic Medium"/>
              <a:buChar char="■"/>
              <a:tabLst>
                <a:tab pos="415290" algn="l"/>
              </a:tabLst>
            </a:pP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Logic</a:t>
            </a:r>
            <a:r>
              <a:rPr dirty="0" sz="24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(instruction</a:t>
            </a:r>
            <a:r>
              <a:rPr dirty="0" sz="2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sequence)</a:t>
            </a:r>
            <a:r>
              <a:rPr dirty="0" sz="2400" spc="-5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of</a:t>
            </a:r>
            <a:r>
              <a:rPr dirty="0" sz="2400" spc="-5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a</a:t>
            </a:r>
            <a:r>
              <a:rPr dirty="0" sz="2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program</a:t>
            </a:r>
            <a:r>
              <a:rPr dirty="0" sz="2400" spc="-7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can</a:t>
            </a:r>
            <a:r>
              <a:rPr dirty="0" sz="2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be</a:t>
            </a:r>
            <a:r>
              <a:rPr dirty="0" sz="24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very</a:t>
            </a:r>
            <a:r>
              <a:rPr dirty="0" sz="2400" spc="-5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complex</a:t>
            </a:r>
            <a:endParaRPr sz="2400">
              <a:latin typeface="Times New Roman"/>
              <a:cs typeface="Times New Roman"/>
            </a:endParaRPr>
          </a:p>
          <a:p>
            <a:pPr marL="339725" marR="149860" indent="-327660">
              <a:lnSpc>
                <a:spcPts val="2590"/>
              </a:lnSpc>
              <a:spcBef>
                <a:spcPts val="1145"/>
              </a:spcBef>
              <a:buChar char="■"/>
              <a:tabLst>
                <a:tab pos="339725" algn="l"/>
                <a:tab pos="415290" algn="l"/>
              </a:tabLst>
            </a:pPr>
            <a:r>
              <a:rPr dirty="0" sz="2400">
                <a:solidFill>
                  <a:srgbClr val="191B0E"/>
                </a:solidFill>
                <a:latin typeface="Franklin Gothic Medium"/>
                <a:cs typeface="Franklin Gothic Medium"/>
              </a:rPr>
              <a:t>	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Hence,</a:t>
            </a:r>
            <a:r>
              <a:rPr dirty="0" sz="2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programs</a:t>
            </a:r>
            <a:r>
              <a:rPr dirty="0" sz="24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must</a:t>
            </a:r>
            <a:r>
              <a:rPr dirty="0" sz="2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be</a:t>
            </a:r>
            <a:r>
              <a:rPr dirty="0" sz="24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planned</a:t>
            </a:r>
            <a:r>
              <a:rPr dirty="0" sz="2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before</a:t>
            </a:r>
            <a:r>
              <a:rPr dirty="0" sz="24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they</a:t>
            </a:r>
            <a:r>
              <a:rPr dirty="0" sz="24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are</a:t>
            </a:r>
            <a:r>
              <a:rPr dirty="0" sz="24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written</a:t>
            </a:r>
            <a:r>
              <a:rPr dirty="0" sz="2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to</a:t>
            </a:r>
            <a:r>
              <a:rPr dirty="0" sz="24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ensure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program</a:t>
            </a:r>
            <a:r>
              <a:rPr dirty="0" sz="2400" spc="-10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instructions</a:t>
            </a:r>
            <a:r>
              <a:rPr dirty="0" sz="2400" spc="-9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20">
                <a:solidFill>
                  <a:srgbClr val="191B0E"/>
                </a:solidFill>
                <a:latin typeface="Times New Roman"/>
                <a:cs typeface="Times New Roman"/>
              </a:rPr>
              <a:t>are:</a:t>
            </a:r>
            <a:endParaRPr sz="2400">
              <a:latin typeface="Times New Roman"/>
              <a:cs typeface="Times New Roman"/>
            </a:endParaRPr>
          </a:p>
          <a:p>
            <a:pPr marL="398780" indent="-386080">
              <a:lnSpc>
                <a:spcPct val="100000"/>
              </a:lnSpc>
              <a:spcBef>
                <a:spcPts val="780"/>
              </a:spcBef>
              <a:buFont typeface="Franklin Gothic Medium"/>
              <a:buChar char="■"/>
              <a:tabLst>
                <a:tab pos="398780" algn="l"/>
              </a:tabLst>
            </a:pP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Appropriate</a:t>
            </a:r>
            <a:r>
              <a:rPr dirty="0" sz="2400" spc="-5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for</a:t>
            </a:r>
            <a:r>
              <a:rPr dirty="0" sz="2400" spc="-4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the</a:t>
            </a:r>
            <a:r>
              <a:rPr dirty="0" sz="2400" spc="-5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problem</a:t>
            </a:r>
            <a:r>
              <a:rPr dirty="0" sz="2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In</a:t>
            </a:r>
            <a:r>
              <a:rPr dirty="0" sz="2400" spc="-5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the</a:t>
            </a:r>
            <a:r>
              <a:rPr dirty="0" sz="2400" spc="-5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correct</a:t>
            </a:r>
            <a:r>
              <a:rPr dirty="0" sz="2400" spc="-5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sequence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9867" y="865505"/>
            <a:ext cx="9766300" cy="650875"/>
          </a:xfrm>
          <a:prstGeom prst="rect"/>
          <a:ln w="29758">
            <a:solidFill>
              <a:srgbClr val="000000"/>
            </a:solidFill>
          </a:ln>
        </p:spPr>
        <p:txBody>
          <a:bodyPr wrap="square" lIns="0" tIns="1524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20"/>
              </a:spcBef>
            </a:pPr>
            <a:r>
              <a:rPr dirty="0" cap="small">
                <a:solidFill>
                  <a:srgbClr val="000000"/>
                </a:solidFill>
                <a:latin typeface="Constantia"/>
                <a:cs typeface="Constantia"/>
              </a:rPr>
              <a:t>Purpose</a:t>
            </a:r>
            <a:r>
              <a:rPr dirty="0" cap="small" spc="235">
                <a:solidFill>
                  <a:srgbClr val="000000"/>
                </a:solidFill>
                <a:latin typeface="Constantia"/>
                <a:cs typeface="Constantia"/>
              </a:rPr>
              <a:t> </a:t>
            </a:r>
            <a:r>
              <a:rPr dirty="0" cap="small">
                <a:solidFill>
                  <a:srgbClr val="000000"/>
                </a:solidFill>
                <a:latin typeface="Constantia"/>
                <a:cs typeface="Constantia"/>
              </a:rPr>
              <a:t>of</a:t>
            </a:r>
            <a:r>
              <a:rPr dirty="0" cap="small" spc="240">
                <a:solidFill>
                  <a:srgbClr val="000000"/>
                </a:solidFill>
                <a:latin typeface="Constantia"/>
                <a:cs typeface="Constantia"/>
              </a:rPr>
              <a:t> </a:t>
            </a:r>
            <a:r>
              <a:rPr dirty="0" cap="small">
                <a:solidFill>
                  <a:srgbClr val="000000"/>
                </a:solidFill>
                <a:latin typeface="Constantia"/>
                <a:cs typeface="Constantia"/>
              </a:rPr>
              <a:t>program</a:t>
            </a:r>
            <a:r>
              <a:rPr dirty="0" cap="small" spc="229">
                <a:solidFill>
                  <a:srgbClr val="000000"/>
                </a:solidFill>
                <a:latin typeface="Constantia"/>
                <a:cs typeface="Constantia"/>
              </a:rPr>
              <a:t> </a:t>
            </a:r>
            <a:r>
              <a:rPr dirty="0" cap="small" spc="-10">
                <a:solidFill>
                  <a:srgbClr val="000000"/>
                </a:solidFill>
                <a:latin typeface="Constantia"/>
                <a:cs typeface="Constantia"/>
              </a:rPr>
              <a:t>planning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2238" y="1546469"/>
            <a:ext cx="8943975" cy="2003425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338455" marR="5080" indent="-326390">
              <a:lnSpc>
                <a:spcPct val="93900"/>
              </a:lnSpc>
              <a:spcBef>
                <a:spcPts val="345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3400" b="1">
                <a:solidFill>
                  <a:srgbClr val="191B0E"/>
                </a:solidFill>
                <a:latin typeface="Times New Roman"/>
                <a:cs typeface="Times New Roman"/>
              </a:rPr>
              <a:t>Example</a:t>
            </a:r>
            <a:r>
              <a:rPr dirty="0" sz="3400" spc="-6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400" b="1">
                <a:solidFill>
                  <a:srgbClr val="191B0E"/>
                </a:solidFill>
                <a:latin typeface="Times New Roman"/>
                <a:cs typeface="Times New Roman"/>
              </a:rPr>
              <a:t>1:</a:t>
            </a:r>
            <a:r>
              <a:rPr dirty="0" sz="3400" spc="-114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191B0E"/>
                </a:solidFill>
                <a:latin typeface="Times New Roman"/>
                <a:cs typeface="Times New Roman"/>
              </a:rPr>
              <a:t>Write</a:t>
            </a:r>
            <a:r>
              <a:rPr dirty="0" sz="3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191B0E"/>
                </a:solidFill>
                <a:latin typeface="Times New Roman"/>
                <a:cs typeface="Times New Roman"/>
              </a:rPr>
              <a:t>an</a:t>
            </a:r>
            <a:r>
              <a:rPr dirty="0" sz="3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191B0E"/>
                </a:solidFill>
                <a:latin typeface="Times New Roman"/>
                <a:cs typeface="Times New Roman"/>
              </a:rPr>
              <a:t>algorithm</a:t>
            </a:r>
            <a:r>
              <a:rPr dirty="0" sz="3400" spc="-5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191B0E"/>
                </a:solidFill>
                <a:latin typeface="Times New Roman"/>
                <a:cs typeface="Times New Roman"/>
              </a:rPr>
              <a:t>to</a:t>
            </a:r>
            <a:r>
              <a:rPr dirty="0" sz="3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191B0E"/>
                </a:solidFill>
                <a:latin typeface="Times New Roman"/>
                <a:cs typeface="Times New Roman"/>
              </a:rPr>
              <a:t>determine</a:t>
            </a:r>
            <a:r>
              <a:rPr dirty="0" sz="3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400" spc="-50">
                <a:solidFill>
                  <a:srgbClr val="191B0E"/>
                </a:solidFill>
                <a:latin typeface="Times New Roman"/>
                <a:cs typeface="Times New Roman"/>
              </a:rPr>
              <a:t>a </a:t>
            </a:r>
            <a:r>
              <a:rPr dirty="0" sz="3400" spc="-50">
                <a:solidFill>
                  <a:srgbClr val="191B0E"/>
                </a:solidFill>
                <a:latin typeface="Times New Roman"/>
                <a:cs typeface="Times New Roman"/>
              </a:rPr>
              <a:t>	</a:t>
            </a:r>
            <a:r>
              <a:rPr dirty="0" sz="3400" spc="-10">
                <a:solidFill>
                  <a:srgbClr val="191B0E"/>
                </a:solidFill>
                <a:latin typeface="Times New Roman"/>
                <a:cs typeface="Times New Roman"/>
              </a:rPr>
              <a:t>student’s</a:t>
            </a:r>
            <a:r>
              <a:rPr dirty="0" sz="3400" spc="-4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191B0E"/>
                </a:solidFill>
                <a:latin typeface="Times New Roman"/>
                <a:cs typeface="Times New Roman"/>
              </a:rPr>
              <a:t>final</a:t>
            </a:r>
            <a:r>
              <a:rPr dirty="0" sz="3400" spc="-5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191B0E"/>
                </a:solidFill>
                <a:latin typeface="Times New Roman"/>
                <a:cs typeface="Times New Roman"/>
              </a:rPr>
              <a:t>grade</a:t>
            </a:r>
            <a:r>
              <a:rPr dirty="0" sz="3400" spc="-5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191B0E"/>
                </a:solidFill>
                <a:latin typeface="Times New Roman"/>
                <a:cs typeface="Times New Roman"/>
              </a:rPr>
              <a:t>and</a:t>
            </a:r>
            <a:r>
              <a:rPr dirty="0" sz="3400" spc="-4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191B0E"/>
                </a:solidFill>
                <a:latin typeface="Times New Roman"/>
                <a:cs typeface="Times New Roman"/>
              </a:rPr>
              <a:t>indicate</a:t>
            </a:r>
            <a:r>
              <a:rPr dirty="0" sz="3400" spc="-4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191B0E"/>
                </a:solidFill>
                <a:latin typeface="Times New Roman"/>
                <a:cs typeface="Times New Roman"/>
              </a:rPr>
              <a:t>whether</a:t>
            </a:r>
            <a:r>
              <a:rPr dirty="0" sz="3400" spc="-4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191B0E"/>
                </a:solidFill>
                <a:latin typeface="Times New Roman"/>
                <a:cs typeface="Times New Roman"/>
              </a:rPr>
              <a:t>it</a:t>
            </a:r>
            <a:r>
              <a:rPr dirty="0" sz="3400" spc="-5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400" spc="-25">
                <a:solidFill>
                  <a:srgbClr val="191B0E"/>
                </a:solidFill>
                <a:latin typeface="Times New Roman"/>
                <a:cs typeface="Times New Roman"/>
              </a:rPr>
              <a:t>is </a:t>
            </a:r>
            <a:r>
              <a:rPr dirty="0" sz="3400" spc="-25">
                <a:solidFill>
                  <a:srgbClr val="191B0E"/>
                </a:solidFill>
                <a:latin typeface="Times New Roman"/>
                <a:cs typeface="Times New Roman"/>
              </a:rPr>
              <a:t>	</a:t>
            </a:r>
            <a:r>
              <a:rPr dirty="0" sz="3400">
                <a:solidFill>
                  <a:srgbClr val="191B0E"/>
                </a:solidFill>
                <a:latin typeface="Times New Roman"/>
                <a:cs typeface="Times New Roman"/>
              </a:rPr>
              <a:t>passing</a:t>
            </a:r>
            <a:r>
              <a:rPr dirty="0" sz="3400" spc="-7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191B0E"/>
                </a:solidFill>
                <a:latin typeface="Times New Roman"/>
                <a:cs typeface="Times New Roman"/>
              </a:rPr>
              <a:t>or</a:t>
            </a:r>
            <a:r>
              <a:rPr dirty="0" sz="3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191B0E"/>
                </a:solidFill>
                <a:latin typeface="Times New Roman"/>
                <a:cs typeface="Times New Roman"/>
              </a:rPr>
              <a:t>failing.</a:t>
            </a:r>
            <a:r>
              <a:rPr dirty="0" sz="3400" spc="-12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191B0E"/>
                </a:solidFill>
                <a:latin typeface="Times New Roman"/>
                <a:cs typeface="Times New Roman"/>
              </a:rPr>
              <a:t>The</a:t>
            </a:r>
            <a:r>
              <a:rPr dirty="0" sz="3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191B0E"/>
                </a:solidFill>
                <a:latin typeface="Times New Roman"/>
                <a:cs typeface="Times New Roman"/>
              </a:rPr>
              <a:t>final</a:t>
            </a:r>
            <a:r>
              <a:rPr dirty="0" sz="34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191B0E"/>
                </a:solidFill>
                <a:latin typeface="Times New Roman"/>
                <a:cs typeface="Times New Roman"/>
              </a:rPr>
              <a:t>grade</a:t>
            </a:r>
            <a:r>
              <a:rPr dirty="0" sz="3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191B0E"/>
                </a:solidFill>
                <a:latin typeface="Times New Roman"/>
                <a:cs typeface="Times New Roman"/>
              </a:rPr>
              <a:t>is</a:t>
            </a:r>
            <a:r>
              <a:rPr dirty="0" sz="34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191B0E"/>
                </a:solidFill>
                <a:latin typeface="Times New Roman"/>
                <a:cs typeface="Times New Roman"/>
              </a:rPr>
              <a:t>calculated</a:t>
            </a:r>
            <a:r>
              <a:rPr dirty="0" sz="34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400" spc="-25">
                <a:solidFill>
                  <a:srgbClr val="191B0E"/>
                </a:solidFill>
                <a:latin typeface="Times New Roman"/>
                <a:cs typeface="Times New Roman"/>
              </a:rPr>
              <a:t>as </a:t>
            </a:r>
            <a:r>
              <a:rPr dirty="0" sz="3400" spc="-25">
                <a:solidFill>
                  <a:srgbClr val="191B0E"/>
                </a:solidFill>
                <a:latin typeface="Times New Roman"/>
                <a:cs typeface="Times New Roman"/>
              </a:rPr>
              <a:t>	</a:t>
            </a:r>
            <a:r>
              <a:rPr dirty="0" sz="3400">
                <a:solidFill>
                  <a:srgbClr val="191B0E"/>
                </a:solidFill>
                <a:latin typeface="Times New Roman"/>
                <a:cs typeface="Times New Roman"/>
              </a:rPr>
              <a:t>the</a:t>
            </a:r>
            <a:r>
              <a:rPr dirty="0" sz="3400" spc="-5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191B0E"/>
                </a:solidFill>
                <a:latin typeface="Times New Roman"/>
                <a:cs typeface="Times New Roman"/>
              </a:rPr>
              <a:t>average</a:t>
            </a:r>
            <a:r>
              <a:rPr dirty="0" sz="3400" spc="-5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191B0E"/>
                </a:solidFill>
                <a:latin typeface="Times New Roman"/>
                <a:cs typeface="Times New Roman"/>
              </a:rPr>
              <a:t>of</a:t>
            </a:r>
            <a:r>
              <a:rPr dirty="0" sz="3400" spc="-5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191B0E"/>
                </a:solidFill>
                <a:latin typeface="Times New Roman"/>
                <a:cs typeface="Times New Roman"/>
              </a:rPr>
              <a:t>four</a:t>
            </a:r>
            <a:r>
              <a:rPr dirty="0" sz="3400" spc="-5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400" spc="-10">
                <a:solidFill>
                  <a:srgbClr val="191B0E"/>
                </a:solidFill>
                <a:latin typeface="Times New Roman"/>
                <a:cs typeface="Times New Roman"/>
              </a:rPr>
              <a:t>marks.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9867" y="865505"/>
            <a:ext cx="9766300" cy="650875"/>
          </a:xfrm>
          <a:prstGeom prst="rect"/>
          <a:ln w="29758">
            <a:solidFill>
              <a:srgbClr val="000000"/>
            </a:solidFill>
          </a:ln>
        </p:spPr>
        <p:txBody>
          <a:bodyPr wrap="square" lIns="0" tIns="66675" rIns="0" bIns="0" rtlCol="0" vert="horz">
            <a:spAutoFit/>
          </a:bodyPr>
          <a:lstStyle/>
          <a:p>
            <a:pPr algn="ctr" marL="5715">
              <a:lnSpc>
                <a:spcPct val="100000"/>
              </a:lnSpc>
              <a:spcBef>
                <a:spcPts val="525"/>
              </a:spcBef>
            </a:pPr>
            <a:r>
              <a:rPr dirty="0" cap="small" sz="3100" spc="-30">
                <a:solidFill>
                  <a:srgbClr val="000000"/>
                </a:solidFill>
                <a:latin typeface="Constantia"/>
                <a:cs typeface="Constantia"/>
              </a:rPr>
              <a:t>Pseudocode</a:t>
            </a:r>
            <a:r>
              <a:rPr dirty="0" cap="small" sz="3100" spc="10">
                <a:solidFill>
                  <a:srgbClr val="000000"/>
                </a:solidFill>
                <a:latin typeface="Constantia"/>
                <a:cs typeface="Constantia"/>
              </a:rPr>
              <a:t> </a:t>
            </a:r>
            <a:r>
              <a:rPr dirty="0" cap="small" sz="3100">
                <a:solidFill>
                  <a:srgbClr val="000000"/>
                </a:solidFill>
                <a:latin typeface="Constantia"/>
                <a:cs typeface="Constantia"/>
              </a:rPr>
              <a:t>&amp;</a:t>
            </a:r>
            <a:r>
              <a:rPr dirty="0" cap="small" sz="3100" spc="-150">
                <a:solidFill>
                  <a:srgbClr val="000000"/>
                </a:solidFill>
                <a:latin typeface="Constantia"/>
                <a:cs typeface="Constantia"/>
              </a:rPr>
              <a:t> </a:t>
            </a:r>
            <a:r>
              <a:rPr dirty="0" cap="small" sz="3100" spc="-10">
                <a:solidFill>
                  <a:srgbClr val="000000"/>
                </a:solidFill>
                <a:latin typeface="Constantia"/>
                <a:cs typeface="Constantia"/>
              </a:rPr>
              <a:t>algorithm</a:t>
            </a:r>
            <a:endParaRPr sz="31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2400" y="850900"/>
            <a:ext cx="10388600" cy="5842000"/>
          </a:xfrm>
          <a:custGeom>
            <a:avLst/>
            <a:gdLst/>
            <a:ahLst/>
            <a:cxnLst/>
            <a:rect l="l" t="t" r="r" b="b"/>
            <a:pathLst>
              <a:path w="10388600" h="5842000">
                <a:moveTo>
                  <a:pt x="10388600" y="0"/>
                </a:moveTo>
                <a:lnTo>
                  <a:pt x="0" y="0"/>
                </a:lnTo>
                <a:lnTo>
                  <a:pt x="0" y="5842000"/>
                </a:lnTo>
                <a:lnTo>
                  <a:pt x="10388600" y="5842000"/>
                </a:lnTo>
                <a:lnTo>
                  <a:pt x="10388600" y="0"/>
                </a:lnTo>
                <a:close/>
              </a:path>
            </a:pathLst>
          </a:custGeom>
          <a:solidFill>
            <a:srgbClr val="EFEDE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559776" y="850900"/>
            <a:ext cx="9981565" cy="5842635"/>
            <a:chOff x="559776" y="850900"/>
            <a:chExt cx="9981565" cy="5842635"/>
          </a:xfrm>
        </p:grpSpPr>
        <p:sp>
          <p:nvSpPr>
            <p:cNvPr id="4" name="object 4" descr=""/>
            <p:cNvSpPr/>
            <p:nvPr/>
          </p:nvSpPr>
          <p:spPr>
            <a:xfrm>
              <a:off x="559776" y="851220"/>
              <a:ext cx="194945" cy="5842000"/>
            </a:xfrm>
            <a:custGeom>
              <a:avLst/>
              <a:gdLst/>
              <a:ahLst/>
              <a:cxnLst/>
              <a:rect l="l" t="t" r="r" b="b"/>
              <a:pathLst>
                <a:path w="194945" h="5842000">
                  <a:moveTo>
                    <a:pt x="194786" y="0"/>
                  </a:moveTo>
                  <a:lnTo>
                    <a:pt x="0" y="0"/>
                  </a:lnTo>
                  <a:lnTo>
                    <a:pt x="0" y="5842000"/>
                  </a:lnTo>
                  <a:lnTo>
                    <a:pt x="194786" y="5842000"/>
                  </a:lnTo>
                  <a:lnTo>
                    <a:pt x="194786" y="0"/>
                  </a:lnTo>
                  <a:close/>
                </a:path>
              </a:pathLst>
            </a:custGeom>
            <a:solidFill>
              <a:srgbClr val="191B0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44982" y="850899"/>
              <a:ext cx="9796145" cy="680720"/>
            </a:xfrm>
            <a:custGeom>
              <a:avLst/>
              <a:gdLst/>
              <a:ahLst/>
              <a:cxnLst/>
              <a:rect l="l" t="t" r="r" b="b"/>
              <a:pathLst>
                <a:path w="9796145" h="680719">
                  <a:moveTo>
                    <a:pt x="9796005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0" y="650240"/>
                  </a:lnTo>
                  <a:lnTo>
                    <a:pt x="0" y="680720"/>
                  </a:lnTo>
                  <a:lnTo>
                    <a:pt x="9796005" y="680720"/>
                  </a:lnTo>
                  <a:lnTo>
                    <a:pt x="9796005" y="650443"/>
                  </a:lnTo>
                  <a:lnTo>
                    <a:pt x="9796005" y="650240"/>
                  </a:lnTo>
                  <a:lnTo>
                    <a:pt x="9796005" y="29756"/>
                  </a:lnTo>
                  <a:lnTo>
                    <a:pt x="9766249" y="29756"/>
                  </a:lnTo>
                  <a:lnTo>
                    <a:pt x="9766249" y="650240"/>
                  </a:lnTo>
                  <a:lnTo>
                    <a:pt x="29756" y="650240"/>
                  </a:lnTo>
                  <a:lnTo>
                    <a:pt x="29756" y="29210"/>
                  </a:lnTo>
                  <a:lnTo>
                    <a:pt x="9796005" y="29210"/>
                  </a:lnTo>
                  <a:lnTo>
                    <a:pt x="97960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952238" y="2005182"/>
            <a:ext cx="8816975" cy="3506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3100" spc="-10" b="1">
                <a:solidFill>
                  <a:srgbClr val="191B0E"/>
                </a:solidFill>
                <a:uFill>
                  <a:solidFill>
                    <a:srgbClr val="191B0E"/>
                  </a:solidFill>
                </a:uFill>
                <a:latin typeface="Times New Roman"/>
                <a:cs typeface="Times New Roman"/>
              </a:rPr>
              <a:t>Pseudocode</a:t>
            </a:r>
            <a:r>
              <a:rPr dirty="0" u="heavy" sz="3100" spc="-10">
                <a:solidFill>
                  <a:srgbClr val="191B0E"/>
                </a:solidFill>
                <a:uFill>
                  <a:solidFill>
                    <a:srgbClr val="191B0E"/>
                  </a:solidFill>
                </a:uFill>
                <a:latin typeface="Times New Roman"/>
                <a:cs typeface="Times New Roman"/>
              </a:rPr>
              <a:t>:</a:t>
            </a:r>
            <a:endParaRPr sz="3100">
              <a:latin typeface="Times New Roman"/>
              <a:cs typeface="Times New Roman"/>
            </a:endParaRPr>
          </a:p>
          <a:p>
            <a:pPr marL="339725" indent="-327025">
              <a:lnSpc>
                <a:spcPct val="100000"/>
              </a:lnSpc>
              <a:spcBef>
                <a:spcPts val="165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3100">
                <a:solidFill>
                  <a:srgbClr val="191B0E"/>
                </a:solidFill>
                <a:latin typeface="Times New Roman"/>
                <a:cs typeface="Times New Roman"/>
              </a:rPr>
              <a:t>Input</a:t>
            </a:r>
            <a:r>
              <a:rPr dirty="0" sz="31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100">
                <a:solidFill>
                  <a:srgbClr val="191B0E"/>
                </a:solidFill>
                <a:latin typeface="Times New Roman"/>
                <a:cs typeface="Times New Roman"/>
              </a:rPr>
              <a:t>a</a:t>
            </a:r>
            <a:r>
              <a:rPr dirty="0" sz="3100" spc="-5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100">
                <a:solidFill>
                  <a:srgbClr val="191B0E"/>
                </a:solidFill>
                <a:latin typeface="Times New Roman"/>
                <a:cs typeface="Times New Roman"/>
              </a:rPr>
              <a:t>set</a:t>
            </a:r>
            <a:r>
              <a:rPr dirty="0" sz="31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100">
                <a:solidFill>
                  <a:srgbClr val="191B0E"/>
                </a:solidFill>
                <a:latin typeface="Times New Roman"/>
                <a:cs typeface="Times New Roman"/>
              </a:rPr>
              <a:t>of</a:t>
            </a:r>
            <a:r>
              <a:rPr dirty="0" sz="3100" spc="-5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100">
                <a:solidFill>
                  <a:srgbClr val="191B0E"/>
                </a:solidFill>
                <a:latin typeface="Times New Roman"/>
                <a:cs typeface="Times New Roman"/>
              </a:rPr>
              <a:t>4</a:t>
            </a:r>
            <a:r>
              <a:rPr dirty="0" sz="31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100" spc="-10">
                <a:solidFill>
                  <a:srgbClr val="191B0E"/>
                </a:solidFill>
                <a:latin typeface="Times New Roman"/>
                <a:cs typeface="Times New Roman"/>
              </a:rPr>
              <a:t>marks</a:t>
            </a:r>
            <a:endParaRPr sz="3100">
              <a:latin typeface="Times New Roman"/>
              <a:cs typeface="Times New Roman"/>
            </a:endParaRPr>
          </a:p>
          <a:p>
            <a:pPr marL="339725" indent="-327025">
              <a:lnSpc>
                <a:spcPct val="100000"/>
              </a:lnSpc>
              <a:spcBef>
                <a:spcPts val="290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3100">
                <a:solidFill>
                  <a:srgbClr val="191B0E"/>
                </a:solidFill>
                <a:latin typeface="Times New Roman"/>
                <a:cs typeface="Times New Roman"/>
              </a:rPr>
              <a:t>Calculate</a:t>
            </a:r>
            <a:r>
              <a:rPr dirty="0" sz="3100" spc="-10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100">
                <a:solidFill>
                  <a:srgbClr val="191B0E"/>
                </a:solidFill>
                <a:latin typeface="Times New Roman"/>
                <a:cs typeface="Times New Roman"/>
              </a:rPr>
              <a:t>their</a:t>
            </a:r>
            <a:r>
              <a:rPr dirty="0" sz="3100" spc="-10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100">
                <a:solidFill>
                  <a:srgbClr val="191B0E"/>
                </a:solidFill>
                <a:latin typeface="Times New Roman"/>
                <a:cs typeface="Times New Roman"/>
              </a:rPr>
              <a:t>average</a:t>
            </a:r>
            <a:r>
              <a:rPr dirty="0" sz="3100" spc="-10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100">
                <a:solidFill>
                  <a:srgbClr val="191B0E"/>
                </a:solidFill>
                <a:latin typeface="Times New Roman"/>
                <a:cs typeface="Times New Roman"/>
              </a:rPr>
              <a:t>by</a:t>
            </a:r>
            <a:r>
              <a:rPr dirty="0" sz="3100" spc="-11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100" spc="-10">
                <a:solidFill>
                  <a:srgbClr val="191B0E"/>
                </a:solidFill>
                <a:latin typeface="Times New Roman"/>
                <a:cs typeface="Times New Roman"/>
              </a:rPr>
              <a:t>summing</a:t>
            </a:r>
            <a:r>
              <a:rPr dirty="0" sz="3100" spc="-11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100">
                <a:solidFill>
                  <a:srgbClr val="191B0E"/>
                </a:solidFill>
                <a:latin typeface="Times New Roman"/>
                <a:cs typeface="Times New Roman"/>
              </a:rPr>
              <a:t>and</a:t>
            </a:r>
            <a:r>
              <a:rPr dirty="0" sz="3100" spc="-11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100">
                <a:solidFill>
                  <a:srgbClr val="191B0E"/>
                </a:solidFill>
                <a:latin typeface="Times New Roman"/>
                <a:cs typeface="Times New Roman"/>
              </a:rPr>
              <a:t>dividing</a:t>
            </a:r>
            <a:r>
              <a:rPr dirty="0" sz="3100" spc="-10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100">
                <a:solidFill>
                  <a:srgbClr val="191B0E"/>
                </a:solidFill>
                <a:latin typeface="Times New Roman"/>
                <a:cs typeface="Times New Roman"/>
              </a:rPr>
              <a:t>by</a:t>
            </a:r>
            <a:r>
              <a:rPr dirty="0" sz="3100" spc="-11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100" spc="-50">
                <a:solidFill>
                  <a:srgbClr val="191B0E"/>
                </a:solidFill>
                <a:latin typeface="Times New Roman"/>
                <a:cs typeface="Times New Roman"/>
              </a:rPr>
              <a:t>4</a:t>
            </a:r>
            <a:endParaRPr sz="3100">
              <a:latin typeface="Times New Roman"/>
              <a:cs typeface="Times New Roman"/>
            </a:endParaRPr>
          </a:p>
          <a:p>
            <a:pPr marL="339725" marR="5024120" indent="-327025">
              <a:lnSpc>
                <a:spcPts val="4010"/>
              </a:lnSpc>
              <a:spcBef>
                <a:spcPts val="60"/>
              </a:spcBef>
              <a:buFont typeface="Franklin Gothic Medium"/>
              <a:buChar char="■"/>
              <a:tabLst>
                <a:tab pos="791845" algn="l"/>
              </a:tabLst>
            </a:pPr>
            <a:r>
              <a:rPr dirty="0" sz="3100">
                <a:solidFill>
                  <a:srgbClr val="191B0E"/>
                </a:solidFill>
                <a:latin typeface="Times New Roman"/>
                <a:cs typeface="Times New Roman"/>
              </a:rPr>
              <a:t>if</a:t>
            </a:r>
            <a:r>
              <a:rPr dirty="0" sz="3100" spc="-9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100">
                <a:solidFill>
                  <a:srgbClr val="191B0E"/>
                </a:solidFill>
                <a:latin typeface="Times New Roman"/>
                <a:cs typeface="Times New Roman"/>
              </a:rPr>
              <a:t>average</a:t>
            </a:r>
            <a:r>
              <a:rPr dirty="0" sz="3100" spc="-9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100">
                <a:solidFill>
                  <a:srgbClr val="191B0E"/>
                </a:solidFill>
                <a:latin typeface="Times New Roman"/>
                <a:cs typeface="Times New Roman"/>
              </a:rPr>
              <a:t>is</a:t>
            </a:r>
            <a:r>
              <a:rPr dirty="0" sz="3100" spc="-9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100">
                <a:solidFill>
                  <a:srgbClr val="191B0E"/>
                </a:solidFill>
                <a:latin typeface="Times New Roman"/>
                <a:cs typeface="Times New Roman"/>
              </a:rPr>
              <a:t>below</a:t>
            </a:r>
            <a:r>
              <a:rPr dirty="0" sz="3100" spc="-9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100" spc="-25">
                <a:solidFill>
                  <a:srgbClr val="191B0E"/>
                </a:solidFill>
                <a:latin typeface="Times New Roman"/>
                <a:cs typeface="Times New Roman"/>
              </a:rPr>
              <a:t>50 </a:t>
            </a:r>
            <a:r>
              <a:rPr dirty="0" sz="3100" spc="-25">
                <a:solidFill>
                  <a:srgbClr val="191B0E"/>
                </a:solidFill>
                <a:latin typeface="Times New Roman"/>
                <a:cs typeface="Times New Roman"/>
              </a:rPr>
              <a:t>	</a:t>
            </a:r>
            <a:r>
              <a:rPr dirty="0" sz="3100">
                <a:solidFill>
                  <a:srgbClr val="191B0E"/>
                </a:solidFill>
                <a:latin typeface="Times New Roman"/>
                <a:cs typeface="Times New Roman"/>
              </a:rPr>
              <a:t>Print</a:t>
            </a:r>
            <a:r>
              <a:rPr dirty="0" sz="3100" spc="-13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100" spc="-10">
                <a:solidFill>
                  <a:srgbClr val="191B0E"/>
                </a:solidFill>
                <a:latin typeface="Times New Roman"/>
                <a:cs typeface="Times New Roman"/>
              </a:rPr>
              <a:t>“FAIL”</a:t>
            </a:r>
            <a:endParaRPr sz="3100">
              <a:latin typeface="Times New Roman"/>
              <a:cs typeface="Times New Roman"/>
            </a:endParaRPr>
          </a:p>
          <a:p>
            <a:pPr marL="339725">
              <a:lnSpc>
                <a:spcPts val="3704"/>
              </a:lnSpc>
            </a:pPr>
            <a:r>
              <a:rPr dirty="0" sz="3100" spc="-20">
                <a:solidFill>
                  <a:srgbClr val="191B0E"/>
                </a:solidFill>
                <a:latin typeface="Times New Roman"/>
                <a:cs typeface="Times New Roman"/>
              </a:rPr>
              <a:t>else</a:t>
            </a:r>
            <a:endParaRPr sz="3100">
              <a:latin typeface="Times New Roman"/>
              <a:cs typeface="Times New Roman"/>
            </a:endParaRPr>
          </a:p>
          <a:p>
            <a:pPr marL="791845">
              <a:lnSpc>
                <a:spcPct val="100000"/>
              </a:lnSpc>
              <a:spcBef>
                <a:spcPts val="285"/>
              </a:spcBef>
            </a:pPr>
            <a:r>
              <a:rPr dirty="0" sz="3100">
                <a:solidFill>
                  <a:srgbClr val="191B0E"/>
                </a:solidFill>
                <a:latin typeface="Times New Roman"/>
                <a:cs typeface="Times New Roman"/>
              </a:rPr>
              <a:t>Print</a:t>
            </a:r>
            <a:r>
              <a:rPr dirty="0" sz="3100" spc="-13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3100" spc="-10">
                <a:solidFill>
                  <a:srgbClr val="191B0E"/>
                </a:solidFill>
                <a:latin typeface="Times New Roman"/>
                <a:cs typeface="Times New Roman"/>
              </a:rPr>
              <a:t>“PASS”</a:t>
            </a:r>
            <a:endParaRPr sz="3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2400" y="850900"/>
            <a:ext cx="10388600" cy="5842000"/>
          </a:xfrm>
          <a:custGeom>
            <a:avLst/>
            <a:gdLst/>
            <a:ahLst/>
            <a:cxnLst/>
            <a:rect l="l" t="t" r="r" b="b"/>
            <a:pathLst>
              <a:path w="10388600" h="5842000">
                <a:moveTo>
                  <a:pt x="10388600" y="0"/>
                </a:moveTo>
                <a:lnTo>
                  <a:pt x="0" y="0"/>
                </a:lnTo>
                <a:lnTo>
                  <a:pt x="0" y="5842000"/>
                </a:lnTo>
                <a:lnTo>
                  <a:pt x="10388600" y="5842000"/>
                </a:lnTo>
                <a:lnTo>
                  <a:pt x="10388600" y="0"/>
                </a:lnTo>
                <a:close/>
              </a:path>
            </a:pathLst>
          </a:custGeom>
          <a:solidFill>
            <a:srgbClr val="EFEDE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559776" y="850900"/>
            <a:ext cx="9981565" cy="5842635"/>
            <a:chOff x="559776" y="850900"/>
            <a:chExt cx="9981565" cy="5842635"/>
          </a:xfrm>
        </p:grpSpPr>
        <p:sp>
          <p:nvSpPr>
            <p:cNvPr id="4" name="object 4" descr=""/>
            <p:cNvSpPr/>
            <p:nvPr/>
          </p:nvSpPr>
          <p:spPr>
            <a:xfrm>
              <a:off x="559776" y="851220"/>
              <a:ext cx="194945" cy="5842000"/>
            </a:xfrm>
            <a:custGeom>
              <a:avLst/>
              <a:gdLst/>
              <a:ahLst/>
              <a:cxnLst/>
              <a:rect l="l" t="t" r="r" b="b"/>
              <a:pathLst>
                <a:path w="194945" h="5842000">
                  <a:moveTo>
                    <a:pt x="194786" y="0"/>
                  </a:moveTo>
                  <a:lnTo>
                    <a:pt x="0" y="0"/>
                  </a:lnTo>
                  <a:lnTo>
                    <a:pt x="0" y="5842000"/>
                  </a:lnTo>
                  <a:lnTo>
                    <a:pt x="194786" y="5842000"/>
                  </a:lnTo>
                  <a:lnTo>
                    <a:pt x="194786" y="0"/>
                  </a:lnTo>
                  <a:close/>
                </a:path>
              </a:pathLst>
            </a:custGeom>
            <a:solidFill>
              <a:srgbClr val="191B0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44982" y="850899"/>
              <a:ext cx="9796145" cy="680720"/>
            </a:xfrm>
            <a:custGeom>
              <a:avLst/>
              <a:gdLst/>
              <a:ahLst/>
              <a:cxnLst/>
              <a:rect l="l" t="t" r="r" b="b"/>
              <a:pathLst>
                <a:path w="9796145" h="680719">
                  <a:moveTo>
                    <a:pt x="9796005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0" y="650240"/>
                  </a:lnTo>
                  <a:lnTo>
                    <a:pt x="0" y="680720"/>
                  </a:lnTo>
                  <a:lnTo>
                    <a:pt x="9796005" y="680720"/>
                  </a:lnTo>
                  <a:lnTo>
                    <a:pt x="9796005" y="650443"/>
                  </a:lnTo>
                  <a:lnTo>
                    <a:pt x="9796005" y="650240"/>
                  </a:lnTo>
                  <a:lnTo>
                    <a:pt x="9796005" y="29756"/>
                  </a:lnTo>
                  <a:lnTo>
                    <a:pt x="9766249" y="29756"/>
                  </a:lnTo>
                  <a:lnTo>
                    <a:pt x="9766249" y="650240"/>
                  </a:lnTo>
                  <a:lnTo>
                    <a:pt x="29756" y="650240"/>
                  </a:lnTo>
                  <a:lnTo>
                    <a:pt x="29756" y="29210"/>
                  </a:lnTo>
                  <a:lnTo>
                    <a:pt x="9796005" y="29210"/>
                  </a:lnTo>
                  <a:lnTo>
                    <a:pt x="97960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952238" y="1903569"/>
            <a:ext cx="318643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9725" indent="-327025">
              <a:lnSpc>
                <a:spcPct val="100000"/>
              </a:lnSpc>
              <a:spcBef>
                <a:spcPts val="100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u="heavy" sz="2700" b="1">
                <a:solidFill>
                  <a:srgbClr val="191B0E"/>
                </a:solidFill>
                <a:uFill>
                  <a:solidFill>
                    <a:srgbClr val="191B0E"/>
                  </a:solidFill>
                </a:uFill>
                <a:latin typeface="Times New Roman"/>
                <a:cs typeface="Times New Roman"/>
              </a:rPr>
              <a:t>Detailed</a:t>
            </a:r>
            <a:r>
              <a:rPr dirty="0" u="heavy" sz="2700" spc="-120" b="1">
                <a:solidFill>
                  <a:srgbClr val="191B0E"/>
                </a:solidFill>
                <a:uFill>
                  <a:solidFill>
                    <a:srgbClr val="191B0E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700" spc="-10" b="1">
                <a:solidFill>
                  <a:srgbClr val="191B0E"/>
                </a:solidFill>
                <a:uFill>
                  <a:solidFill>
                    <a:srgbClr val="191B0E"/>
                  </a:solidFill>
                </a:uFill>
                <a:latin typeface="Times New Roman"/>
                <a:cs typeface="Times New Roman"/>
              </a:rPr>
              <a:t>Algorithm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731383" y="2321145"/>
            <a:ext cx="996315" cy="1275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solidFill>
                  <a:srgbClr val="191B0E"/>
                </a:solidFill>
                <a:latin typeface="Times New Roman"/>
                <a:cs typeface="Times New Roman"/>
              </a:rPr>
              <a:t>Step</a:t>
            </a:r>
            <a:r>
              <a:rPr dirty="0" sz="2700" spc="3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700" spc="-25">
                <a:solidFill>
                  <a:srgbClr val="191B0E"/>
                </a:solidFill>
                <a:latin typeface="Times New Roman"/>
                <a:cs typeface="Times New Roman"/>
              </a:rPr>
              <a:t>1:</a:t>
            </a: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2700">
                <a:solidFill>
                  <a:srgbClr val="191B0E"/>
                </a:solidFill>
                <a:latin typeface="Times New Roman"/>
                <a:cs typeface="Times New Roman"/>
              </a:rPr>
              <a:t>Step</a:t>
            </a:r>
            <a:r>
              <a:rPr dirty="0" sz="2700" spc="3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700" spc="-25">
                <a:solidFill>
                  <a:srgbClr val="191B0E"/>
                </a:solidFill>
                <a:latin typeface="Times New Roman"/>
                <a:cs typeface="Times New Roman"/>
              </a:rPr>
              <a:t>2:</a:t>
            </a: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2700">
                <a:solidFill>
                  <a:srgbClr val="191B0E"/>
                </a:solidFill>
                <a:latin typeface="Times New Roman"/>
                <a:cs typeface="Times New Roman"/>
              </a:rPr>
              <a:t>Step</a:t>
            </a:r>
            <a:r>
              <a:rPr dirty="0" sz="2700" spc="3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700" spc="-25">
                <a:solidFill>
                  <a:srgbClr val="191B0E"/>
                </a:solidFill>
                <a:latin typeface="Times New Roman"/>
                <a:cs typeface="Times New Roman"/>
              </a:rPr>
              <a:t>3: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289673" y="2321145"/>
            <a:ext cx="4743450" cy="2951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solidFill>
                  <a:srgbClr val="191B0E"/>
                </a:solidFill>
                <a:latin typeface="Times New Roman"/>
                <a:cs typeface="Times New Roman"/>
              </a:rPr>
              <a:t>Input</a:t>
            </a:r>
            <a:r>
              <a:rPr dirty="0" sz="2700" spc="2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700" spc="-10">
                <a:solidFill>
                  <a:srgbClr val="191B0E"/>
                </a:solidFill>
                <a:latin typeface="Times New Roman"/>
                <a:cs typeface="Times New Roman"/>
              </a:rPr>
              <a:t>M1,M2,M3,M4</a:t>
            </a: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2700">
                <a:solidFill>
                  <a:srgbClr val="191B0E"/>
                </a:solidFill>
                <a:latin typeface="Times New Roman"/>
                <a:cs typeface="Times New Roman"/>
              </a:rPr>
              <a:t>GRADE</a:t>
            </a:r>
            <a:r>
              <a:rPr dirty="0" sz="2700" spc="4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191B0E"/>
                </a:solidFill>
                <a:latin typeface="Symbol"/>
                <a:cs typeface="Symbol"/>
              </a:rPr>
              <a:t></a:t>
            </a:r>
            <a:r>
              <a:rPr dirty="0" sz="2700" spc="8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700" spc="-10">
                <a:solidFill>
                  <a:srgbClr val="191B0E"/>
                </a:solidFill>
                <a:latin typeface="Times New Roman"/>
                <a:cs typeface="Times New Roman"/>
              </a:rPr>
              <a:t>(M1+M2+M3+M4)/4</a:t>
            </a:r>
            <a:endParaRPr sz="2700">
              <a:latin typeface="Times New Roman"/>
              <a:cs typeface="Times New Roman"/>
            </a:endParaRPr>
          </a:p>
          <a:p>
            <a:pPr marL="791210" marR="1606550" indent="-779145">
              <a:lnSpc>
                <a:spcPts val="3310"/>
              </a:lnSpc>
              <a:spcBef>
                <a:spcPts val="100"/>
              </a:spcBef>
            </a:pPr>
            <a:r>
              <a:rPr dirty="0" sz="2700">
                <a:solidFill>
                  <a:srgbClr val="191B0E"/>
                </a:solidFill>
                <a:latin typeface="Times New Roman"/>
                <a:cs typeface="Times New Roman"/>
              </a:rPr>
              <a:t>if</a:t>
            </a:r>
            <a:r>
              <a:rPr dirty="0" sz="2700" spc="2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191B0E"/>
                </a:solidFill>
                <a:latin typeface="Times New Roman"/>
                <a:cs typeface="Times New Roman"/>
              </a:rPr>
              <a:t>(GRADE</a:t>
            </a:r>
            <a:r>
              <a:rPr dirty="0" sz="2700" spc="3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191B0E"/>
                </a:solidFill>
                <a:latin typeface="Times New Roman"/>
                <a:cs typeface="Times New Roman"/>
              </a:rPr>
              <a:t>&lt;</a:t>
            </a:r>
            <a:r>
              <a:rPr dirty="0" sz="2700" spc="2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191B0E"/>
                </a:solidFill>
                <a:latin typeface="Times New Roman"/>
                <a:cs typeface="Times New Roman"/>
              </a:rPr>
              <a:t>50)</a:t>
            </a:r>
            <a:r>
              <a:rPr dirty="0" sz="2700" spc="2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700" spc="-20">
                <a:solidFill>
                  <a:srgbClr val="191B0E"/>
                </a:solidFill>
                <a:latin typeface="Times New Roman"/>
                <a:cs typeface="Times New Roman"/>
              </a:rPr>
              <a:t>then </a:t>
            </a:r>
            <a:r>
              <a:rPr dirty="0" sz="2700">
                <a:solidFill>
                  <a:srgbClr val="191B0E"/>
                </a:solidFill>
                <a:latin typeface="Times New Roman"/>
                <a:cs typeface="Times New Roman"/>
              </a:rPr>
              <a:t>Print</a:t>
            </a:r>
            <a:r>
              <a:rPr dirty="0" sz="2700" spc="3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700" spc="-10">
                <a:solidFill>
                  <a:srgbClr val="191B0E"/>
                </a:solidFill>
                <a:latin typeface="Times New Roman"/>
                <a:cs typeface="Times New Roman"/>
              </a:rPr>
              <a:t>“FAIL”</a:t>
            </a: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ts val="3170"/>
              </a:lnSpc>
            </a:pPr>
            <a:r>
              <a:rPr dirty="0" sz="2700" spc="-20">
                <a:solidFill>
                  <a:srgbClr val="191B0E"/>
                </a:solidFill>
                <a:latin typeface="Times New Roman"/>
                <a:cs typeface="Times New Roman"/>
              </a:rPr>
              <a:t>else</a:t>
            </a:r>
            <a:endParaRPr sz="2700">
              <a:latin typeface="Times New Roman"/>
              <a:cs typeface="Times New Roman"/>
            </a:endParaRPr>
          </a:p>
          <a:p>
            <a:pPr marL="791210">
              <a:lnSpc>
                <a:spcPct val="100000"/>
              </a:lnSpc>
              <a:spcBef>
                <a:spcPts val="70"/>
              </a:spcBef>
            </a:pPr>
            <a:r>
              <a:rPr dirty="0" sz="2700">
                <a:solidFill>
                  <a:srgbClr val="191B0E"/>
                </a:solidFill>
                <a:latin typeface="Times New Roman"/>
                <a:cs typeface="Times New Roman"/>
              </a:rPr>
              <a:t>Print</a:t>
            </a:r>
            <a:r>
              <a:rPr dirty="0" sz="2700" spc="4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700" spc="-10">
                <a:solidFill>
                  <a:srgbClr val="191B0E"/>
                </a:solidFill>
                <a:latin typeface="Times New Roman"/>
                <a:cs typeface="Times New Roman"/>
              </a:rPr>
              <a:t>“PASS”</a:t>
            </a: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2700" spc="-10">
                <a:solidFill>
                  <a:srgbClr val="191B0E"/>
                </a:solidFill>
                <a:latin typeface="Times New Roman"/>
                <a:cs typeface="Times New Roman"/>
              </a:rPr>
              <a:t>endif</a:t>
            </a:r>
            <a:endParaRPr sz="2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2238" y="1891774"/>
            <a:ext cx="8770620" cy="359473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421005" indent="-408305">
              <a:lnSpc>
                <a:spcPct val="100000"/>
              </a:lnSpc>
              <a:spcBef>
                <a:spcPts val="580"/>
              </a:spcBef>
              <a:buFont typeface="Franklin Gothic Medium"/>
              <a:buChar char="■"/>
              <a:tabLst>
                <a:tab pos="421005" algn="l"/>
              </a:tabLst>
            </a:pPr>
            <a:r>
              <a:rPr dirty="0" sz="2600" spc="-20" i="1">
                <a:solidFill>
                  <a:srgbClr val="191B0E"/>
                </a:solidFill>
                <a:latin typeface="Times New Roman"/>
                <a:cs typeface="Times New Roman"/>
              </a:rPr>
              <a:t>Flowchart</a:t>
            </a:r>
            <a:r>
              <a:rPr dirty="0" sz="2600" spc="-45" i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91B0E"/>
                </a:solidFill>
                <a:latin typeface="Times New Roman"/>
                <a:cs typeface="Times New Roman"/>
              </a:rPr>
              <a:t>is</a:t>
            </a:r>
            <a:r>
              <a:rPr dirty="0" sz="2600" spc="-5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91B0E"/>
                </a:solidFill>
                <a:latin typeface="Times New Roman"/>
                <a:cs typeface="Times New Roman"/>
              </a:rPr>
              <a:t>a</a:t>
            </a:r>
            <a:r>
              <a:rPr dirty="0" sz="2600" spc="-5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191B0E"/>
                </a:solidFill>
                <a:latin typeface="Times New Roman"/>
                <a:cs typeface="Times New Roman"/>
              </a:rPr>
              <a:t>pictorial</a:t>
            </a:r>
            <a:r>
              <a:rPr dirty="0" sz="2600" spc="-5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191B0E"/>
                </a:solidFill>
                <a:latin typeface="Times New Roman"/>
                <a:cs typeface="Times New Roman"/>
              </a:rPr>
              <a:t>representation</a:t>
            </a:r>
            <a:r>
              <a:rPr dirty="0" sz="26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91B0E"/>
                </a:solidFill>
                <a:latin typeface="Times New Roman"/>
                <a:cs typeface="Times New Roman"/>
              </a:rPr>
              <a:t>of</a:t>
            </a:r>
            <a:r>
              <a:rPr dirty="0" sz="2600" spc="-5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91B0E"/>
                </a:solidFill>
                <a:latin typeface="Times New Roman"/>
                <a:cs typeface="Times New Roman"/>
              </a:rPr>
              <a:t>an</a:t>
            </a:r>
            <a:r>
              <a:rPr dirty="0" sz="26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191B0E"/>
                </a:solidFill>
                <a:latin typeface="Times New Roman"/>
                <a:cs typeface="Times New Roman"/>
              </a:rPr>
              <a:t>algorithm</a:t>
            </a:r>
            <a:endParaRPr sz="2600">
              <a:latin typeface="Times New Roman"/>
              <a:cs typeface="Times New Roman"/>
            </a:endParaRPr>
          </a:p>
          <a:p>
            <a:pPr marL="339725" marR="5080" indent="-327660">
              <a:lnSpc>
                <a:spcPct val="80000"/>
              </a:lnSpc>
              <a:spcBef>
                <a:spcPts val="1105"/>
              </a:spcBef>
              <a:buChar char="■"/>
              <a:tabLst>
                <a:tab pos="339725" algn="l"/>
                <a:tab pos="421005" algn="l"/>
              </a:tabLst>
            </a:pPr>
            <a:r>
              <a:rPr dirty="0" sz="2600">
                <a:solidFill>
                  <a:srgbClr val="191B0E"/>
                </a:solidFill>
                <a:latin typeface="Franklin Gothic Medium"/>
                <a:cs typeface="Franklin Gothic Medium"/>
              </a:rPr>
              <a:t>	</a:t>
            </a:r>
            <a:r>
              <a:rPr dirty="0" sz="2600">
                <a:solidFill>
                  <a:srgbClr val="191B0E"/>
                </a:solidFill>
                <a:latin typeface="Times New Roman"/>
                <a:cs typeface="Times New Roman"/>
              </a:rPr>
              <a:t>Uses</a:t>
            </a:r>
            <a:r>
              <a:rPr dirty="0" sz="2600" spc="-11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191B0E"/>
                </a:solidFill>
                <a:latin typeface="Times New Roman"/>
                <a:cs typeface="Times New Roman"/>
              </a:rPr>
              <a:t>symbols</a:t>
            </a:r>
            <a:r>
              <a:rPr dirty="0" sz="2600" spc="-11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91B0E"/>
                </a:solidFill>
                <a:latin typeface="Times New Roman"/>
                <a:cs typeface="Times New Roman"/>
              </a:rPr>
              <a:t>(boxes</a:t>
            </a:r>
            <a:r>
              <a:rPr dirty="0" sz="2600" spc="-11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91B0E"/>
                </a:solidFill>
                <a:latin typeface="Times New Roman"/>
                <a:cs typeface="Times New Roman"/>
              </a:rPr>
              <a:t>of</a:t>
            </a:r>
            <a:r>
              <a:rPr dirty="0" sz="2600" spc="-10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191B0E"/>
                </a:solidFill>
                <a:latin typeface="Times New Roman"/>
                <a:cs typeface="Times New Roman"/>
              </a:rPr>
              <a:t>different</a:t>
            </a:r>
            <a:r>
              <a:rPr dirty="0" sz="2600" spc="-9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191B0E"/>
                </a:solidFill>
                <a:latin typeface="Times New Roman"/>
                <a:cs typeface="Times New Roman"/>
              </a:rPr>
              <a:t>shapes)</a:t>
            </a:r>
            <a:r>
              <a:rPr dirty="0" sz="2600" spc="-10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91B0E"/>
                </a:solidFill>
                <a:latin typeface="Times New Roman"/>
                <a:cs typeface="Times New Roman"/>
              </a:rPr>
              <a:t>that</a:t>
            </a:r>
            <a:r>
              <a:rPr dirty="0" sz="2600" spc="-9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91B0E"/>
                </a:solidFill>
                <a:latin typeface="Times New Roman"/>
                <a:cs typeface="Times New Roman"/>
              </a:rPr>
              <a:t>have</a:t>
            </a:r>
            <a:r>
              <a:rPr dirty="0" sz="2600" spc="-10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191B0E"/>
                </a:solidFill>
                <a:latin typeface="Times New Roman"/>
                <a:cs typeface="Times New Roman"/>
              </a:rPr>
              <a:t>standardized meanings</a:t>
            </a:r>
            <a:r>
              <a:rPr dirty="0" sz="2600" spc="-11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91B0E"/>
                </a:solidFill>
                <a:latin typeface="Times New Roman"/>
                <a:cs typeface="Times New Roman"/>
              </a:rPr>
              <a:t>to</a:t>
            </a:r>
            <a:r>
              <a:rPr dirty="0" sz="2600" spc="-10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91B0E"/>
                </a:solidFill>
                <a:latin typeface="Times New Roman"/>
                <a:cs typeface="Times New Roman"/>
              </a:rPr>
              <a:t>denote</a:t>
            </a:r>
            <a:r>
              <a:rPr dirty="0" sz="2600" spc="-10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191B0E"/>
                </a:solidFill>
                <a:latin typeface="Times New Roman"/>
                <a:cs typeface="Times New Roman"/>
              </a:rPr>
              <a:t>different</a:t>
            </a:r>
            <a:r>
              <a:rPr dirty="0" sz="2600" spc="-9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91B0E"/>
                </a:solidFill>
                <a:latin typeface="Times New Roman"/>
                <a:cs typeface="Times New Roman"/>
              </a:rPr>
              <a:t>types</a:t>
            </a:r>
            <a:r>
              <a:rPr dirty="0" sz="2600" spc="-11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91B0E"/>
                </a:solidFill>
                <a:latin typeface="Times New Roman"/>
                <a:cs typeface="Times New Roman"/>
              </a:rPr>
              <a:t>of</a:t>
            </a:r>
            <a:r>
              <a:rPr dirty="0" sz="2600" spc="-9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191B0E"/>
                </a:solidFill>
                <a:latin typeface="Times New Roman"/>
                <a:cs typeface="Times New Roman"/>
              </a:rPr>
              <a:t>instructions</a:t>
            </a:r>
            <a:endParaRPr sz="2600">
              <a:latin typeface="Times New Roman"/>
              <a:cs typeface="Times New Roman"/>
            </a:endParaRPr>
          </a:p>
          <a:p>
            <a:pPr marL="403225" indent="-390525">
              <a:lnSpc>
                <a:spcPct val="100000"/>
              </a:lnSpc>
              <a:spcBef>
                <a:spcPts val="480"/>
              </a:spcBef>
              <a:buFont typeface="Franklin Gothic Medium"/>
              <a:buChar char="■"/>
              <a:tabLst>
                <a:tab pos="403225" algn="l"/>
              </a:tabLst>
            </a:pPr>
            <a:r>
              <a:rPr dirty="0" sz="2600">
                <a:solidFill>
                  <a:srgbClr val="191B0E"/>
                </a:solidFill>
                <a:latin typeface="Times New Roman"/>
                <a:cs typeface="Times New Roman"/>
              </a:rPr>
              <a:t>Actual</a:t>
            </a:r>
            <a:r>
              <a:rPr dirty="0" sz="2600" spc="-9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191B0E"/>
                </a:solidFill>
                <a:latin typeface="Times New Roman"/>
                <a:cs typeface="Times New Roman"/>
              </a:rPr>
              <a:t>instructions</a:t>
            </a:r>
            <a:r>
              <a:rPr dirty="0" sz="2600" spc="-10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91B0E"/>
                </a:solidFill>
                <a:latin typeface="Times New Roman"/>
                <a:cs typeface="Times New Roman"/>
              </a:rPr>
              <a:t>are</a:t>
            </a:r>
            <a:r>
              <a:rPr dirty="0" sz="2600" spc="-9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91B0E"/>
                </a:solidFill>
                <a:latin typeface="Times New Roman"/>
                <a:cs typeface="Times New Roman"/>
              </a:rPr>
              <a:t>written</a:t>
            </a:r>
            <a:r>
              <a:rPr dirty="0" sz="2600" spc="-10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91B0E"/>
                </a:solidFill>
                <a:latin typeface="Times New Roman"/>
                <a:cs typeface="Times New Roman"/>
              </a:rPr>
              <a:t>within</a:t>
            </a:r>
            <a:r>
              <a:rPr dirty="0" sz="2600" spc="-10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91B0E"/>
                </a:solidFill>
                <a:latin typeface="Times New Roman"/>
                <a:cs typeface="Times New Roman"/>
              </a:rPr>
              <a:t>the</a:t>
            </a:r>
            <a:r>
              <a:rPr dirty="0" sz="2600" spc="-9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191B0E"/>
                </a:solidFill>
                <a:latin typeface="Times New Roman"/>
                <a:cs typeface="Times New Roman"/>
              </a:rPr>
              <a:t>boxes</a:t>
            </a:r>
            <a:endParaRPr sz="2600">
              <a:latin typeface="Times New Roman"/>
              <a:cs typeface="Times New Roman"/>
            </a:endParaRPr>
          </a:p>
          <a:p>
            <a:pPr marL="339725" marR="384175" indent="-327660">
              <a:lnSpc>
                <a:spcPct val="81900"/>
              </a:lnSpc>
              <a:spcBef>
                <a:spcPts val="1040"/>
              </a:spcBef>
              <a:buChar char="■"/>
              <a:tabLst>
                <a:tab pos="339725" algn="l"/>
                <a:tab pos="421005" algn="l"/>
              </a:tabLst>
            </a:pPr>
            <a:r>
              <a:rPr dirty="0" sz="2600">
                <a:solidFill>
                  <a:srgbClr val="191B0E"/>
                </a:solidFill>
                <a:latin typeface="Franklin Gothic Medium"/>
                <a:cs typeface="Franklin Gothic Medium"/>
              </a:rPr>
              <a:t>	</a:t>
            </a:r>
            <a:r>
              <a:rPr dirty="0" sz="2600" spc="-10">
                <a:solidFill>
                  <a:srgbClr val="191B0E"/>
                </a:solidFill>
                <a:latin typeface="Times New Roman"/>
                <a:cs typeface="Times New Roman"/>
              </a:rPr>
              <a:t>Boxes</a:t>
            </a:r>
            <a:r>
              <a:rPr dirty="0" sz="2600" spc="-11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91B0E"/>
                </a:solidFill>
                <a:latin typeface="Times New Roman"/>
                <a:cs typeface="Times New Roman"/>
              </a:rPr>
              <a:t>are</a:t>
            </a:r>
            <a:r>
              <a:rPr dirty="0" sz="2600" spc="-10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191B0E"/>
                </a:solidFill>
                <a:latin typeface="Times New Roman"/>
                <a:cs typeface="Times New Roman"/>
              </a:rPr>
              <a:t>connected</a:t>
            </a:r>
            <a:r>
              <a:rPr dirty="0" sz="2600" spc="-11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91B0E"/>
                </a:solidFill>
                <a:latin typeface="Times New Roman"/>
                <a:cs typeface="Times New Roman"/>
              </a:rPr>
              <a:t>by</a:t>
            </a:r>
            <a:r>
              <a:rPr dirty="0" sz="2600" spc="-10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91B0E"/>
                </a:solidFill>
                <a:latin typeface="Times New Roman"/>
                <a:cs typeface="Times New Roman"/>
              </a:rPr>
              <a:t>solid</a:t>
            </a:r>
            <a:r>
              <a:rPr dirty="0" sz="2600" spc="-11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91B0E"/>
                </a:solidFill>
                <a:latin typeface="Times New Roman"/>
                <a:cs typeface="Times New Roman"/>
              </a:rPr>
              <a:t>lines</a:t>
            </a:r>
            <a:r>
              <a:rPr dirty="0" sz="2600" spc="-11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91B0E"/>
                </a:solidFill>
                <a:latin typeface="Times New Roman"/>
                <a:cs typeface="Times New Roman"/>
              </a:rPr>
              <a:t>having</a:t>
            </a:r>
            <a:r>
              <a:rPr dirty="0" sz="2600" spc="-10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91B0E"/>
                </a:solidFill>
                <a:latin typeface="Times New Roman"/>
                <a:cs typeface="Times New Roman"/>
              </a:rPr>
              <a:t>arrow</a:t>
            </a:r>
            <a:r>
              <a:rPr dirty="0" sz="2600" spc="-12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91B0E"/>
                </a:solidFill>
                <a:latin typeface="Times New Roman"/>
                <a:cs typeface="Times New Roman"/>
              </a:rPr>
              <a:t>marks</a:t>
            </a:r>
            <a:r>
              <a:rPr dirty="0" sz="2600" spc="-10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 spc="-25">
                <a:solidFill>
                  <a:srgbClr val="191B0E"/>
                </a:solidFill>
                <a:latin typeface="Times New Roman"/>
                <a:cs typeface="Times New Roman"/>
              </a:rPr>
              <a:t>to </a:t>
            </a:r>
            <a:r>
              <a:rPr dirty="0" sz="2600">
                <a:solidFill>
                  <a:srgbClr val="191B0E"/>
                </a:solidFill>
                <a:latin typeface="Times New Roman"/>
                <a:cs typeface="Times New Roman"/>
              </a:rPr>
              <a:t>indicate</a:t>
            </a:r>
            <a:r>
              <a:rPr dirty="0" sz="2600" spc="-9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91B0E"/>
                </a:solidFill>
                <a:latin typeface="Times New Roman"/>
                <a:cs typeface="Times New Roman"/>
              </a:rPr>
              <a:t>the</a:t>
            </a:r>
            <a:r>
              <a:rPr dirty="0" sz="2600" spc="-9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91B0E"/>
                </a:solidFill>
                <a:latin typeface="Times New Roman"/>
                <a:cs typeface="Times New Roman"/>
              </a:rPr>
              <a:t>exact</a:t>
            </a:r>
            <a:r>
              <a:rPr dirty="0" sz="2600" spc="-8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191B0E"/>
                </a:solidFill>
                <a:latin typeface="Times New Roman"/>
                <a:cs typeface="Times New Roman"/>
              </a:rPr>
              <a:t>sequence</a:t>
            </a:r>
            <a:r>
              <a:rPr dirty="0" sz="2600" spc="-9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91B0E"/>
                </a:solidFill>
                <a:latin typeface="Times New Roman"/>
                <a:cs typeface="Times New Roman"/>
              </a:rPr>
              <a:t>in</a:t>
            </a:r>
            <a:r>
              <a:rPr dirty="0" sz="2600" spc="-9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91B0E"/>
                </a:solidFill>
                <a:latin typeface="Times New Roman"/>
                <a:cs typeface="Times New Roman"/>
              </a:rPr>
              <a:t>which</a:t>
            </a:r>
            <a:r>
              <a:rPr dirty="0" sz="2600" spc="-9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91B0E"/>
                </a:solidFill>
                <a:latin typeface="Times New Roman"/>
                <a:cs typeface="Times New Roman"/>
              </a:rPr>
              <a:t>the</a:t>
            </a:r>
            <a:r>
              <a:rPr dirty="0" sz="2600" spc="-9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191B0E"/>
                </a:solidFill>
                <a:latin typeface="Times New Roman"/>
                <a:cs typeface="Times New Roman"/>
              </a:rPr>
              <a:t>instructions</a:t>
            </a:r>
            <a:r>
              <a:rPr dirty="0" sz="2600" spc="-9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91B0E"/>
                </a:solidFill>
                <a:latin typeface="Times New Roman"/>
                <a:cs typeface="Times New Roman"/>
              </a:rPr>
              <a:t>are</a:t>
            </a:r>
            <a:r>
              <a:rPr dirty="0" sz="2600" spc="-9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91B0E"/>
                </a:solidFill>
                <a:latin typeface="Times New Roman"/>
                <a:cs typeface="Times New Roman"/>
              </a:rPr>
              <a:t>to</a:t>
            </a:r>
            <a:r>
              <a:rPr dirty="0" sz="2600" spc="-9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 spc="-25">
                <a:solidFill>
                  <a:srgbClr val="191B0E"/>
                </a:solidFill>
                <a:latin typeface="Times New Roman"/>
                <a:cs typeface="Times New Roman"/>
              </a:rPr>
              <a:t>be </a:t>
            </a:r>
            <a:r>
              <a:rPr dirty="0" sz="2600" spc="-10">
                <a:solidFill>
                  <a:srgbClr val="191B0E"/>
                </a:solidFill>
                <a:latin typeface="Times New Roman"/>
                <a:cs typeface="Times New Roman"/>
              </a:rPr>
              <a:t>executed</a:t>
            </a:r>
            <a:endParaRPr sz="2600">
              <a:latin typeface="Times New Roman"/>
              <a:cs typeface="Times New Roman"/>
            </a:endParaRPr>
          </a:p>
          <a:p>
            <a:pPr marL="421005" indent="-408305">
              <a:lnSpc>
                <a:spcPts val="2810"/>
              </a:lnSpc>
              <a:spcBef>
                <a:spcPts val="480"/>
              </a:spcBef>
              <a:buFont typeface="Franklin Gothic Medium"/>
              <a:buChar char="■"/>
              <a:tabLst>
                <a:tab pos="421005" algn="l"/>
              </a:tabLst>
            </a:pPr>
            <a:r>
              <a:rPr dirty="0" sz="2600" spc="-10">
                <a:solidFill>
                  <a:srgbClr val="191B0E"/>
                </a:solidFill>
                <a:latin typeface="Times New Roman"/>
                <a:cs typeface="Times New Roman"/>
              </a:rPr>
              <a:t>Process</a:t>
            </a:r>
            <a:r>
              <a:rPr dirty="0" sz="2600" spc="-8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91B0E"/>
                </a:solidFill>
                <a:latin typeface="Times New Roman"/>
                <a:cs typeface="Times New Roman"/>
              </a:rPr>
              <a:t>of</a:t>
            </a:r>
            <a:r>
              <a:rPr dirty="0" sz="2600" spc="-7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191B0E"/>
                </a:solidFill>
                <a:latin typeface="Times New Roman"/>
                <a:cs typeface="Times New Roman"/>
              </a:rPr>
              <a:t>drawing</a:t>
            </a:r>
            <a:r>
              <a:rPr dirty="0" sz="2600" spc="-8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91B0E"/>
                </a:solidFill>
                <a:latin typeface="Times New Roman"/>
                <a:cs typeface="Times New Roman"/>
              </a:rPr>
              <a:t>a</a:t>
            </a:r>
            <a:r>
              <a:rPr dirty="0" sz="2600" spc="-8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191B0E"/>
                </a:solidFill>
                <a:latin typeface="Times New Roman"/>
                <a:cs typeface="Times New Roman"/>
              </a:rPr>
              <a:t>flowchart</a:t>
            </a:r>
            <a:r>
              <a:rPr dirty="0" sz="2600" spc="-7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91B0E"/>
                </a:solidFill>
                <a:latin typeface="Times New Roman"/>
                <a:cs typeface="Times New Roman"/>
              </a:rPr>
              <a:t>for</a:t>
            </a:r>
            <a:r>
              <a:rPr dirty="0" sz="2600" spc="-7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91B0E"/>
                </a:solidFill>
                <a:latin typeface="Times New Roman"/>
                <a:cs typeface="Times New Roman"/>
              </a:rPr>
              <a:t>an</a:t>
            </a:r>
            <a:r>
              <a:rPr dirty="0" sz="2600" spc="-8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191B0E"/>
                </a:solidFill>
                <a:latin typeface="Times New Roman"/>
                <a:cs typeface="Times New Roman"/>
              </a:rPr>
              <a:t>algorithm</a:t>
            </a:r>
            <a:r>
              <a:rPr dirty="0" sz="2600" spc="-9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91B0E"/>
                </a:solidFill>
                <a:latin typeface="Times New Roman"/>
                <a:cs typeface="Times New Roman"/>
              </a:rPr>
              <a:t>is</a:t>
            </a:r>
            <a:r>
              <a:rPr dirty="0" sz="2600" spc="-8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191B0E"/>
                </a:solidFill>
                <a:latin typeface="Times New Roman"/>
                <a:cs typeface="Times New Roman"/>
              </a:rPr>
              <a:t>called</a:t>
            </a:r>
            <a:endParaRPr sz="2600">
              <a:latin typeface="Times New Roman"/>
              <a:cs typeface="Times New Roman"/>
            </a:endParaRPr>
          </a:p>
          <a:p>
            <a:pPr marL="339725">
              <a:lnSpc>
                <a:spcPts val="2810"/>
              </a:lnSpc>
            </a:pPr>
            <a:r>
              <a:rPr dirty="0" sz="2600" spc="-10" i="1">
                <a:solidFill>
                  <a:srgbClr val="191B0E"/>
                </a:solidFill>
                <a:latin typeface="Times New Roman"/>
                <a:cs typeface="Times New Roman"/>
              </a:rPr>
              <a:t>flowcharting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9867" y="865505"/>
            <a:ext cx="9766300" cy="650875"/>
          </a:xfrm>
          <a:prstGeom prst="rect"/>
          <a:ln w="29758">
            <a:solidFill>
              <a:srgbClr val="000000"/>
            </a:solidFill>
          </a:ln>
        </p:spPr>
        <p:txBody>
          <a:bodyPr wrap="square" lIns="0" tIns="142875" rIns="0" bIns="0" rtlCol="0" vert="horz">
            <a:spAutoFit/>
          </a:bodyPr>
          <a:lstStyle/>
          <a:p>
            <a:pPr algn="ctr" marL="3810">
              <a:lnSpc>
                <a:spcPct val="100000"/>
              </a:lnSpc>
              <a:spcBef>
                <a:spcPts val="1125"/>
              </a:spcBef>
            </a:pPr>
            <a:r>
              <a:rPr dirty="0" sz="2500" spc="-10">
                <a:solidFill>
                  <a:srgbClr val="000000"/>
                </a:solidFill>
                <a:latin typeface="Constantia"/>
                <a:cs typeface="Constantia"/>
              </a:rPr>
              <a:t>FLOWCHART</a:t>
            </a:r>
            <a:endParaRPr sz="25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33019" rIns="0" bIns="0" rtlCol="0" vert="horz">
            <a:spAutoFit/>
          </a:bodyPr>
          <a:lstStyle/>
          <a:p>
            <a:pPr marL="317373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dirty="0" spc="90"/>
              <a:t> </a:t>
            </a:r>
            <a:r>
              <a:rPr dirty="0" spc="-10"/>
              <a:t>Flowchart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386332" y="2729465"/>
            <a:ext cx="6919595" cy="2272030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2700" b="1">
                <a:solidFill>
                  <a:srgbClr val="191B0E"/>
                </a:solidFill>
                <a:latin typeface="Times New Roman"/>
                <a:cs typeface="Times New Roman"/>
              </a:rPr>
              <a:t>A</a:t>
            </a:r>
            <a:r>
              <a:rPr dirty="0" sz="2700" spc="-12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700" spc="-10" b="1">
                <a:solidFill>
                  <a:srgbClr val="191B0E"/>
                </a:solidFill>
                <a:latin typeface="Times New Roman"/>
                <a:cs typeface="Times New Roman"/>
              </a:rPr>
              <a:t>Flowchart</a:t>
            </a:r>
            <a:endParaRPr sz="2700">
              <a:latin typeface="Times New Roman"/>
              <a:cs typeface="Times New Roman"/>
            </a:endParaRPr>
          </a:p>
          <a:p>
            <a:pPr marL="790575" indent="-326390">
              <a:lnSpc>
                <a:spcPct val="100000"/>
              </a:lnSpc>
              <a:spcBef>
                <a:spcPts val="455"/>
              </a:spcBef>
              <a:buFont typeface="Franklin Gothic Medium"/>
              <a:buChar char="–"/>
              <a:tabLst>
                <a:tab pos="790575" algn="l"/>
              </a:tabLst>
            </a:pPr>
            <a:r>
              <a:rPr dirty="0" sz="2700">
                <a:solidFill>
                  <a:srgbClr val="191B0E"/>
                </a:solidFill>
                <a:latin typeface="Times New Roman"/>
                <a:cs typeface="Times New Roman"/>
              </a:rPr>
              <a:t>shows</a:t>
            </a:r>
            <a:r>
              <a:rPr dirty="0" sz="2700" spc="3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191B0E"/>
                </a:solidFill>
                <a:latin typeface="Times New Roman"/>
                <a:cs typeface="Times New Roman"/>
              </a:rPr>
              <a:t>logic</a:t>
            </a:r>
            <a:r>
              <a:rPr dirty="0" sz="2700" spc="3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191B0E"/>
                </a:solidFill>
                <a:latin typeface="Times New Roman"/>
                <a:cs typeface="Times New Roman"/>
              </a:rPr>
              <a:t>of</a:t>
            </a:r>
            <a:r>
              <a:rPr dirty="0" sz="2700" spc="2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191B0E"/>
                </a:solidFill>
                <a:latin typeface="Times New Roman"/>
                <a:cs typeface="Times New Roman"/>
              </a:rPr>
              <a:t>an</a:t>
            </a:r>
            <a:r>
              <a:rPr dirty="0" sz="2700" spc="2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700" spc="-10">
                <a:solidFill>
                  <a:srgbClr val="191B0E"/>
                </a:solidFill>
                <a:latin typeface="Times New Roman"/>
                <a:cs typeface="Times New Roman"/>
              </a:rPr>
              <a:t>algorithm</a:t>
            </a:r>
            <a:endParaRPr sz="2700">
              <a:latin typeface="Times New Roman"/>
              <a:cs typeface="Times New Roman"/>
            </a:endParaRPr>
          </a:p>
          <a:p>
            <a:pPr marL="789940" marR="944244" indent="-326390">
              <a:lnSpc>
                <a:spcPts val="3100"/>
              </a:lnSpc>
              <a:spcBef>
                <a:spcPts val="580"/>
              </a:spcBef>
              <a:buFont typeface="Franklin Gothic Medium"/>
              <a:buChar char="–"/>
              <a:tabLst>
                <a:tab pos="791210" algn="l"/>
              </a:tabLst>
            </a:pPr>
            <a:r>
              <a:rPr dirty="0" sz="2700">
                <a:solidFill>
                  <a:srgbClr val="191B0E"/>
                </a:solidFill>
                <a:latin typeface="Times New Roman"/>
                <a:cs typeface="Times New Roman"/>
              </a:rPr>
              <a:t>emphasizes</a:t>
            </a:r>
            <a:r>
              <a:rPr dirty="0" sz="2700" spc="5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191B0E"/>
                </a:solidFill>
                <a:latin typeface="Times New Roman"/>
                <a:cs typeface="Times New Roman"/>
              </a:rPr>
              <a:t>individual</a:t>
            </a:r>
            <a:r>
              <a:rPr dirty="0" sz="2700" spc="4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191B0E"/>
                </a:solidFill>
                <a:latin typeface="Times New Roman"/>
                <a:cs typeface="Times New Roman"/>
              </a:rPr>
              <a:t>steps</a:t>
            </a:r>
            <a:r>
              <a:rPr dirty="0" sz="2700" spc="5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191B0E"/>
                </a:solidFill>
                <a:latin typeface="Times New Roman"/>
                <a:cs typeface="Times New Roman"/>
              </a:rPr>
              <a:t>and</a:t>
            </a:r>
            <a:r>
              <a:rPr dirty="0" sz="2700" spc="5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700" spc="-10">
                <a:solidFill>
                  <a:srgbClr val="191B0E"/>
                </a:solidFill>
                <a:latin typeface="Times New Roman"/>
                <a:cs typeface="Times New Roman"/>
              </a:rPr>
              <a:t>their 	interconnections</a:t>
            </a:r>
            <a:endParaRPr sz="2700">
              <a:latin typeface="Times New Roman"/>
              <a:cs typeface="Times New Roman"/>
            </a:endParaRPr>
          </a:p>
          <a:p>
            <a:pPr marL="790575" indent="-326390">
              <a:lnSpc>
                <a:spcPct val="100000"/>
              </a:lnSpc>
              <a:spcBef>
                <a:spcPts val="275"/>
              </a:spcBef>
              <a:buFont typeface="Franklin Gothic Medium"/>
              <a:buChar char="–"/>
              <a:tabLst>
                <a:tab pos="790575" algn="l"/>
              </a:tabLst>
            </a:pPr>
            <a:r>
              <a:rPr dirty="0" sz="2700">
                <a:solidFill>
                  <a:srgbClr val="191B0E"/>
                </a:solidFill>
                <a:latin typeface="Times New Roman"/>
                <a:cs typeface="Times New Roman"/>
              </a:rPr>
              <a:t>e.g.</a:t>
            </a:r>
            <a:r>
              <a:rPr dirty="0" sz="2700" spc="1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191B0E"/>
                </a:solidFill>
                <a:latin typeface="Times New Roman"/>
                <a:cs typeface="Times New Roman"/>
              </a:rPr>
              <a:t>control</a:t>
            </a:r>
            <a:r>
              <a:rPr dirty="0" sz="2700" spc="2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191B0E"/>
                </a:solidFill>
                <a:latin typeface="Times New Roman"/>
                <a:cs typeface="Times New Roman"/>
              </a:rPr>
              <a:t>flow</a:t>
            </a:r>
            <a:r>
              <a:rPr dirty="0" sz="2700" spc="3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191B0E"/>
                </a:solidFill>
                <a:latin typeface="Times New Roman"/>
                <a:cs typeface="Times New Roman"/>
              </a:rPr>
              <a:t>from</a:t>
            </a:r>
            <a:r>
              <a:rPr dirty="0" sz="2700" spc="3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191B0E"/>
                </a:solidFill>
                <a:latin typeface="Times New Roman"/>
                <a:cs typeface="Times New Roman"/>
              </a:rPr>
              <a:t>one</a:t>
            </a:r>
            <a:r>
              <a:rPr dirty="0" sz="2700" spc="3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191B0E"/>
                </a:solidFill>
                <a:latin typeface="Times New Roman"/>
                <a:cs typeface="Times New Roman"/>
              </a:rPr>
              <a:t>action</a:t>
            </a:r>
            <a:r>
              <a:rPr dirty="0" sz="2700" spc="3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191B0E"/>
                </a:solidFill>
                <a:latin typeface="Times New Roman"/>
                <a:cs typeface="Times New Roman"/>
              </a:rPr>
              <a:t>to</a:t>
            </a:r>
            <a:r>
              <a:rPr dirty="0" sz="2700" spc="3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191B0E"/>
                </a:solidFill>
                <a:latin typeface="Times New Roman"/>
                <a:cs typeface="Times New Roman"/>
              </a:rPr>
              <a:t>the</a:t>
            </a:r>
            <a:r>
              <a:rPr dirty="0" sz="2700" spc="3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700" spc="-20">
                <a:solidFill>
                  <a:srgbClr val="191B0E"/>
                </a:solidFill>
                <a:latin typeface="Times New Roman"/>
                <a:cs typeface="Times New Roman"/>
              </a:rPr>
              <a:t>next</a:t>
            </a:r>
            <a:endParaRPr sz="2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9867" y="865505"/>
            <a:ext cx="9766300" cy="650875"/>
          </a:xfrm>
          <a:prstGeom prst="rect"/>
          <a:ln w="29758">
            <a:solidFill>
              <a:srgbClr val="000000"/>
            </a:solidFill>
          </a:ln>
        </p:spPr>
        <p:txBody>
          <a:bodyPr wrap="square" lIns="0" tIns="66675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525"/>
              </a:spcBef>
            </a:pPr>
            <a:r>
              <a:rPr dirty="0" cap="small" sz="3100">
                <a:solidFill>
                  <a:srgbClr val="000000"/>
                </a:solidFill>
                <a:latin typeface="Constantia"/>
                <a:cs typeface="Constantia"/>
              </a:rPr>
              <a:t>Basic</a:t>
            </a:r>
            <a:r>
              <a:rPr dirty="0" cap="small" sz="3100" spc="-80">
                <a:solidFill>
                  <a:srgbClr val="000000"/>
                </a:solidFill>
                <a:latin typeface="Constantia"/>
                <a:cs typeface="Constantia"/>
              </a:rPr>
              <a:t> </a:t>
            </a:r>
            <a:r>
              <a:rPr dirty="0" cap="small" sz="3100" spc="-55">
                <a:solidFill>
                  <a:srgbClr val="000000"/>
                </a:solidFill>
                <a:latin typeface="Constantia"/>
                <a:cs typeface="Constantia"/>
              </a:rPr>
              <a:t>flowchart</a:t>
            </a:r>
            <a:r>
              <a:rPr dirty="0" cap="small" sz="3100" spc="-95">
                <a:solidFill>
                  <a:srgbClr val="000000"/>
                </a:solidFill>
                <a:latin typeface="Constantia"/>
                <a:cs typeface="Constantia"/>
              </a:rPr>
              <a:t> </a:t>
            </a:r>
            <a:r>
              <a:rPr dirty="0" cap="small" sz="3100" spc="-10">
                <a:solidFill>
                  <a:srgbClr val="000000"/>
                </a:solidFill>
                <a:latin typeface="Constantia"/>
                <a:cs typeface="Constantia"/>
              </a:rPr>
              <a:t>symbols</a:t>
            </a:r>
            <a:endParaRPr sz="3100">
              <a:latin typeface="Constantia"/>
              <a:cs typeface="Constanti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577" y="1807874"/>
            <a:ext cx="9178053" cy="431271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2400" y="850900"/>
            <a:ext cx="10388600" cy="5842000"/>
          </a:xfrm>
          <a:custGeom>
            <a:avLst/>
            <a:gdLst/>
            <a:ahLst/>
            <a:cxnLst/>
            <a:rect l="l" t="t" r="r" b="b"/>
            <a:pathLst>
              <a:path w="10388600" h="5842000">
                <a:moveTo>
                  <a:pt x="10388600" y="0"/>
                </a:moveTo>
                <a:lnTo>
                  <a:pt x="0" y="0"/>
                </a:lnTo>
                <a:lnTo>
                  <a:pt x="0" y="5842000"/>
                </a:lnTo>
                <a:lnTo>
                  <a:pt x="10388600" y="5842000"/>
                </a:lnTo>
                <a:lnTo>
                  <a:pt x="10388600" y="0"/>
                </a:lnTo>
                <a:close/>
              </a:path>
            </a:pathLst>
          </a:custGeom>
          <a:solidFill>
            <a:srgbClr val="EFEDE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559776" y="850900"/>
            <a:ext cx="9981565" cy="5842635"/>
            <a:chOff x="559776" y="850900"/>
            <a:chExt cx="9981565" cy="5842635"/>
          </a:xfrm>
        </p:grpSpPr>
        <p:sp>
          <p:nvSpPr>
            <p:cNvPr id="4" name="object 4" descr=""/>
            <p:cNvSpPr/>
            <p:nvPr/>
          </p:nvSpPr>
          <p:spPr>
            <a:xfrm>
              <a:off x="559776" y="851220"/>
              <a:ext cx="194945" cy="5842000"/>
            </a:xfrm>
            <a:custGeom>
              <a:avLst/>
              <a:gdLst/>
              <a:ahLst/>
              <a:cxnLst/>
              <a:rect l="l" t="t" r="r" b="b"/>
              <a:pathLst>
                <a:path w="194945" h="5842000">
                  <a:moveTo>
                    <a:pt x="194786" y="0"/>
                  </a:moveTo>
                  <a:lnTo>
                    <a:pt x="0" y="0"/>
                  </a:lnTo>
                  <a:lnTo>
                    <a:pt x="0" y="5842000"/>
                  </a:lnTo>
                  <a:lnTo>
                    <a:pt x="194786" y="5842000"/>
                  </a:lnTo>
                  <a:lnTo>
                    <a:pt x="194786" y="0"/>
                  </a:lnTo>
                  <a:close/>
                </a:path>
              </a:pathLst>
            </a:custGeom>
            <a:solidFill>
              <a:srgbClr val="191B0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44982" y="850899"/>
              <a:ext cx="9796145" cy="680720"/>
            </a:xfrm>
            <a:custGeom>
              <a:avLst/>
              <a:gdLst/>
              <a:ahLst/>
              <a:cxnLst/>
              <a:rect l="l" t="t" r="r" b="b"/>
              <a:pathLst>
                <a:path w="9796145" h="680719">
                  <a:moveTo>
                    <a:pt x="9796005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0" y="650240"/>
                  </a:lnTo>
                  <a:lnTo>
                    <a:pt x="0" y="680720"/>
                  </a:lnTo>
                  <a:lnTo>
                    <a:pt x="9796005" y="680720"/>
                  </a:lnTo>
                  <a:lnTo>
                    <a:pt x="9796005" y="650443"/>
                  </a:lnTo>
                  <a:lnTo>
                    <a:pt x="9796005" y="650240"/>
                  </a:lnTo>
                  <a:lnTo>
                    <a:pt x="9796005" y="29756"/>
                  </a:lnTo>
                  <a:lnTo>
                    <a:pt x="9766249" y="29756"/>
                  </a:lnTo>
                  <a:lnTo>
                    <a:pt x="9766249" y="650240"/>
                  </a:lnTo>
                  <a:lnTo>
                    <a:pt x="29756" y="650240"/>
                  </a:lnTo>
                  <a:lnTo>
                    <a:pt x="29756" y="29210"/>
                  </a:lnTo>
                  <a:lnTo>
                    <a:pt x="9796005" y="29210"/>
                  </a:lnTo>
                  <a:lnTo>
                    <a:pt x="97960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422813" y="1966969"/>
              <a:ext cx="1662430" cy="495934"/>
            </a:xfrm>
            <a:custGeom>
              <a:avLst/>
              <a:gdLst/>
              <a:ahLst/>
              <a:cxnLst/>
              <a:rect l="l" t="t" r="r" b="b"/>
              <a:pathLst>
                <a:path w="1662429" h="495935">
                  <a:moveTo>
                    <a:pt x="831100" y="0"/>
                  </a:moveTo>
                  <a:lnTo>
                    <a:pt x="759393" y="910"/>
                  </a:lnTo>
                  <a:lnTo>
                    <a:pt x="689378" y="3592"/>
                  </a:lnTo>
                  <a:lnTo>
                    <a:pt x="621307" y="7970"/>
                  </a:lnTo>
                  <a:lnTo>
                    <a:pt x="555428" y="13970"/>
                  </a:lnTo>
                  <a:lnTo>
                    <a:pt x="491990" y="21518"/>
                  </a:lnTo>
                  <a:lnTo>
                    <a:pt x="431245" y="30539"/>
                  </a:lnTo>
                  <a:lnTo>
                    <a:pt x="373440" y="40958"/>
                  </a:lnTo>
                  <a:lnTo>
                    <a:pt x="318825" y="52700"/>
                  </a:lnTo>
                  <a:lnTo>
                    <a:pt x="267651" y="65692"/>
                  </a:lnTo>
                  <a:lnTo>
                    <a:pt x="220165" y="79858"/>
                  </a:lnTo>
                  <a:lnTo>
                    <a:pt x="176619" y="95123"/>
                  </a:lnTo>
                  <a:lnTo>
                    <a:pt x="137262" y="111414"/>
                  </a:lnTo>
                  <a:lnTo>
                    <a:pt x="102343" y="128656"/>
                  </a:lnTo>
                  <a:lnTo>
                    <a:pt x="46816" y="165693"/>
                  </a:lnTo>
                  <a:lnTo>
                    <a:pt x="12036" y="205638"/>
                  </a:lnTo>
                  <a:lnTo>
                    <a:pt x="0" y="247893"/>
                  </a:lnTo>
                  <a:lnTo>
                    <a:pt x="3050" y="269288"/>
                  </a:lnTo>
                  <a:lnTo>
                    <a:pt x="26708" y="310484"/>
                  </a:lnTo>
                  <a:lnTo>
                    <a:pt x="72111" y="349060"/>
                  </a:lnTo>
                  <a:lnTo>
                    <a:pt x="137262" y="384421"/>
                  </a:lnTo>
                  <a:lnTo>
                    <a:pt x="176619" y="400711"/>
                  </a:lnTo>
                  <a:lnTo>
                    <a:pt x="220165" y="415973"/>
                  </a:lnTo>
                  <a:lnTo>
                    <a:pt x="267651" y="430135"/>
                  </a:lnTo>
                  <a:lnTo>
                    <a:pt x="318825" y="443121"/>
                  </a:lnTo>
                  <a:lnTo>
                    <a:pt x="373440" y="454858"/>
                  </a:lnTo>
                  <a:lnTo>
                    <a:pt x="431245" y="465272"/>
                  </a:lnTo>
                  <a:lnTo>
                    <a:pt x="491990" y="474287"/>
                  </a:lnTo>
                  <a:lnTo>
                    <a:pt x="555428" y="481829"/>
                  </a:lnTo>
                  <a:lnTo>
                    <a:pt x="621307" y="487825"/>
                  </a:lnTo>
                  <a:lnTo>
                    <a:pt x="689378" y="492200"/>
                  </a:lnTo>
                  <a:lnTo>
                    <a:pt x="759393" y="494879"/>
                  </a:lnTo>
                  <a:lnTo>
                    <a:pt x="831100" y="495788"/>
                  </a:lnTo>
                  <a:lnTo>
                    <a:pt x="902834" y="494879"/>
                  </a:lnTo>
                  <a:lnTo>
                    <a:pt x="972871" y="492200"/>
                  </a:lnTo>
                  <a:lnTo>
                    <a:pt x="1040960" y="487825"/>
                  </a:lnTo>
                  <a:lnTo>
                    <a:pt x="1106852" y="481829"/>
                  </a:lnTo>
                  <a:lnTo>
                    <a:pt x="1170299" y="474287"/>
                  </a:lnTo>
                  <a:lnTo>
                    <a:pt x="1231052" y="465272"/>
                  </a:lnTo>
                  <a:lnTo>
                    <a:pt x="1288860" y="454858"/>
                  </a:lnTo>
                  <a:lnTo>
                    <a:pt x="1343476" y="443121"/>
                  </a:lnTo>
                  <a:lnTo>
                    <a:pt x="1394649" y="430135"/>
                  </a:lnTo>
                  <a:lnTo>
                    <a:pt x="1442131" y="415973"/>
                  </a:lnTo>
                  <a:lnTo>
                    <a:pt x="1485673" y="400711"/>
                  </a:lnTo>
                  <a:lnTo>
                    <a:pt x="1525026" y="384421"/>
                  </a:lnTo>
                  <a:lnTo>
                    <a:pt x="1559939" y="367180"/>
                  </a:lnTo>
                  <a:lnTo>
                    <a:pt x="1615454" y="330137"/>
                  </a:lnTo>
                  <a:lnTo>
                    <a:pt x="1650225" y="290177"/>
                  </a:lnTo>
                  <a:lnTo>
                    <a:pt x="1662258" y="247893"/>
                  </a:lnTo>
                  <a:lnTo>
                    <a:pt x="1659208" y="226514"/>
                  </a:lnTo>
                  <a:lnTo>
                    <a:pt x="1635557" y="185340"/>
                  </a:lnTo>
                  <a:lnTo>
                    <a:pt x="1590165" y="146774"/>
                  </a:lnTo>
                  <a:lnTo>
                    <a:pt x="1525026" y="111414"/>
                  </a:lnTo>
                  <a:lnTo>
                    <a:pt x="1485673" y="95123"/>
                  </a:lnTo>
                  <a:lnTo>
                    <a:pt x="1442131" y="79858"/>
                  </a:lnTo>
                  <a:lnTo>
                    <a:pt x="1394649" y="65692"/>
                  </a:lnTo>
                  <a:lnTo>
                    <a:pt x="1343476" y="52700"/>
                  </a:lnTo>
                  <a:lnTo>
                    <a:pt x="1288860" y="40958"/>
                  </a:lnTo>
                  <a:lnTo>
                    <a:pt x="1231052" y="30539"/>
                  </a:lnTo>
                  <a:lnTo>
                    <a:pt x="1170299" y="21518"/>
                  </a:lnTo>
                  <a:lnTo>
                    <a:pt x="1106852" y="13970"/>
                  </a:lnTo>
                  <a:lnTo>
                    <a:pt x="1040960" y="7970"/>
                  </a:lnTo>
                  <a:lnTo>
                    <a:pt x="972871" y="3592"/>
                  </a:lnTo>
                  <a:lnTo>
                    <a:pt x="902834" y="910"/>
                  </a:lnTo>
                  <a:lnTo>
                    <a:pt x="831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090349" y="1966969"/>
              <a:ext cx="2660015" cy="3966845"/>
            </a:xfrm>
            <a:custGeom>
              <a:avLst/>
              <a:gdLst/>
              <a:ahLst/>
              <a:cxnLst/>
              <a:rect l="l" t="t" r="r" b="b"/>
              <a:pathLst>
                <a:path w="2660015" h="3966845">
                  <a:moveTo>
                    <a:pt x="1994721" y="247894"/>
                  </a:moveTo>
                  <a:lnTo>
                    <a:pt x="1982688" y="205638"/>
                  </a:lnTo>
                  <a:lnTo>
                    <a:pt x="1947917" y="165694"/>
                  </a:lnTo>
                  <a:lnTo>
                    <a:pt x="1892402" y="128657"/>
                  </a:lnTo>
                  <a:lnTo>
                    <a:pt x="1857489" y="111415"/>
                  </a:lnTo>
                  <a:lnTo>
                    <a:pt x="1818136" y="95124"/>
                  </a:lnTo>
                  <a:lnTo>
                    <a:pt x="1774595" y="79858"/>
                  </a:lnTo>
                  <a:lnTo>
                    <a:pt x="1727112" y="65692"/>
                  </a:lnTo>
                  <a:lnTo>
                    <a:pt x="1675939" y="52700"/>
                  </a:lnTo>
                  <a:lnTo>
                    <a:pt x="1621323" y="40958"/>
                  </a:lnTo>
                  <a:lnTo>
                    <a:pt x="1563515" y="30539"/>
                  </a:lnTo>
                  <a:lnTo>
                    <a:pt x="1502763" y="21518"/>
                  </a:lnTo>
                  <a:lnTo>
                    <a:pt x="1439316" y="13970"/>
                  </a:lnTo>
                  <a:lnTo>
                    <a:pt x="1373423" y="7970"/>
                  </a:lnTo>
                  <a:lnTo>
                    <a:pt x="1305334" y="3592"/>
                  </a:lnTo>
                  <a:lnTo>
                    <a:pt x="1235298" y="910"/>
                  </a:lnTo>
                  <a:lnTo>
                    <a:pt x="1163564" y="0"/>
                  </a:lnTo>
                  <a:lnTo>
                    <a:pt x="1091856" y="910"/>
                  </a:lnTo>
                  <a:lnTo>
                    <a:pt x="1021842" y="3592"/>
                  </a:lnTo>
                  <a:lnTo>
                    <a:pt x="953770" y="7970"/>
                  </a:lnTo>
                  <a:lnTo>
                    <a:pt x="887891" y="13970"/>
                  </a:lnTo>
                  <a:lnTo>
                    <a:pt x="824454" y="21518"/>
                  </a:lnTo>
                  <a:lnTo>
                    <a:pt x="763708" y="30539"/>
                  </a:lnTo>
                  <a:lnTo>
                    <a:pt x="705903" y="40958"/>
                  </a:lnTo>
                  <a:lnTo>
                    <a:pt x="651288" y="52700"/>
                  </a:lnTo>
                  <a:lnTo>
                    <a:pt x="600114" y="65692"/>
                  </a:lnTo>
                  <a:lnTo>
                    <a:pt x="552629" y="79858"/>
                  </a:lnTo>
                  <a:lnTo>
                    <a:pt x="509082" y="95124"/>
                  </a:lnTo>
                  <a:lnTo>
                    <a:pt x="469725" y="111415"/>
                  </a:lnTo>
                  <a:lnTo>
                    <a:pt x="434805" y="128657"/>
                  </a:lnTo>
                  <a:lnTo>
                    <a:pt x="379279" y="165694"/>
                  </a:lnTo>
                  <a:lnTo>
                    <a:pt x="344499" y="205638"/>
                  </a:lnTo>
                  <a:lnTo>
                    <a:pt x="332462" y="247894"/>
                  </a:lnTo>
                  <a:lnTo>
                    <a:pt x="335513" y="269289"/>
                  </a:lnTo>
                  <a:lnTo>
                    <a:pt x="359171" y="310485"/>
                  </a:lnTo>
                  <a:lnTo>
                    <a:pt x="404574" y="349061"/>
                  </a:lnTo>
                  <a:lnTo>
                    <a:pt x="469725" y="384422"/>
                  </a:lnTo>
                  <a:lnTo>
                    <a:pt x="509082" y="400711"/>
                  </a:lnTo>
                  <a:lnTo>
                    <a:pt x="552629" y="415973"/>
                  </a:lnTo>
                  <a:lnTo>
                    <a:pt x="600114" y="430135"/>
                  </a:lnTo>
                  <a:lnTo>
                    <a:pt x="651288" y="443122"/>
                  </a:lnTo>
                  <a:lnTo>
                    <a:pt x="705903" y="454858"/>
                  </a:lnTo>
                  <a:lnTo>
                    <a:pt x="763708" y="465272"/>
                  </a:lnTo>
                  <a:lnTo>
                    <a:pt x="824454" y="474286"/>
                  </a:lnTo>
                  <a:lnTo>
                    <a:pt x="887891" y="481829"/>
                  </a:lnTo>
                  <a:lnTo>
                    <a:pt x="953770" y="487825"/>
                  </a:lnTo>
                  <a:lnTo>
                    <a:pt x="1021842" y="492199"/>
                  </a:lnTo>
                  <a:lnTo>
                    <a:pt x="1091856" y="494879"/>
                  </a:lnTo>
                  <a:lnTo>
                    <a:pt x="1163564" y="495788"/>
                  </a:lnTo>
                  <a:lnTo>
                    <a:pt x="1235298" y="494879"/>
                  </a:lnTo>
                  <a:lnTo>
                    <a:pt x="1305334" y="492199"/>
                  </a:lnTo>
                  <a:lnTo>
                    <a:pt x="1373423" y="487825"/>
                  </a:lnTo>
                  <a:lnTo>
                    <a:pt x="1439316" y="481829"/>
                  </a:lnTo>
                  <a:lnTo>
                    <a:pt x="1502763" y="474286"/>
                  </a:lnTo>
                  <a:lnTo>
                    <a:pt x="1563515" y="465272"/>
                  </a:lnTo>
                  <a:lnTo>
                    <a:pt x="1621323" y="454858"/>
                  </a:lnTo>
                  <a:lnTo>
                    <a:pt x="1675939" y="443122"/>
                  </a:lnTo>
                  <a:lnTo>
                    <a:pt x="1727112" y="430135"/>
                  </a:lnTo>
                  <a:lnTo>
                    <a:pt x="1774595" y="415973"/>
                  </a:lnTo>
                  <a:lnTo>
                    <a:pt x="1818136" y="400711"/>
                  </a:lnTo>
                  <a:lnTo>
                    <a:pt x="1857489" y="384422"/>
                  </a:lnTo>
                  <a:lnTo>
                    <a:pt x="1892402" y="367180"/>
                  </a:lnTo>
                  <a:lnTo>
                    <a:pt x="1947917" y="330137"/>
                  </a:lnTo>
                  <a:lnTo>
                    <a:pt x="1982688" y="290177"/>
                  </a:lnTo>
                  <a:lnTo>
                    <a:pt x="1994721" y="247894"/>
                  </a:lnTo>
                  <a:close/>
                </a:path>
                <a:path w="2660015" h="3966845">
                  <a:moveTo>
                    <a:pt x="664925" y="793262"/>
                  </a:moveTo>
                  <a:lnTo>
                    <a:pt x="2327184" y="793262"/>
                  </a:lnTo>
                </a:path>
                <a:path w="2660015" h="3966845">
                  <a:moveTo>
                    <a:pt x="332462" y="1289050"/>
                  </a:moveTo>
                  <a:lnTo>
                    <a:pt x="1994721" y="1289050"/>
                  </a:lnTo>
                </a:path>
                <a:path w="2660015" h="3966845">
                  <a:moveTo>
                    <a:pt x="2327184" y="793262"/>
                  </a:moveTo>
                  <a:lnTo>
                    <a:pt x="1994721" y="1289050"/>
                  </a:lnTo>
                </a:path>
                <a:path w="2660015" h="3966845">
                  <a:moveTo>
                    <a:pt x="664925" y="793262"/>
                  </a:moveTo>
                  <a:lnTo>
                    <a:pt x="332462" y="1289050"/>
                  </a:lnTo>
                </a:path>
                <a:path w="2660015" h="3966845">
                  <a:moveTo>
                    <a:pt x="498694" y="3371418"/>
                  </a:moveTo>
                  <a:lnTo>
                    <a:pt x="2160952" y="3371418"/>
                  </a:lnTo>
                </a:path>
                <a:path w="2660015" h="3966845">
                  <a:moveTo>
                    <a:pt x="498694" y="3966365"/>
                  </a:moveTo>
                  <a:lnTo>
                    <a:pt x="2160952" y="3966365"/>
                  </a:lnTo>
                </a:path>
                <a:path w="2660015" h="3966845">
                  <a:moveTo>
                    <a:pt x="498694" y="3371418"/>
                  </a:moveTo>
                  <a:lnTo>
                    <a:pt x="0" y="3668891"/>
                  </a:lnTo>
                </a:path>
                <a:path w="2660015" h="3966845">
                  <a:moveTo>
                    <a:pt x="0" y="3668891"/>
                  </a:moveTo>
                  <a:lnTo>
                    <a:pt x="498694" y="3966365"/>
                  </a:lnTo>
                </a:path>
                <a:path w="2660015" h="3966845">
                  <a:moveTo>
                    <a:pt x="2160952" y="3371418"/>
                  </a:moveTo>
                  <a:lnTo>
                    <a:pt x="2219105" y="3373419"/>
                  </a:lnTo>
                  <a:lnTo>
                    <a:pt x="2275288" y="3379274"/>
                  </a:lnTo>
                  <a:lnTo>
                    <a:pt x="2329129" y="3388760"/>
                  </a:lnTo>
                  <a:lnTo>
                    <a:pt x="2380252" y="3401653"/>
                  </a:lnTo>
                  <a:lnTo>
                    <a:pt x="2428283" y="3417730"/>
                  </a:lnTo>
                  <a:lnTo>
                    <a:pt x="2472847" y="3436769"/>
                  </a:lnTo>
                  <a:lnTo>
                    <a:pt x="2513571" y="3458545"/>
                  </a:lnTo>
                  <a:lnTo>
                    <a:pt x="2550079" y="3482836"/>
                  </a:lnTo>
                  <a:lnTo>
                    <a:pt x="2581998" y="3509418"/>
                  </a:lnTo>
                  <a:lnTo>
                    <a:pt x="2608953" y="3538069"/>
                  </a:lnTo>
                  <a:lnTo>
                    <a:pt x="2646474" y="3600682"/>
                  </a:lnTo>
                  <a:lnTo>
                    <a:pt x="2656291" y="3634199"/>
                  </a:lnTo>
                  <a:lnTo>
                    <a:pt x="2659646" y="3668891"/>
                  </a:lnTo>
                </a:path>
                <a:path w="2660015" h="3966845">
                  <a:moveTo>
                    <a:pt x="2160952" y="3966365"/>
                  </a:moveTo>
                  <a:lnTo>
                    <a:pt x="2219105" y="3964363"/>
                  </a:lnTo>
                  <a:lnTo>
                    <a:pt x="2275288" y="3958508"/>
                  </a:lnTo>
                  <a:lnTo>
                    <a:pt x="2329129" y="3949023"/>
                  </a:lnTo>
                  <a:lnTo>
                    <a:pt x="2380252" y="3936130"/>
                  </a:lnTo>
                  <a:lnTo>
                    <a:pt x="2428283" y="3920052"/>
                  </a:lnTo>
                  <a:lnTo>
                    <a:pt x="2472847" y="3901014"/>
                  </a:lnTo>
                  <a:lnTo>
                    <a:pt x="2513571" y="3879238"/>
                  </a:lnTo>
                  <a:lnTo>
                    <a:pt x="2550079" y="3854947"/>
                  </a:lnTo>
                  <a:lnTo>
                    <a:pt x="2581998" y="3828365"/>
                  </a:lnTo>
                  <a:lnTo>
                    <a:pt x="2608953" y="3799714"/>
                  </a:lnTo>
                  <a:lnTo>
                    <a:pt x="2646474" y="3737100"/>
                  </a:lnTo>
                  <a:lnTo>
                    <a:pt x="2656291" y="3703584"/>
                  </a:lnTo>
                  <a:lnTo>
                    <a:pt x="2659646" y="3668891"/>
                  </a:lnTo>
                </a:path>
                <a:path w="2660015" h="3966845">
                  <a:moveTo>
                    <a:pt x="332462" y="1586524"/>
                  </a:moveTo>
                  <a:lnTo>
                    <a:pt x="332462" y="2082312"/>
                  </a:lnTo>
                </a:path>
                <a:path w="2660015" h="3966845">
                  <a:moveTo>
                    <a:pt x="1994721" y="1586524"/>
                  </a:moveTo>
                  <a:lnTo>
                    <a:pt x="1994721" y="2082312"/>
                  </a:lnTo>
                </a:path>
                <a:path w="2660015" h="3966845">
                  <a:moveTo>
                    <a:pt x="332462" y="1586524"/>
                  </a:moveTo>
                  <a:lnTo>
                    <a:pt x="1994721" y="1586524"/>
                  </a:lnTo>
                </a:path>
                <a:path w="2660015" h="3966845">
                  <a:moveTo>
                    <a:pt x="332462" y="2082312"/>
                  </a:moveTo>
                  <a:lnTo>
                    <a:pt x="1994721" y="2082312"/>
                  </a:lnTo>
                </a:path>
              </a:pathLst>
            </a:custGeom>
            <a:ln w="106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060184" y="2134513"/>
            <a:ext cx="481330" cy="184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335">
                <a:latin typeface="Arial MT"/>
                <a:cs typeface="Arial MT"/>
              </a:rPr>
              <a:t>Oval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103034" y="2853407"/>
            <a:ext cx="1393190" cy="184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315">
                <a:latin typeface="Arial MT"/>
                <a:cs typeface="Arial MT"/>
              </a:rPr>
              <a:t>Parallelogram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079932" y="3646669"/>
            <a:ext cx="1023619" cy="184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330">
                <a:latin typeface="Arial MT"/>
                <a:cs typeface="Arial MT"/>
              </a:rPr>
              <a:t>Rectangle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052336" y="4489510"/>
            <a:ext cx="912494" cy="184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380">
                <a:latin typeface="Arial MT"/>
                <a:cs typeface="Arial MT"/>
              </a:rPr>
              <a:t>Diamond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2085557" y="4242806"/>
            <a:ext cx="2332355" cy="2123440"/>
            <a:chOff x="2085557" y="4242806"/>
            <a:chExt cx="2332355" cy="2123440"/>
          </a:xfrm>
        </p:grpSpPr>
        <p:sp>
          <p:nvSpPr>
            <p:cNvPr id="13" name="object 13" descr=""/>
            <p:cNvSpPr/>
            <p:nvPr/>
          </p:nvSpPr>
          <p:spPr>
            <a:xfrm>
              <a:off x="2090349" y="4247598"/>
              <a:ext cx="2162810" cy="2082800"/>
            </a:xfrm>
            <a:custGeom>
              <a:avLst/>
              <a:gdLst/>
              <a:ahLst/>
              <a:cxnLst/>
              <a:rect l="l" t="t" r="r" b="b"/>
              <a:pathLst>
                <a:path w="2162810" h="2082800">
                  <a:moveTo>
                    <a:pt x="997332" y="0"/>
                  </a:moveTo>
                  <a:lnTo>
                    <a:pt x="0" y="396631"/>
                  </a:lnTo>
                </a:path>
                <a:path w="2162810" h="2082800">
                  <a:moveTo>
                    <a:pt x="997332" y="0"/>
                  </a:moveTo>
                  <a:lnTo>
                    <a:pt x="1994721" y="396631"/>
                  </a:lnTo>
                </a:path>
                <a:path w="2162810" h="2082800">
                  <a:moveTo>
                    <a:pt x="997332" y="793262"/>
                  </a:moveTo>
                  <a:lnTo>
                    <a:pt x="1994721" y="396631"/>
                  </a:lnTo>
                </a:path>
                <a:path w="2162810" h="2082800">
                  <a:moveTo>
                    <a:pt x="0" y="396631"/>
                  </a:moveTo>
                  <a:lnTo>
                    <a:pt x="997332" y="793262"/>
                  </a:lnTo>
                </a:path>
                <a:path w="2162810" h="2082800">
                  <a:moveTo>
                    <a:pt x="166231" y="2082366"/>
                  </a:moveTo>
                  <a:lnTo>
                    <a:pt x="2162615" y="2082366"/>
                  </a:lnTo>
                </a:path>
              </a:pathLst>
            </a:custGeom>
            <a:ln w="106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238005" y="6294269"/>
              <a:ext cx="179705" cy="71755"/>
            </a:xfrm>
            <a:custGeom>
              <a:avLst/>
              <a:gdLst/>
              <a:ahLst/>
              <a:cxnLst/>
              <a:rect l="l" t="t" r="r" b="b"/>
              <a:pathLst>
                <a:path w="179704" h="71754">
                  <a:moveTo>
                    <a:pt x="0" y="0"/>
                  </a:moveTo>
                  <a:lnTo>
                    <a:pt x="0" y="71392"/>
                  </a:lnTo>
                  <a:lnTo>
                    <a:pt x="179529" y="356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1050930" y="5456243"/>
            <a:ext cx="666115" cy="184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320">
                <a:latin typeface="Arial MT"/>
                <a:cs typeface="Arial MT"/>
              </a:rPr>
              <a:t>Hybrid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069330" y="1613935"/>
            <a:ext cx="629285" cy="184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445" b="1">
                <a:latin typeface="Arial"/>
                <a:cs typeface="Arial"/>
              </a:rPr>
              <a:t>Name</a:t>
            </a:r>
            <a:endParaRPr sz="105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757887" y="1613935"/>
            <a:ext cx="826135" cy="184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405" b="1">
                <a:latin typeface="Arial"/>
                <a:cs typeface="Arial"/>
              </a:rPr>
              <a:t>Symbol</a:t>
            </a:r>
            <a:endParaRPr sz="105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055722" y="1613935"/>
            <a:ext cx="1798955" cy="184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415" b="1">
                <a:latin typeface="Arial"/>
                <a:cs typeface="Arial"/>
              </a:rPr>
              <a:t>Use</a:t>
            </a:r>
            <a:r>
              <a:rPr dirty="0" sz="1050" spc="190" b="1">
                <a:latin typeface="Arial"/>
                <a:cs typeface="Arial"/>
              </a:rPr>
              <a:t> </a:t>
            </a:r>
            <a:r>
              <a:rPr dirty="0" sz="1050" spc="310" b="1">
                <a:latin typeface="Arial"/>
                <a:cs typeface="Arial"/>
              </a:rPr>
              <a:t>in</a:t>
            </a:r>
            <a:r>
              <a:rPr dirty="0" sz="1050" spc="195" b="1">
                <a:latin typeface="Arial"/>
                <a:cs typeface="Arial"/>
              </a:rPr>
              <a:t> </a:t>
            </a:r>
            <a:r>
              <a:rPr dirty="0" sz="1050" spc="350" b="1">
                <a:latin typeface="Arial"/>
                <a:cs typeface="Arial"/>
              </a:rPr>
              <a:t>Flowchart</a:t>
            </a:r>
            <a:endParaRPr sz="105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066804" y="2084934"/>
            <a:ext cx="4436745" cy="184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365">
                <a:latin typeface="Arial MT"/>
                <a:cs typeface="Arial MT"/>
              </a:rPr>
              <a:t>Denotes</a:t>
            </a:r>
            <a:r>
              <a:rPr dirty="0" sz="1050" spc="190">
                <a:latin typeface="Arial MT"/>
                <a:cs typeface="Arial MT"/>
              </a:rPr>
              <a:t> </a:t>
            </a:r>
            <a:r>
              <a:rPr dirty="0" sz="1050" spc="315">
                <a:latin typeface="Arial MT"/>
                <a:cs typeface="Arial MT"/>
              </a:rPr>
              <a:t>the</a:t>
            </a:r>
            <a:r>
              <a:rPr dirty="0" sz="1050" spc="195">
                <a:latin typeface="Arial MT"/>
                <a:cs typeface="Arial MT"/>
              </a:rPr>
              <a:t> </a:t>
            </a:r>
            <a:r>
              <a:rPr dirty="0" sz="1050" spc="330">
                <a:latin typeface="Arial MT"/>
                <a:cs typeface="Arial MT"/>
              </a:rPr>
              <a:t>beginning</a:t>
            </a:r>
            <a:r>
              <a:rPr dirty="0" sz="1050" spc="190">
                <a:latin typeface="Arial MT"/>
                <a:cs typeface="Arial MT"/>
              </a:rPr>
              <a:t> </a:t>
            </a:r>
            <a:r>
              <a:rPr dirty="0" sz="1050" spc="305">
                <a:latin typeface="Arial MT"/>
                <a:cs typeface="Arial MT"/>
              </a:rPr>
              <a:t>or</a:t>
            </a:r>
            <a:r>
              <a:rPr dirty="0" sz="1050" spc="195">
                <a:latin typeface="Arial MT"/>
                <a:cs typeface="Arial MT"/>
              </a:rPr>
              <a:t> </a:t>
            </a:r>
            <a:r>
              <a:rPr dirty="0" sz="1050" spc="380">
                <a:latin typeface="Arial MT"/>
                <a:cs typeface="Arial MT"/>
              </a:rPr>
              <a:t>end</a:t>
            </a:r>
            <a:r>
              <a:rPr dirty="0" sz="1050" spc="195">
                <a:latin typeface="Arial MT"/>
                <a:cs typeface="Arial MT"/>
              </a:rPr>
              <a:t> </a:t>
            </a:r>
            <a:r>
              <a:rPr dirty="0" sz="1050" spc="285">
                <a:latin typeface="Arial MT"/>
                <a:cs typeface="Arial MT"/>
              </a:rPr>
              <a:t>of</a:t>
            </a:r>
            <a:r>
              <a:rPr dirty="0" sz="1050" spc="190">
                <a:latin typeface="Arial MT"/>
                <a:cs typeface="Arial MT"/>
              </a:rPr>
              <a:t> </a:t>
            </a:r>
            <a:r>
              <a:rPr dirty="0" sz="1050" spc="315">
                <a:latin typeface="Arial MT"/>
                <a:cs typeface="Arial MT"/>
              </a:rPr>
              <a:t>the</a:t>
            </a:r>
            <a:r>
              <a:rPr dirty="0" sz="1050" spc="195">
                <a:latin typeface="Arial MT"/>
                <a:cs typeface="Arial MT"/>
              </a:rPr>
              <a:t> </a:t>
            </a:r>
            <a:r>
              <a:rPr dirty="0" sz="1050" spc="355">
                <a:latin typeface="Arial MT"/>
                <a:cs typeface="Arial MT"/>
              </a:rPr>
              <a:t>program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068835" y="2853407"/>
            <a:ext cx="2687320" cy="184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365">
                <a:latin typeface="Arial MT"/>
                <a:cs typeface="Arial MT"/>
              </a:rPr>
              <a:t>Denotes</a:t>
            </a:r>
            <a:r>
              <a:rPr dirty="0" sz="1050" spc="190">
                <a:latin typeface="Arial MT"/>
                <a:cs typeface="Arial MT"/>
              </a:rPr>
              <a:t> </a:t>
            </a:r>
            <a:r>
              <a:rPr dirty="0" sz="1050" spc="380">
                <a:latin typeface="Arial MT"/>
                <a:cs typeface="Arial MT"/>
              </a:rPr>
              <a:t>an</a:t>
            </a:r>
            <a:r>
              <a:rPr dirty="0" sz="1050" spc="195">
                <a:latin typeface="Arial MT"/>
                <a:cs typeface="Arial MT"/>
              </a:rPr>
              <a:t> </a:t>
            </a:r>
            <a:r>
              <a:rPr dirty="0" sz="1050" spc="295">
                <a:latin typeface="Arial MT"/>
                <a:cs typeface="Arial MT"/>
              </a:rPr>
              <a:t>input</a:t>
            </a:r>
            <a:r>
              <a:rPr dirty="0" sz="1050" spc="195">
                <a:latin typeface="Arial MT"/>
                <a:cs typeface="Arial MT"/>
              </a:rPr>
              <a:t> </a:t>
            </a:r>
            <a:r>
              <a:rPr dirty="0" sz="1050" spc="305">
                <a:latin typeface="Arial MT"/>
                <a:cs typeface="Arial MT"/>
              </a:rPr>
              <a:t>operation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084166" y="5481032"/>
            <a:ext cx="2823210" cy="184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365">
                <a:latin typeface="Arial MT"/>
                <a:cs typeface="Arial MT"/>
              </a:rPr>
              <a:t>Denotes</a:t>
            </a:r>
            <a:r>
              <a:rPr dirty="0" sz="1050" spc="195">
                <a:latin typeface="Arial MT"/>
                <a:cs typeface="Arial MT"/>
              </a:rPr>
              <a:t> </a:t>
            </a:r>
            <a:r>
              <a:rPr dirty="0" sz="1050" spc="380">
                <a:latin typeface="Arial MT"/>
                <a:cs typeface="Arial MT"/>
              </a:rPr>
              <a:t>an</a:t>
            </a:r>
            <a:r>
              <a:rPr dirty="0" sz="1050" spc="200">
                <a:latin typeface="Arial MT"/>
                <a:cs typeface="Arial MT"/>
              </a:rPr>
              <a:t> </a:t>
            </a:r>
            <a:r>
              <a:rPr dirty="0" sz="1050" spc="315">
                <a:latin typeface="Arial MT"/>
                <a:cs typeface="Arial MT"/>
              </a:rPr>
              <a:t>output</a:t>
            </a:r>
            <a:r>
              <a:rPr dirty="0" sz="1050" spc="200">
                <a:latin typeface="Arial MT"/>
                <a:cs typeface="Arial MT"/>
              </a:rPr>
              <a:t> </a:t>
            </a:r>
            <a:r>
              <a:rPr dirty="0" sz="1050" spc="305">
                <a:latin typeface="Arial MT"/>
                <a:cs typeface="Arial MT"/>
              </a:rPr>
              <a:t>operation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5060524" y="4430016"/>
            <a:ext cx="4288790" cy="5016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 marR="5080">
              <a:lnSpc>
                <a:spcPts val="1250"/>
              </a:lnSpc>
              <a:spcBef>
                <a:spcPts val="140"/>
              </a:spcBef>
            </a:pPr>
            <a:r>
              <a:rPr dirty="0" sz="1050" spc="365">
                <a:latin typeface="Arial MT"/>
                <a:cs typeface="Arial MT"/>
              </a:rPr>
              <a:t>Denotes</a:t>
            </a:r>
            <a:r>
              <a:rPr dirty="0" sz="1050" spc="190">
                <a:latin typeface="Arial MT"/>
                <a:cs typeface="Arial MT"/>
              </a:rPr>
              <a:t> </a:t>
            </a:r>
            <a:r>
              <a:rPr dirty="0" sz="1050" spc="380">
                <a:latin typeface="Arial MT"/>
                <a:cs typeface="Arial MT"/>
              </a:rPr>
              <a:t>a</a:t>
            </a:r>
            <a:r>
              <a:rPr dirty="0" sz="1050" spc="195">
                <a:latin typeface="Arial MT"/>
                <a:cs typeface="Arial MT"/>
              </a:rPr>
              <a:t> </a:t>
            </a:r>
            <a:r>
              <a:rPr dirty="0" sz="1050" spc="315">
                <a:latin typeface="Arial MT"/>
                <a:cs typeface="Arial MT"/>
              </a:rPr>
              <a:t>decision</a:t>
            </a:r>
            <a:r>
              <a:rPr dirty="0" sz="1050" spc="190">
                <a:latin typeface="Arial MT"/>
                <a:cs typeface="Arial MT"/>
              </a:rPr>
              <a:t> </a:t>
            </a:r>
            <a:r>
              <a:rPr dirty="0" sz="1050" spc="280">
                <a:latin typeface="Arial MT"/>
                <a:cs typeface="Arial MT"/>
              </a:rPr>
              <a:t>(or</a:t>
            </a:r>
            <a:r>
              <a:rPr dirty="0" sz="1050" spc="195">
                <a:latin typeface="Arial MT"/>
                <a:cs typeface="Arial MT"/>
              </a:rPr>
              <a:t> </a:t>
            </a:r>
            <a:r>
              <a:rPr dirty="0" sz="1050" spc="330">
                <a:latin typeface="Arial MT"/>
                <a:cs typeface="Arial MT"/>
              </a:rPr>
              <a:t>branch)</a:t>
            </a:r>
            <a:r>
              <a:rPr dirty="0" sz="1050" spc="190">
                <a:latin typeface="Arial MT"/>
                <a:cs typeface="Arial MT"/>
              </a:rPr>
              <a:t> </a:t>
            </a:r>
            <a:r>
              <a:rPr dirty="0" sz="1050" spc="285">
                <a:latin typeface="Arial MT"/>
                <a:cs typeface="Arial MT"/>
              </a:rPr>
              <a:t>to</a:t>
            </a:r>
            <a:r>
              <a:rPr dirty="0" sz="1050" spc="195">
                <a:latin typeface="Arial MT"/>
                <a:cs typeface="Arial MT"/>
              </a:rPr>
              <a:t> </a:t>
            </a:r>
            <a:r>
              <a:rPr dirty="0" sz="1050" spc="380">
                <a:latin typeface="Arial MT"/>
                <a:cs typeface="Arial MT"/>
              </a:rPr>
              <a:t>be</a:t>
            </a:r>
            <a:r>
              <a:rPr dirty="0" sz="1050" spc="190">
                <a:latin typeface="Arial MT"/>
                <a:cs typeface="Arial MT"/>
              </a:rPr>
              <a:t> </a:t>
            </a:r>
            <a:r>
              <a:rPr dirty="0" sz="1050" spc="370">
                <a:latin typeface="Arial MT"/>
                <a:cs typeface="Arial MT"/>
              </a:rPr>
              <a:t>made. </a:t>
            </a:r>
            <a:r>
              <a:rPr dirty="0" sz="1050" spc="395">
                <a:latin typeface="Arial MT"/>
                <a:cs typeface="Arial MT"/>
              </a:rPr>
              <a:t>The</a:t>
            </a:r>
            <a:r>
              <a:rPr dirty="0" sz="1050" spc="190">
                <a:latin typeface="Arial MT"/>
                <a:cs typeface="Arial MT"/>
              </a:rPr>
              <a:t> </a:t>
            </a:r>
            <a:r>
              <a:rPr dirty="0" sz="1050" spc="365">
                <a:latin typeface="Arial MT"/>
                <a:cs typeface="Arial MT"/>
              </a:rPr>
              <a:t>program</a:t>
            </a:r>
            <a:r>
              <a:rPr dirty="0" sz="1050" spc="190">
                <a:latin typeface="Arial MT"/>
                <a:cs typeface="Arial MT"/>
              </a:rPr>
              <a:t> </a:t>
            </a:r>
            <a:r>
              <a:rPr dirty="0" sz="1050" spc="335">
                <a:latin typeface="Arial MT"/>
                <a:cs typeface="Arial MT"/>
              </a:rPr>
              <a:t>should</a:t>
            </a:r>
            <a:r>
              <a:rPr dirty="0" sz="1050" spc="195">
                <a:latin typeface="Arial MT"/>
                <a:cs typeface="Arial MT"/>
              </a:rPr>
              <a:t> </a:t>
            </a:r>
            <a:r>
              <a:rPr dirty="0" sz="1050" spc="325">
                <a:latin typeface="Arial MT"/>
                <a:cs typeface="Arial MT"/>
              </a:rPr>
              <a:t>continue</a:t>
            </a:r>
            <a:r>
              <a:rPr dirty="0" sz="1050" spc="190">
                <a:latin typeface="Arial MT"/>
                <a:cs typeface="Arial MT"/>
              </a:rPr>
              <a:t> </a:t>
            </a:r>
            <a:r>
              <a:rPr dirty="0" sz="1050" spc="335">
                <a:latin typeface="Arial MT"/>
                <a:cs typeface="Arial MT"/>
              </a:rPr>
              <a:t>along</a:t>
            </a:r>
            <a:r>
              <a:rPr dirty="0" sz="1050" spc="190">
                <a:latin typeface="Arial MT"/>
                <a:cs typeface="Arial MT"/>
              </a:rPr>
              <a:t> </a:t>
            </a:r>
            <a:r>
              <a:rPr dirty="0" sz="1050" spc="380">
                <a:latin typeface="Arial MT"/>
                <a:cs typeface="Arial MT"/>
              </a:rPr>
              <a:t>one</a:t>
            </a:r>
            <a:r>
              <a:rPr dirty="0" sz="1050" spc="195">
                <a:latin typeface="Arial MT"/>
                <a:cs typeface="Arial MT"/>
              </a:rPr>
              <a:t> </a:t>
            </a:r>
            <a:r>
              <a:rPr dirty="0" sz="1050" spc="260">
                <a:latin typeface="Arial MT"/>
                <a:cs typeface="Arial MT"/>
              </a:rPr>
              <a:t>of </a:t>
            </a:r>
            <a:r>
              <a:rPr dirty="0" sz="1050" spc="355">
                <a:latin typeface="Arial MT"/>
                <a:cs typeface="Arial MT"/>
              </a:rPr>
              <a:t>two</a:t>
            </a:r>
            <a:r>
              <a:rPr dirty="0" sz="1050" spc="190">
                <a:latin typeface="Arial MT"/>
                <a:cs typeface="Arial MT"/>
              </a:rPr>
              <a:t> </a:t>
            </a:r>
            <a:r>
              <a:rPr dirty="0" sz="1050" spc="300">
                <a:latin typeface="Arial MT"/>
                <a:cs typeface="Arial MT"/>
              </a:rPr>
              <a:t>routes.</a:t>
            </a:r>
            <a:r>
              <a:rPr dirty="0" sz="1050" spc="195">
                <a:latin typeface="Arial MT"/>
                <a:cs typeface="Arial MT"/>
              </a:rPr>
              <a:t> </a:t>
            </a:r>
            <a:r>
              <a:rPr dirty="0" sz="1050" spc="275">
                <a:latin typeface="Arial MT"/>
                <a:cs typeface="Arial MT"/>
              </a:rPr>
              <a:t>(e.g.</a:t>
            </a:r>
            <a:r>
              <a:rPr dirty="0" sz="1050" spc="190">
                <a:latin typeface="Arial MT"/>
                <a:cs typeface="Arial MT"/>
              </a:rPr>
              <a:t> </a:t>
            </a:r>
            <a:r>
              <a:rPr dirty="0" sz="1050" spc="365">
                <a:latin typeface="Arial MT"/>
                <a:cs typeface="Arial MT"/>
              </a:rPr>
              <a:t>IF/THEN/ELSE)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5060524" y="3592022"/>
            <a:ext cx="3721735" cy="3429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1255"/>
              </a:lnSpc>
              <a:spcBef>
                <a:spcPts val="90"/>
              </a:spcBef>
            </a:pPr>
            <a:r>
              <a:rPr dirty="0" sz="1050" spc="365">
                <a:latin typeface="Arial MT"/>
                <a:cs typeface="Arial MT"/>
              </a:rPr>
              <a:t>Denotes</a:t>
            </a:r>
            <a:r>
              <a:rPr dirty="0" sz="1050" spc="185">
                <a:latin typeface="Arial MT"/>
                <a:cs typeface="Arial MT"/>
              </a:rPr>
              <a:t> </a:t>
            </a:r>
            <a:r>
              <a:rPr dirty="0" sz="1050" spc="380">
                <a:latin typeface="Arial MT"/>
                <a:cs typeface="Arial MT"/>
              </a:rPr>
              <a:t>a</a:t>
            </a:r>
            <a:r>
              <a:rPr dirty="0" sz="1050" spc="190">
                <a:latin typeface="Arial MT"/>
                <a:cs typeface="Arial MT"/>
              </a:rPr>
              <a:t> </a:t>
            </a:r>
            <a:r>
              <a:rPr dirty="0" sz="1050" spc="345">
                <a:latin typeface="Arial MT"/>
                <a:cs typeface="Arial MT"/>
              </a:rPr>
              <a:t>process</a:t>
            </a:r>
            <a:r>
              <a:rPr dirty="0" sz="1050" spc="190">
                <a:latin typeface="Arial MT"/>
                <a:cs typeface="Arial MT"/>
              </a:rPr>
              <a:t> </a:t>
            </a:r>
            <a:r>
              <a:rPr dirty="0" sz="1050" spc="285">
                <a:latin typeface="Arial MT"/>
                <a:cs typeface="Arial MT"/>
              </a:rPr>
              <a:t>to</a:t>
            </a:r>
            <a:r>
              <a:rPr dirty="0" sz="1050" spc="190">
                <a:latin typeface="Arial MT"/>
                <a:cs typeface="Arial MT"/>
              </a:rPr>
              <a:t> </a:t>
            </a:r>
            <a:r>
              <a:rPr dirty="0" sz="1050" spc="380">
                <a:latin typeface="Arial MT"/>
                <a:cs typeface="Arial MT"/>
              </a:rPr>
              <a:t>be</a:t>
            </a:r>
            <a:r>
              <a:rPr dirty="0" sz="1050" spc="190">
                <a:latin typeface="Arial MT"/>
                <a:cs typeface="Arial MT"/>
              </a:rPr>
              <a:t> </a:t>
            </a:r>
            <a:r>
              <a:rPr dirty="0" sz="1050" spc="300">
                <a:latin typeface="Arial MT"/>
                <a:cs typeface="Arial MT"/>
              </a:rPr>
              <a:t>carried</a:t>
            </a:r>
            <a:r>
              <a:rPr dirty="0" sz="1050" spc="190">
                <a:latin typeface="Arial MT"/>
                <a:cs typeface="Arial MT"/>
              </a:rPr>
              <a:t> </a:t>
            </a:r>
            <a:r>
              <a:rPr dirty="0" sz="1050" spc="290">
                <a:latin typeface="Arial MT"/>
                <a:cs typeface="Arial MT"/>
              </a:rPr>
              <a:t>out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ts val="1255"/>
              </a:lnSpc>
            </a:pPr>
            <a:r>
              <a:rPr dirty="0" sz="1050" spc="285">
                <a:latin typeface="Arial MT"/>
                <a:cs typeface="Arial MT"/>
              </a:rPr>
              <a:t>e.g.</a:t>
            </a:r>
            <a:r>
              <a:rPr dirty="0" sz="1050" spc="204">
                <a:latin typeface="Arial MT"/>
                <a:cs typeface="Arial MT"/>
              </a:rPr>
              <a:t> </a:t>
            </a:r>
            <a:r>
              <a:rPr dirty="0" sz="1050" spc="285">
                <a:latin typeface="Arial MT"/>
                <a:cs typeface="Arial MT"/>
              </a:rPr>
              <a:t>addition,</a:t>
            </a:r>
            <a:r>
              <a:rPr dirty="0" sz="1050" spc="204">
                <a:latin typeface="Arial MT"/>
                <a:cs typeface="Arial MT"/>
              </a:rPr>
              <a:t> </a:t>
            </a:r>
            <a:r>
              <a:rPr dirty="0" sz="1050" spc="295">
                <a:latin typeface="Arial MT"/>
                <a:cs typeface="Arial MT"/>
              </a:rPr>
              <a:t>subtraction,</a:t>
            </a:r>
            <a:r>
              <a:rPr dirty="0" sz="1050" spc="204">
                <a:latin typeface="Arial MT"/>
                <a:cs typeface="Arial MT"/>
              </a:rPr>
              <a:t> </a:t>
            </a:r>
            <a:r>
              <a:rPr dirty="0" sz="1050" spc="285">
                <a:latin typeface="Arial MT"/>
                <a:cs typeface="Arial MT"/>
              </a:rPr>
              <a:t>division</a:t>
            </a:r>
            <a:r>
              <a:rPr dirty="0" sz="1050" spc="204">
                <a:latin typeface="Arial MT"/>
                <a:cs typeface="Arial MT"/>
              </a:rPr>
              <a:t> </a:t>
            </a:r>
            <a:r>
              <a:rPr dirty="0" sz="1050" spc="254">
                <a:latin typeface="Arial MT"/>
                <a:cs typeface="Arial MT"/>
              </a:rPr>
              <a:t>etc.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100118" y="6224717"/>
            <a:ext cx="900430" cy="184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360">
                <a:latin typeface="Arial MT"/>
                <a:cs typeface="Arial MT"/>
              </a:rPr>
              <a:t>Flow</a:t>
            </a:r>
            <a:r>
              <a:rPr dirty="0" sz="1050" spc="195">
                <a:latin typeface="Arial MT"/>
                <a:cs typeface="Arial MT"/>
              </a:rPr>
              <a:t> </a:t>
            </a:r>
            <a:r>
              <a:rPr dirty="0" sz="1050" spc="245">
                <a:latin typeface="Arial MT"/>
                <a:cs typeface="Arial MT"/>
              </a:rPr>
              <a:t>line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5077701" y="6175137"/>
            <a:ext cx="4830445" cy="184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365">
                <a:latin typeface="Arial MT"/>
                <a:cs typeface="Arial MT"/>
              </a:rPr>
              <a:t>Denotes</a:t>
            </a:r>
            <a:r>
              <a:rPr dirty="0" sz="1050" spc="195">
                <a:latin typeface="Arial MT"/>
                <a:cs typeface="Arial MT"/>
              </a:rPr>
              <a:t> </a:t>
            </a:r>
            <a:r>
              <a:rPr dirty="0" sz="1050" spc="315">
                <a:latin typeface="Arial MT"/>
                <a:cs typeface="Arial MT"/>
              </a:rPr>
              <a:t>the</a:t>
            </a:r>
            <a:r>
              <a:rPr dirty="0" sz="1050" spc="195">
                <a:latin typeface="Arial MT"/>
                <a:cs typeface="Arial MT"/>
              </a:rPr>
              <a:t> </a:t>
            </a:r>
            <a:r>
              <a:rPr dirty="0" sz="1050" spc="285">
                <a:latin typeface="Arial MT"/>
                <a:cs typeface="Arial MT"/>
              </a:rPr>
              <a:t>direction</a:t>
            </a:r>
            <a:r>
              <a:rPr dirty="0" sz="1050" spc="200">
                <a:latin typeface="Arial MT"/>
                <a:cs typeface="Arial MT"/>
              </a:rPr>
              <a:t> </a:t>
            </a:r>
            <a:r>
              <a:rPr dirty="0" sz="1050" spc="285">
                <a:latin typeface="Arial MT"/>
                <a:cs typeface="Arial MT"/>
              </a:rPr>
              <a:t>of</a:t>
            </a:r>
            <a:r>
              <a:rPr dirty="0" sz="1050" spc="195">
                <a:latin typeface="Arial MT"/>
                <a:cs typeface="Arial MT"/>
              </a:rPr>
              <a:t> </a:t>
            </a:r>
            <a:r>
              <a:rPr dirty="0" sz="1050" spc="280">
                <a:latin typeface="Arial MT"/>
                <a:cs typeface="Arial MT"/>
              </a:rPr>
              <a:t>logic</a:t>
            </a:r>
            <a:r>
              <a:rPr dirty="0" sz="1050" spc="195">
                <a:latin typeface="Arial MT"/>
                <a:cs typeface="Arial MT"/>
              </a:rPr>
              <a:t> </a:t>
            </a:r>
            <a:r>
              <a:rPr dirty="0" sz="1050" spc="305">
                <a:latin typeface="Arial MT"/>
                <a:cs typeface="Arial MT"/>
              </a:rPr>
              <a:t>flow</a:t>
            </a:r>
            <a:r>
              <a:rPr dirty="0" sz="1050" spc="200">
                <a:latin typeface="Arial MT"/>
                <a:cs typeface="Arial MT"/>
              </a:rPr>
              <a:t> </a:t>
            </a:r>
            <a:r>
              <a:rPr dirty="0" sz="1050" spc="265">
                <a:latin typeface="Arial MT"/>
                <a:cs typeface="Arial MT"/>
              </a:rPr>
              <a:t>in</a:t>
            </a:r>
            <a:r>
              <a:rPr dirty="0" sz="1050" spc="195">
                <a:latin typeface="Arial MT"/>
                <a:cs typeface="Arial MT"/>
              </a:rPr>
              <a:t> </a:t>
            </a:r>
            <a:r>
              <a:rPr dirty="0" sz="1050" spc="315">
                <a:latin typeface="Arial MT"/>
                <a:cs typeface="Arial MT"/>
              </a:rPr>
              <a:t>the</a:t>
            </a:r>
            <a:r>
              <a:rPr dirty="0" sz="1050" spc="195">
                <a:latin typeface="Arial MT"/>
                <a:cs typeface="Arial MT"/>
              </a:rPr>
              <a:t> </a:t>
            </a:r>
            <a:r>
              <a:rPr dirty="0" sz="1050" spc="355">
                <a:latin typeface="Arial MT"/>
                <a:cs typeface="Arial MT"/>
              </a:rPr>
              <a:t>program</a:t>
            </a:r>
            <a:endParaRPr sz="1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59776" y="851220"/>
            <a:ext cx="1931035" cy="5842000"/>
            <a:chOff x="559776" y="851220"/>
            <a:chExt cx="1931035" cy="5842000"/>
          </a:xfrm>
        </p:grpSpPr>
        <p:sp>
          <p:nvSpPr>
            <p:cNvPr id="3" name="object 3" descr=""/>
            <p:cNvSpPr/>
            <p:nvPr/>
          </p:nvSpPr>
          <p:spPr>
            <a:xfrm>
              <a:off x="671830" y="5014678"/>
              <a:ext cx="1814830" cy="504825"/>
            </a:xfrm>
            <a:custGeom>
              <a:avLst/>
              <a:gdLst/>
              <a:ahLst/>
              <a:cxnLst/>
              <a:rect l="l" t="t" r="r" b="b"/>
              <a:pathLst>
                <a:path w="1814830" h="504825">
                  <a:moveTo>
                    <a:pt x="1511998" y="0"/>
                  </a:moveTo>
                  <a:lnTo>
                    <a:pt x="302399" y="0"/>
                  </a:lnTo>
                  <a:lnTo>
                    <a:pt x="0" y="252206"/>
                  </a:lnTo>
                  <a:lnTo>
                    <a:pt x="302399" y="504412"/>
                  </a:lnTo>
                  <a:lnTo>
                    <a:pt x="1511998" y="504412"/>
                  </a:lnTo>
                  <a:lnTo>
                    <a:pt x="1566355" y="500348"/>
                  </a:lnTo>
                  <a:lnTo>
                    <a:pt x="1617515" y="488633"/>
                  </a:lnTo>
                  <a:lnTo>
                    <a:pt x="1664625" y="469978"/>
                  </a:lnTo>
                  <a:lnTo>
                    <a:pt x="1706830" y="445096"/>
                  </a:lnTo>
                  <a:lnTo>
                    <a:pt x="1743277" y="414699"/>
                  </a:lnTo>
                  <a:lnTo>
                    <a:pt x="1773112" y="379499"/>
                  </a:lnTo>
                  <a:lnTo>
                    <a:pt x="1795479" y="340209"/>
                  </a:lnTo>
                  <a:lnTo>
                    <a:pt x="1809526" y="297541"/>
                  </a:lnTo>
                  <a:lnTo>
                    <a:pt x="1814398" y="252206"/>
                  </a:lnTo>
                  <a:lnTo>
                    <a:pt x="1809526" y="206872"/>
                  </a:lnTo>
                  <a:lnTo>
                    <a:pt x="1795479" y="164203"/>
                  </a:lnTo>
                  <a:lnTo>
                    <a:pt x="1773112" y="124913"/>
                  </a:lnTo>
                  <a:lnTo>
                    <a:pt x="1743277" y="89713"/>
                  </a:lnTo>
                  <a:lnTo>
                    <a:pt x="1706830" y="59315"/>
                  </a:lnTo>
                  <a:lnTo>
                    <a:pt x="1664625" y="34433"/>
                  </a:lnTo>
                  <a:lnTo>
                    <a:pt x="1617515" y="15778"/>
                  </a:lnTo>
                  <a:lnTo>
                    <a:pt x="1566355" y="4063"/>
                  </a:lnTo>
                  <a:lnTo>
                    <a:pt x="1511998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71830" y="5014678"/>
              <a:ext cx="1814830" cy="504825"/>
            </a:xfrm>
            <a:custGeom>
              <a:avLst/>
              <a:gdLst/>
              <a:ahLst/>
              <a:cxnLst/>
              <a:rect l="l" t="t" r="r" b="b"/>
              <a:pathLst>
                <a:path w="1814830" h="504825">
                  <a:moveTo>
                    <a:pt x="0" y="252206"/>
                  </a:moveTo>
                  <a:lnTo>
                    <a:pt x="302399" y="0"/>
                  </a:lnTo>
                  <a:lnTo>
                    <a:pt x="1511998" y="0"/>
                  </a:lnTo>
                  <a:lnTo>
                    <a:pt x="1566355" y="4063"/>
                  </a:lnTo>
                  <a:lnTo>
                    <a:pt x="1617515" y="15778"/>
                  </a:lnTo>
                  <a:lnTo>
                    <a:pt x="1664625" y="34433"/>
                  </a:lnTo>
                  <a:lnTo>
                    <a:pt x="1706830" y="59315"/>
                  </a:lnTo>
                  <a:lnTo>
                    <a:pt x="1743277" y="89713"/>
                  </a:lnTo>
                  <a:lnTo>
                    <a:pt x="1773111" y="124913"/>
                  </a:lnTo>
                  <a:lnTo>
                    <a:pt x="1795479" y="164203"/>
                  </a:lnTo>
                  <a:lnTo>
                    <a:pt x="1809525" y="206872"/>
                  </a:lnTo>
                  <a:lnTo>
                    <a:pt x="1814397" y="252206"/>
                  </a:lnTo>
                  <a:lnTo>
                    <a:pt x="1809525" y="297540"/>
                  </a:lnTo>
                  <a:lnTo>
                    <a:pt x="1795479" y="340209"/>
                  </a:lnTo>
                  <a:lnTo>
                    <a:pt x="1773111" y="379499"/>
                  </a:lnTo>
                  <a:lnTo>
                    <a:pt x="1743277" y="414699"/>
                  </a:lnTo>
                  <a:lnTo>
                    <a:pt x="1706830" y="445097"/>
                  </a:lnTo>
                  <a:lnTo>
                    <a:pt x="1664625" y="469979"/>
                  </a:lnTo>
                  <a:lnTo>
                    <a:pt x="1617515" y="488634"/>
                  </a:lnTo>
                  <a:lnTo>
                    <a:pt x="1566355" y="500349"/>
                  </a:lnTo>
                  <a:lnTo>
                    <a:pt x="1511998" y="504413"/>
                  </a:lnTo>
                  <a:lnTo>
                    <a:pt x="302399" y="504413"/>
                  </a:lnTo>
                  <a:lnTo>
                    <a:pt x="0" y="252206"/>
                  </a:lnTo>
                  <a:close/>
                </a:path>
              </a:pathLst>
            </a:custGeom>
            <a:ln w="81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33019" rIns="0" bIns="0" rtlCol="0" vert="horz">
            <a:spAutoFit/>
          </a:bodyPr>
          <a:lstStyle/>
          <a:p>
            <a:pPr marL="377444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Example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1370759" y="5039891"/>
            <a:ext cx="414655" cy="32766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 indent="27940">
              <a:lnSpc>
                <a:spcPct val="105300"/>
              </a:lnSpc>
              <a:spcBef>
                <a:spcPts val="70"/>
              </a:spcBef>
            </a:pPr>
            <a:r>
              <a:rPr dirty="0" sz="950" spc="-10">
                <a:latin typeface="Franklin Gothic Medium"/>
                <a:cs typeface="Franklin Gothic Medium"/>
              </a:rPr>
              <a:t>PRINT “PASS”</a:t>
            </a:r>
            <a:endParaRPr sz="950">
              <a:latin typeface="Franklin Gothic Medium"/>
              <a:cs typeface="Franklin Gothic Medium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943190" y="2487250"/>
            <a:ext cx="927735" cy="1116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845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Step</a:t>
            </a:r>
            <a:r>
              <a:rPr dirty="0" sz="2400" spc="-65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1: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45"/>
              </a:lnSpc>
            </a:pPr>
            <a:r>
              <a:rPr dirty="0" sz="2400" b="1">
                <a:latin typeface="Times New Roman"/>
                <a:cs typeface="Times New Roman"/>
              </a:rPr>
              <a:t>Step</a:t>
            </a:r>
            <a:r>
              <a:rPr dirty="0" sz="2400" spc="-65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2: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2400" b="1">
                <a:latin typeface="Times New Roman"/>
                <a:cs typeface="Times New Roman"/>
              </a:rPr>
              <a:t>Step</a:t>
            </a:r>
            <a:r>
              <a:rPr dirty="0" sz="2400" spc="-65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3: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111907" y="2487250"/>
            <a:ext cx="4152265" cy="147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845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Input</a:t>
            </a:r>
            <a:r>
              <a:rPr dirty="0" sz="2400" spc="-7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M1,M2,M3,M4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45"/>
              </a:lnSpc>
            </a:pPr>
            <a:r>
              <a:rPr dirty="0" sz="2400">
                <a:latin typeface="Times New Roman"/>
                <a:cs typeface="Times New Roman"/>
              </a:rPr>
              <a:t>GRADE</a:t>
            </a:r>
            <a:r>
              <a:rPr dirty="0" sz="2400" spc="-80">
                <a:latin typeface="Times New Roman"/>
                <a:cs typeface="Times New Roman"/>
              </a:rPr>
              <a:t> </a:t>
            </a:r>
            <a:r>
              <a:rPr dirty="0" sz="2400">
                <a:latin typeface="Symbol"/>
                <a:cs typeface="Symbol"/>
              </a:rPr>
              <a:t></a:t>
            </a:r>
            <a:r>
              <a:rPr dirty="0" sz="2400" spc="-8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(M1+M2+M3+M4)/4</a:t>
            </a:r>
            <a:endParaRPr sz="2400">
              <a:latin typeface="Times New Roman"/>
              <a:cs typeface="Times New Roman"/>
            </a:endParaRPr>
          </a:p>
          <a:p>
            <a:pPr marL="12700" marR="1475740">
              <a:lnSpc>
                <a:spcPts val="2780"/>
              </a:lnSpc>
              <a:spcBef>
                <a:spcPts val="200"/>
              </a:spcBef>
            </a:pPr>
            <a:r>
              <a:rPr dirty="0" sz="2400">
                <a:latin typeface="Times New Roman"/>
                <a:cs typeface="Times New Roman"/>
              </a:rPr>
              <a:t>if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(GRADE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&lt;50)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then </a:t>
            </a:r>
            <a:r>
              <a:rPr dirty="0" sz="2400">
                <a:latin typeface="Times New Roman"/>
                <a:cs typeface="Times New Roman"/>
              </a:rPr>
              <a:t>Print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“FAIL”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332762" y="3935050"/>
            <a:ext cx="2048510" cy="1116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845"/>
              </a:lnSpc>
              <a:spcBef>
                <a:spcPts val="100"/>
              </a:spcBef>
            </a:pPr>
            <a:r>
              <a:rPr dirty="0" sz="2400" spc="-20">
                <a:latin typeface="Times New Roman"/>
                <a:cs typeface="Times New Roman"/>
              </a:rPr>
              <a:t>else</a:t>
            </a:r>
            <a:endParaRPr sz="2400">
              <a:latin typeface="Times New Roman"/>
              <a:cs typeface="Times New Roman"/>
            </a:endParaRPr>
          </a:p>
          <a:p>
            <a:pPr marL="12700" marR="5080" indent="389255">
              <a:lnSpc>
                <a:spcPts val="2900"/>
              </a:lnSpc>
              <a:spcBef>
                <a:spcPts val="40"/>
              </a:spcBef>
            </a:pPr>
            <a:r>
              <a:rPr dirty="0" sz="2400">
                <a:latin typeface="Times New Roman"/>
                <a:cs typeface="Times New Roman"/>
              </a:rPr>
              <a:t>Print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 spc="-50">
                <a:latin typeface="Times New Roman"/>
                <a:cs typeface="Times New Roman"/>
              </a:rPr>
              <a:t>“PASS” </a:t>
            </a:r>
            <a:r>
              <a:rPr dirty="0" sz="2400" spc="-10">
                <a:latin typeface="Times New Roman"/>
                <a:cs typeface="Times New Roman"/>
              </a:rPr>
              <a:t>endif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2586708" y="2404639"/>
            <a:ext cx="1076325" cy="296545"/>
            <a:chOff x="2586708" y="2404639"/>
            <a:chExt cx="1076325" cy="296545"/>
          </a:xfrm>
        </p:grpSpPr>
        <p:sp>
          <p:nvSpPr>
            <p:cNvPr id="11" name="object 11" descr=""/>
            <p:cNvSpPr/>
            <p:nvPr/>
          </p:nvSpPr>
          <p:spPr>
            <a:xfrm>
              <a:off x="2590835" y="2408767"/>
              <a:ext cx="1068070" cy="288290"/>
            </a:xfrm>
            <a:custGeom>
              <a:avLst/>
              <a:gdLst/>
              <a:ahLst/>
              <a:cxnLst/>
              <a:rect l="l" t="t" r="r" b="b"/>
              <a:pathLst>
                <a:path w="1068070" h="288289">
                  <a:moveTo>
                    <a:pt x="895944" y="0"/>
                  </a:moveTo>
                  <a:lnTo>
                    <a:pt x="171773" y="0"/>
                  </a:lnTo>
                  <a:lnTo>
                    <a:pt x="117480" y="7342"/>
                  </a:lnTo>
                  <a:lnTo>
                    <a:pt x="70326" y="27787"/>
                  </a:lnTo>
                  <a:lnTo>
                    <a:pt x="33142" y="58964"/>
                  </a:lnTo>
                  <a:lnTo>
                    <a:pt x="8757" y="98499"/>
                  </a:lnTo>
                  <a:lnTo>
                    <a:pt x="0" y="144021"/>
                  </a:lnTo>
                  <a:lnTo>
                    <a:pt x="8757" y="189543"/>
                  </a:lnTo>
                  <a:lnTo>
                    <a:pt x="33142" y="229078"/>
                  </a:lnTo>
                  <a:lnTo>
                    <a:pt x="70326" y="260255"/>
                  </a:lnTo>
                  <a:lnTo>
                    <a:pt x="117480" y="280701"/>
                  </a:lnTo>
                  <a:lnTo>
                    <a:pt x="171773" y="288043"/>
                  </a:lnTo>
                  <a:lnTo>
                    <a:pt x="895944" y="288043"/>
                  </a:lnTo>
                  <a:lnTo>
                    <a:pt x="950238" y="280701"/>
                  </a:lnTo>
                  <a:lnTo>
                    <a:pt x="997391" y="260255"/>
                  </a:lnTo>
                  <a:lnTo>
                    <a:pt x="1034575" y="229078"/>
                  </a:lnTo>
                  <a:lnTo>
                    <a:pt x="1058961" y="189543"/>
                  </a:lnTo>
                  <a:lnTo>
                    <a:pt x="1067718" y="144021"/>
                  </a:lnTo>
                  <a:lnTo>
                    <a:pt x="1058961" y="98499"/>
                  </a:lnTo>
                  <a:lnTo>
                    <a:pt x="1034575" y="58964"/>
                  </a:lnTo>
                  <a:lnTo>
                    <a:pt x="997391" y="27787"/>
                  </a:lnTo>
                  <a:lnTo>
                    <a:pt x="950238" y="7342"/>
                  </a:lnTo>
                  <a:lnTo>
                    <a:pt x="895944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590835" y="2408767"/>
              <a:ext cx="1068070" cy="288290"/>
            </a:xfrm>
            <a:custGeom>
              <a:avLst/>
              <a:gdLst/>
              <a:ahLst/>
              <a:cxnLst/>
              <a:rect l="l" t="t" r="r" b="b"/>
              <a:pathLst>
                <a:path w="1068070" h="288289">
                  <a:moveTo>
                    <a:pt x="171773" y="0"/>
                  </a:moveTo>
                  <a:lnTo>
                    <a:pt x="895943" y="0"/>
                  </a:lnTo>
                  <a:lnTo>
                    <a:pt x="950237" y="7342"/>
                  </a:lnTo>
                  <a:lnTo>
                    <a:pt x="997390" y="27787"/>
                  </a:lnTo>
                  <a:lnTo>
                    <a:pt x="1034575" y="58964"/>
                  </a:lnTo>
                  <a:lnTo>
                    <a:pt x="1058960" y="98499"/>
                  </a:lnTo>
                  <a:lnTo>
                    <a:pt x="1067717" y="144021"/>
                  </a:lnTo>
                  <a:lnTo>
                    <a:pt x="1058960" y="189543"/>
                  </a:lnTo>
                  <a:lnTo>
                    <a:pt x="1034575" y="229079"/>
                  </a:lnTo>
                  <a:lnTo>
                    <a:pt x="997390" y="260255"/>
                  </a:lnTo>
                  <a:lnTo>
                    <a:pt x="950237" y="280701"/>
                  </a:lnTo>
                  <a:lnTo>
                    <a:pt x="895943" y="288043"/>
                  </a:lnTo>
                  <a:lnTo>
                    <a:pt x="171773" y="288043"/>
                  </a:lnTo>
                  <a:lnTo>
                    <a:pt x="117480" y="280701"/>
                  </a:lnTo>
                  <a:lnTo>
                    <a:pt x="70326" y="260255"/>
                  </a:lnTo>
                  <a:lnTo>
                    <a:pt x="33142" y="229079"/>
                  </a:lnTo>
                  <a:lnTo>
                    <a:pt x="8757" y="189543"/>
                  </a:lnTo>
                  <a:lnTo>
                    <a:pt x="0" y="144021"/>
                  </a:lnTo>
                  <a:lnTo>
                    <a:pt x="8757" y="98499"/>
                  </a:lnTo>
                  <a:lnTo>
                    <a:pt x="33142" y="58964"/>
                  </a:lnTo>
                  <a:lnTo>
                    <a:pt x="70326" y="27787"/>
                  </a:lnTo>
                  <a:lnTo>
                    <a:pt x="117480" y="7342"/>
                  </a:lnTo>
                  <a:lnTo>
                    <a:pt x="171773" y="0"/>
                  </a:lnTo>
                  <a:close/>
                </a:path>
              </a:pathLst>
            </a:custGeom>
            <a:ln w="81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2942530" y="2476523"/>
            <a:ext cx="362585" cy="1752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50" spc="-10">
                <a:latin typeface="Franklin Gothic Medium"/>
                <a:cs typeface="Franklin Gothic Medium"/>
              </a:rPr>
              <a:t>START</a:t>
            </a:r>
            <a:endParaRPr sz="950">
              <a:latin typeface="Franklin Gothic Medium"/>
              <a:cs typeface="Franklin Gothic Medium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1928402" y="2696810"/>
            <a:ext cx="2355215" cy="662940"/>
            <a:chOff x="1928402" y="2696810"/>
            <a:chExt cx="2355215" cy="662940"/>
          </a:xfrm>
        </p:grpSpPr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2230" y="2696810"/>
              <a:ext cx="64928" cy="216369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1932529" y="2922645"/>
              <a:ext cx="2346960" cy="433070"/>
            </a:xfrm>
            <a:custGeom>
              <a:avLst/>
              <a:gdLst/>
              <a:ahLst/>
              <a:cxnLst/>
              <a:rect l="l" t="t" r="r" b="b"/>
              <a:pathLst>
                <a:path w="2346960" h="433070">
                  <a:moveTo>
                    <a:pt x="2346452" y="0"/>
                  </a:moveTo>
                  <a:lnTo>
                    <a:pt x="469290" y="0"/>
                  </a:lnTo>
                  <a:lnTo>
                    <a:pt x="0" y="432741"/>
                  </a:lnTo>
                  <a:lnTo>
                    <a:pt x="1877161" y="432741"/>
                  </a:lnTo>
                  <a:lnTo>
                    <a:pt x="2346452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932529" y="2922645"/>
              <a:ext cx="2346960" cy="433070"/>
            </a:xfrm>
            <a:custGeom>
              <a:avLst/>
              <a:gdLst/>
              <a:ahLst/>
              <a:cxnLst/>
              <a:rect l="l" t="t" r="r" b="b"/>
              <a:pathLst>
                <a:path w="2346960" h="433070">
                  <a:moveTo>
                    <a:pt x="0" y="432740"/>
                  </a:moveTo>
                  <a:lnTo>
                    <a:pt x="469290" y="0"/>
                  </a:lnTo>
                  <a:lnTo>
                    <a:pt x="2346452" y="0"/>
                  </a:lnTo>
                  <a:lnTo>
                    <a:pt x="1877161" y="432740"/>
                  </a:lnTo>
                  <a:lnTo>
                    <a:pt x="0" y="432740"/>
                  </a:lnTo>
                  <a:close/>
                </a:path>
              </a:pathLst>
            </a:custGeom>
            <a:ln w="81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2682354" y="2948963"/>
            <a:ext cx="848360" cy="32766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 indent="269875">
              <a:lnSpc>
                <a:spcPct val="105300"/>
              </a:lnSpc>
              <a:spcBef>
                <a:spcPts val="70"/>
              </a:spcBef>
            </a:pPr>
            <a:r>
              <a:rPr dirty="0" sz="950" spc="-10">
                <a:latin typeface="Franklin Gothic Medium"/>
                <a:cs typeface="Franklin Gothic Medium"/>
              </a:rPr>
              <a:t>Input M1,M2,M3,M4</a:t>
            </a:r>
            <a:endParaRPr sz="950">
              <a:latin typeface="Franklin Gothic Medium"/>
              <a:cs typeface="Franklin Gothic Medium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625922" y="3647487"/>
            <a:ext cx="2686050" cy="288290"/>
          </a:xfrm>
          <a:prstGeom prst="rect">
            <a:avLst/>
          </a:prstGeom>
          <a:solidFill>
            <a:srgbClr val="CCFFFF"/>
          </a:solidFill>
          <a:ln w="8113">
            <a:solidFill>
              <a:srgbClr val="000000"/>
            </a:solidFill>
          </a:ln>
        </p:spPr>
        <p:txBody>
          <a:bodyPr wrap="square" lIns="0" tIns="43180" rIns="0" bIns="0" rtlCol="0" vert="horz">
            <a:spAutoFit/>
          </a:bodyPr>
          <a:lstStyle/>
          <a:p>
            <a:pPr marL="77470">
              <a:lnSpc>
                <a:spcPct val="100000"/>
              </a:lnSpc>
              <a:spcBef>
                <a:spcPts val="340"/>
              </a:spcBef>
            </a:pPr>
            <a:r>
              <a:rPr dirty="0" sz="950" spc="-10">
                <a:latin typeface="Franklin Gothic Medium"/>
                <a:cs typeface="Franklin Gothic Medium"/>
              </a:rPr>
              <a:t>GRADE</a:t>
            </a:r>
            <a:r>
              <a:rPr dirty="0" sz="950" spc="-10">
                <a:latin typeface="Symbol"/>
                <a:cs typeface="Symbol"/>
              </a:rPr>
              <a:t></a:t>
            </a:r>
            <a:r>
              <a:rPr dirty="0" sz="950" spc="-10">
                <a:latin typeface="Franklin Gothic Medium"/>
                <a:cs typeface="Franklin Gothic Medium"/>
              </a:rPr>
              <a:t>(M1+M2+M3+M4)/4</a:t>
            </a:r>
            <a:endParaRPr sz="950">
              <a:latin typeface="Franklin Gothic Medium"/>
              <a:cs typeface="Franklin Gothic Medium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1928402" y="3355387"/>
            <a:ext cx="2142490" cy="1518920"/>
            <a:chOff x="1928402" y="3355387"/>
            <a:chExt cx="2142490" cy="1518920"/>
          </a:xfrm>
        </p:grpSpPr>
        <p:sp>
          <p:nvSpPr>
            <p:cNvPr id="21" name="object 21" descr=""/>
            <p:cNvSpPr/>
            <p:nvPr/>
          </p:nvSpPr>
          <p:spPr>
            <a:xfrm>
              <a:off x="2965979" y="3355387"/>
              <a:ext cx="65405" cy="289560"/>
            </a:xfrm>
            <a:custGeom>
              <a:avLst/>
              <a:gdLst/>
              <a:ahLst/>
              <a:cxnLst/>
              <a:rect l="l" t="t" r="r" b="b"/>
              <a:pathLst>
                <a:path w="65405" h="289560">
                  <a:moveTo>
                    <a:pt x="28406" y="224483"/>
                  </a:moveTo>
                  <a:lnTo>
                    <a:pt x="0" y="224483"/>
                  </a:lnTo>
                  <a:lnTo>
                    <a:pt x="32465" y="289394"/>
                  </a:lnTo>
                  <a:lnTo>
                    <a:pt x="59517" y="235303"/>
                  </a:lnTo>
                  <a:lnTo>
                    <a:pt x="28406" y="235303"/>
                  </a:lnTo>
                  <a:lnTo>
                    <a:pt x="28406" y="224483"/>
                  </a:lnTo>
                  <a:close/>
                </a:path>
                <a:path w="65405" h="289560">
                  <a:moveTo>
                    <a:pt x="36521" y="0"/>
                  </a:moveTo>
                  <a:lnTo>
                    <a:pt x="28406" y="0"/>
                  </a:lnTo>
                  <a:lnTo>
                    <a:pt x="28406" y="235303"/>
                  </a:lnTo>
                  <a:lnTo>
                    <a:pt x="36522" y="235303"/>
                  </a:lnTo>
                  <a:lnTo>
                    <a:pt x="36521" y="0"/>
                  </a:lnTo>
                  <a:close/>
                </a:path>
                <a:path w="65405" h="289560">
                  <a:moveTo>
                    <a:pt x="64928" y="224483"/>
                  </a:moveTo>
                  <a:lnTo>
                    <a:pt x="36522" y="224483"/>
                  </a:lnTo>
                  <a:lnTo>
                    <a:pt x="36522" y="235303"/>
                  </a:lnTo>
                  <a:lnTo>
                    <a:pt x="59517" y="235303"/>
                  </a:lnTo>
                  <a:lnTo>
                    <a:pt x="64928" y="2244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932529" y="4149196"/>
              <a:ext cx="2134235" cy="721360"/>
            </a:xfrm>
            <a:custGeom>
              <a:avLst/>
              <a:gdLst/>
              <a:ahLst/>
              <a:cxnLst/>
              <a:rect l="l" t="t" r="r" b="b"/>
              <a:pathLst>
                <a:path w="2134235" h="721360">
                  <a:moveTo>
                    <a:pt x="1066815" y="0"/>
                  </a:moveTo>
                  <a:lnTo>
                    <a:pt x="0" y="360391"/>
                  </a:lnTo>
                  <a:lnTo>
                    <a:pt x="1066815" y="720783"/>
                  </a:lnTo>
                  <a:lnTo>
                    <a:pt x="2133630" y="360391"/>
                  </a:lnTo>
                  <a:lnTo>
                    <a:pt x="1066815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932529" y="4149196"/>
              <a:ext cx="2134235" cy="721360"/>
            </a:xfrm>
            <a:custGeom>
              <a:avLst/>
              <a:gdLst/>
              <a:ahLst/>
              <a:cxnLst/>
              <a:rect l="l" t="t" r="r" b="b"/>
              <a:pathLst>
                <a:path w="2134235" h="721360">
                  <a:moveTo>
                    <a:pt x="0" y="360392"/>
                  </a:moveTo>
                  <a:lnTo>
                    <a:pt x="1066815" y="0"/>
                  </a:lnTo>
                  <a:lnTo>
                    <a:pt x="2133630" y="360392"/>
                  </a:lnTo>
                  <a:lnTo>
                    <a:pt x="1066815" y="720784"/>
                  </a:lnTo>
                  <a:lnTo>
                    <a:pt x="0" y="360392"/>
                  </a:lnTo>
                  <a:close/>
                </a:path>
              </a:pathLst>
            </a:custGeom>
            <a:ln w="81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2678910" y="4357139"/>
            <a:ext cx="640080" cy="32766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 indent="254000">
              <a:lnSpc>
                <a:spcPct val="105300"/>
              </a:lnSpc>
              <a:spcBef>
                <a:spcPts val="70"/>
              </a:spcBef>
            </a:pPr>
            <a:r>
              <a:rPr dirty="0" sz="950" spc="-25">
                <a:latin typeface="Franklin Gothic Medium"/>
                <a:cs typeface="Franklin Gothic Medium"/>
              </a:rPr>
              <a:t>IS </a:t>
            </a:r>
            <a:r>
              <a:rPr dirty="0" sz="950" spc="-10">
                <a:latin typeface="Franklin Gothic Medium"/>
                <a:cs typeface="Franklin Gothic Medium"/>
              </a:rPr>
              <a:t>GRADE&lt;50</a:t>
            </a:r>
            <a:endParaRPr sz="950">
              <a:latin typeface="Franklin Gothic Medium"/>
              <a:cs typeface="Franklin Gothic Medium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3528174" y="5010549"/>
            <a:ext cx="1823085" cy="513080"/>
            <a:chOff x="3528174" y="5010549"/>
            <a:chExt cx="1823085" cy="513080"/>
          </a:xfrm>
        </p:grpSpPr>
        <p:sp>
          <p:nvSpPr>
            <p:cNvPr id="26" name="object 26" descr=""/>
            <p:cNvSpPr/>
            <p:nvPr/>
          </p:nvSpPr>
          <p:spPr>
            <a:xfrm>
              <a:off x="3532301" y="5014677"/>
              <a:ext cx="1814830" cy="504825"/>
            </a:xfrm>
            <a:custGeom>
              <a:avLst/>
              <a:gdLst/>
              <a:ahLst/>
              <a:cxnLst/>
              <a:rect l="l" t="t" r="r" b="b"/>
              <a:pathLst>
                <a:path w="1814829" h="504825">
                  <a:moveTo>
                    <a:pt x="1511998" y="0"/>
                  </a:moveTo>
                  <a:lnTo>
                    <a:pt x="302399" y="0"/>
                  </a:lnTo>
                  <a:lnTo>
                    <a:pt x="0" y="252206"/>
                  </a:lnTo>
                  <a:lnTo>
                    <a:pt x="302399" y="504413"/>
                  </a:lnTo>
                  <a:lnTo>
                    <a:pt x="1511998" y="504413"/>
                  </a:lnTo>
                  <a:lnTo>
                    <a:pt x="1566355" y="500350"/>
                  </a:lnTo>
                  <a:lnTo>
                    <a:pt x="1617515" y="488634"/>
                  </a:lnTo>
                  <a:lnTo>
                    <a:pt x="1664625" y="469979"/>
                  </a:lnTo>
                  <a:lnTo>
                    <a:pt x="1706831" y="445097"/>
                  </a:lnTo>
                  <a:lnTo>
                    <a:pt x="1743277" y="414700"/>
                  </a:lnTo>
                  <a:lnTo>
                    <a:pt x="1773111" y="379500"/>
                  </a:lnTo>
                  <a:lnTo>
                    <a:pt x="1795479" y="340209"/>
                  </a:lnTo>
                  <a:lnTo>
                    <a:pt x="1809526" y="297541"/>
                  </a:lnTo>
                  <a:lnTo>
                    <a:pt x="1814398" y="252206"/>
                  </a:lnTo>
                  <a:lnTo>
                    <a:pt x="1809526" y="206872"/>
                  </a:lnTo>
                  <a:lnTo>
                    <a:pt x="1795479" y="164203"/>
                  </a:lnTo>
                  <a:lnTo>
                    <a:pt x="1773111" y="124913"/>
                  </a:lnTo>
                  <a:lnTo>
                    <a:pt x="1743277" y="89713"/>
                  </a:lnTo>
                  <a:lnTo>
                    <a:pt x="1706831" y="59315"/>
                  </a:lnTo>
                  <a:lnTo>
                    <a:pt x="1664625" y="34433"/>
                  </a:lnTo>
                  <a:lnTo>
                    <a:pt x="1617515" y="15778"/>
                  </a:lnTo>
                  <a:lnTo>
                    <a:pt x="1566355" y="4063"/>
                  </a:lnTo>
                  <a:lnTo>
                    <a:pt x="1511998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532301" y="5014677"/>
              <a:ext cx="1814830" cy="504825"/>
            </a:xfrm>
            <a:custGeom>
              <a:avLst/>
              <a:gdLst/>
              <a:ahLst/>
              <a:cxnLst/>
              <a:rect l="l" t="t" r="r" b="b"/>
              <a:pathLst>
                <a:path w="1814829" h="504825">
                  <a:moveTo>
                    <a:pt x="0" y="252206"/>
                  </a:moveTo>
                  <a:lnTo>
                    <a:pt x="302399" y="0"/>
                  </a:lnTo>
                  <a:lnTo>
                    <a:pt x="1511998" y="0"/>
                  </a:lnTo>
                  <a:lnTo>
                    <a:pt x="1566355" y="4063"/>
                  </a:lnTo>
                  <a:lnTo>
                    <a:pt x="1617515" y="15778"/>
                  </a:lnTo>
                  <a:lnTo>
                    <a:pt x="1664625" y="34433"/>
                  </a:lnTo>
                  <a:lnTo>
                    <a:pt x="1706830" y="59315"/>
                  </a:lnTo>
                  <a:lnTo>
                    <a:pt x="1743277" y="89713"/>
                  </a:lnTo>
                  <a:lnTo>
                    <a:pt x="1773111" y="124913"/>
                  </a:lnTo>
                  <a:lnTo>
                    <a:pt x="1795479" y="164203"/>
                  </a:lnTo>
                  <a:lnTo>
                    <a:pt x="1809525" y="206872"/>
                  </a:lnTo>
                  <a:lnTo>
                    <a:pt x="1814397" y="252206"/>
                  </a:lnTo>
                  <a:lnTo>
                    <a:pt x="1809525" y="297541"/>
                  </a:lnTo>
                  <a:lnTo>
                    <a:pt x="1795479" y="340210"/>
                  </a:lnTo>
                  <a:lnTo>
                    <a:pt x="1773111" y="379500"/>
                  </a:lnTo>
                  <a:lnTo>
                    <a:pt x="1743277" y="414700"/>
                  </a:lnTo>
                  <a:lnTo>
                    <a:pt x="1706830" y="445097"/>
                  </a:lnTo>
                  <a:lnTo>
                    <a:pt x="1664625" y="469980"/>
                  </a:lnTo>
                  <a:lnTo>
                    <a:pt x="1617515" y="488635"/>
                  </a:lnTo>
                  <a:lnTo>
                    <a:pt x="1566355" y="500350"/>
                  </a:lnTo>
                  <a:lnTo>
                    <a:pt x="1511998" y="504413"/>
                  </a:lnTo>
                  <a:lnTo>
                    <a:pt x="302399" y="504413"/>
                  </a:lnTo>
                  <a:lnTo>
                    <a:pt x="0" y="252206"/>
                  </a:lnTo>
                  <a:close/>
                </a:path>
              </a:pathLst>
            </a:custGeom>
            <a:ln w="81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4259745" y="5039891"/>
            <a:ext cx="358140" cy="32766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22225" marR="5080" indent="-10160">
              <a:lnSpc>
                <a:spcPct val="105300"/>
              </a:lnSpc>
              <a:spcBef>
                <a:spcPts val="70"/>
              </a:spcBef>
            </a:pPr>
            <a:r>
              <a:rPr dirty="0" sz="950" spc="-10">
                <a:latin typeface="Franklin Gothic Medium"/>
                <a:cs typeface="Franklin Gothic Medium"/>
              </a:rPr>
              <a:t>PRINT “FAIL”</a:t>
            </a:r>
            <a:endParaRPr sz="950">
              <a:latin typeface="Franklin Gothic Medium"/>
              <a:cs typeface="Franklin Gothic Medium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2462262" y="5735461"/>
            <a:ext cx="1074420" cy="436880"/>
            <a:chOff x="2462262" y="5735461"/>
            <a:chExt cx="1074420" cy="436880"/>
          </a:xfrm>
        </p:grpSpPr>
        <p:pic>
          <p:nvPicPr>
            <p:cNvPr id="30" name="object 3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65979" y="5735461"/>
              <a:ext cx="64928" cy="144697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2466389" y="5880158"/>
              <a:ext cx="1066165" cy="288290"/>
            </a:xfrm>
            <a:custGeom>
              <a:avLst/>
              <a:gdLst/>
              <a:ahLst/>
              <a:cxnLst/>
              <a:rect l="l" t="t" r="r" b="b"/>
              <a:pathLst>
                <a:path w="1066164" h="288289">
                  <a:moveTo>
                    <a:pt x="894429" y="0"/>
                  </a:moveTo>
                  <a:lnTo>
                    <a:pt x="171483" y="0"/>
                  </a:lnTo>
                  <a:lnTo>
                    <a:pt x="117281" y="7342"/>
                  </a:lnTo>
                  <a:lnTo>
                    <a:pt x="70207" y="27788"/>
                  </a:lnTo>
                  <a:lnTo>
                    <a:pt x="33086" y="58964"/>
                  </a:lnTo>
                  <a:lnTo>
                    <a:pt x="8742" y="98500"/>
                  </a:lnTo>
                  <a:lnTo>
                    <a:pt x="0" y="144021"/>
                  </a:lnTo>
                  <a:lnTo>
                    <a:pt x="8742" y="189543"/>
                  </a:lnTo>
                  <a:lnTo>
                    <a:pt x="33086" y="229079"/>
                  </a:lnTo>
                  <a:lnTo>
                    <a:pt x="70207" y="260255"/>
                  </a:lnTo>
                  <a:lnTo>
                    <a:pt x="117281" y="280701"/>
                  </a:lnTo>
                  <a:lnTo>
                    <a:pt x="171483" y="288043"/>
                  </a:lnTo>
                  <a:lnTo>
                    <a:pt x="894429" y="288043"/>
                  </a:lnTo>
                  <a:lnTo>
                    <a:pt x="948631" y="280701"/>
                  </a:lnTo>
                  <a:lnTo>
                    <a:pt x="995705" y="260255"/>
                  </a:lnTo>
                  <a:lnTo>
                    <a:pt x="1032826" y="229079"/>
                  </a:lnTo>
                  <a:lnTo>
                    <a:pt x="1057171" y="189543"/>
                  </a:lnTo>
                  <a:lnTo>
                    <a:pt x="1065913" y="144021"/>
                  </a:lnTo>
                  <a:lnTo>
                    <a:pt x="1057171" y="98500"/>
                  </a:lnTo>
                  <a:lnTo>
                    <a:pt x="1032826" y="58964"/>
                  </a:lnTo>
                  <a:lnTo>
                    <a:pt x="995705" y="27788"/>
                  </a:lnTo>
                  <a:lnTo>
                    <a:pt x="948631" y="7342"/>
                  </a:lnTo>
                  <a:lnTo>
                    <a:pt x="894429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2466389" y="5880158"/>
              <a:ext cx="1066165" cy="288290"/>
            </a:xfrm>
            <a:custGeom>
              <a:avLst/>
              <a:gdLst/>
              <a:ahLst/>
              <a:cxnLst/>
              <a:rect l="l" t="t" r="r" b="b"/>
              <a:pathLst>
                <a:path w="1066164" h="288289">
                  <a:moveTo>
                    <a:pt x="171483" y="0"/>
                  </a:moveTo>
                  <a:lnTo>
                    <a:pt x="894430" y="0"/>
                  </a:lnTo>
                  <a:lnTo>
                    <a:pt x="948631" y="7342"/>
                  </a:lnTo>
                  <a:lnTo>
                    <a:pt x="995705" y="27787"/>
                  </a:lnTo>
                  <a:lnTo>
                    <a:pt x="1032827" y="58964"/>
                  </a:lnTo>
                  <a:lnTo>
                    <a:pt x="1057171" y="98499"/>
                  </a:lnTo>
                  <a:lnTo>
                    <a:pt x="1065913" y="144021"/>
                  </a:lnTo>
                  <a:lnTo>
                    <a:pt x="1057171" y="189543"/>
                  </a:lnTo>
                  <a:lnTo>
                    <a:pt x="1032827" y="229079"/>
                  </a:lnTo>
                  <a:lnTo>
                    <a:pt x="995705" y="260255"/>
                  </a:lnTo>
                  <a:lnTo>
                    <a:pt x="948631" y="280701"/>
                  </a:lnTo>
                  <a:lnTo>
                    <a:pt x="894430" y="288043"/>
                  </a:lnTo>
                  <a:lnTo>
                    <a:pt x="171483" y="288043"/>
                  </a:lnTo>
                  <a:lnTo>
                    <a:pt x="117281" y="280701"/>
                  </a:lnTo>
                  <a:lnTo>
                    <a:pt x="70207" y="260255"/>
                  </a:lnTo>
                  <a:lnTo>
                    <a:pt x="33086" y="229079"/>
                  </a:lnTo>
                  <a:lnTo>
                    <a:pt x="8742" y="189543"/>
                  </a:lnTo>
                  <a:lnTo>
                    <a:pt x="0" y="144021"/>
                  </a:lnTo>
                  <a:lnTo>
                    <a:pt x="8742" y="98499"/>
                  </a:lnTo>
                  <a:lnTo>
                    <a:pt x="33086" y="58964"/>
                  </a:lnTo>
                  <a:lnTo>
                    <a:pt x="70207" y="27787"/>
                  </a:lnTo>
                  <a:lnTo>
                    <a:pt x="117281" y="7342"/>
                  </a:lnTo>
                  <a:lnTo>
                    <a:pt x="171483" y="0"/>
                  </a:lnTo>
                  <a:close/>
                </a:path>
              </a:pathLst>
            </a:custGeom>
            <a:ln w="81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2843099" y="5948195"/>
            <a:ext cx="310515" cy="1752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50" spc="-20">
                <a:latin typeface="Franklin Gothic Medium"/>
                <a:cs typeface="Franklin Gothic Medium"/>
              </a:rPr>
              <a:t>STOP</a:t>
            </a:r>
            <a:endParaRPr sz="950">
              <a:latin typeface="Franklin Gothic Medium"/>
              <a:cs typeface="Franklin Gothic Medium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1418511" y="3932825"/>
            <a:ext cx="3214370" cy="1807210"/>
            <a:chOff x="1418511" y="3932825"/>
            <a:chExt cx="3214370" cy="1807210"/>
          </a:xfrm>
        </p:grpSpPr>
        <p:sp>
          <p:nvSpPr>
            <p:cNvPr id="35" name="object 35" descr=""/>
            <p:cNvSpPr/>
            <p:nvPr/>
          </p:nvSpPr>
          <p:spPr>
            <a:xfrm>
              <a:off x="1537547" y="5735460"/>
              <a:ext cx="3062605" cy="216535"/>
            </a:xfrm>
            <a:custGeom>
              <a:avLst/>
              <a:gdLst/>
              <a:ahLst/>
              <a:cxnLst/>
              <a:rect l="l" t="t" r="r" b="b"/>
              <a:pathLst>
                <a:path w="3062604" h="216535">
                  <a:moveTo>
                    <a:pt x="0" y="0"/>
                  </a:moveTo>
                  <a:lnTo>
                    <a:pt x="3062472" y="0"/>
                  </a:lnTo>
                </a:path>
                <a:path w="3062604" h="216535">
                  <a:moveTo>
                    <a:pt x="0" y="0"/>
                  </a:moveTo>
                  <a:lnTo>
                    <a:pt x="0" y="216370"/>
                  </a:lnTo>
                </a:path>
              </a:pathLst>
            </a:custGeom>
            <a:ln w="81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4600019" y="5519090"/>
              <a:ext cx="0" cy="216535"/>
            </a:xfrm>
            <a:custGeom>
              <a:avLst/>
              <a:gdLst/>
              <a:ahLst/>
              <a:cxnLst/>
              <a:rect l="l" t="t" r="r" b="b"/>
              <a:pathLst>
                <a:path w="0" h="216535">
                  <a:moveTo>
                    <a:pt x="0" y="216370"/>
                  </a:moveTo>
                  <a:lnTo>
                    <a:pt x="0" y="0"/>
                  </a:lnTo>
                </a:path>
              </a:pathLst>
            </a:custGeom>
            <a:ln w="81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4066161" y="4508911"/>
              <a:ext cx="534035" cy="0"/>
            </a:xfrm>
            <a:custGeom>
              <a:avLst/>
              <a:gdLst/>
              <a:ahLst/>
              <a:cxnLst/>
              <a:rect l="l" t="t" r="r" b="b"/>
              <a:pathLst>
                <a:path w="534035" h="0">
                  <a:moveTo>
                    <a:pt x="0" y="0"/>
                  </a:moveTo>
                  <a:lnTo>
                    <a:pt x="533858" y="0"/>
                  </a:lnTo>
                </a:path>
              </a:pathLst>
            </a:custGeom>
            <a:ln w="81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418501" y="4485931"/>
              <a:ext cx="3214370" cy="528955"/>
            </a:xfrm>
            <a:custGeom>
              <a:avLst/>
              <a:gdLst/>
              <a:ahLst/>
              <a:cxnLst/>
              <a:rect l="l" t="t" r="r" b="b"/>
              <a:pathLst>
                <a:path w="3214370" h="528954">
                  <a:moveTo>
                    <a:pt x="64935" y="440855"/>
                  </a:moveTo>
                  <a:lnTo>
                    <a:pt x="36525" y="440855"/>
                  </a:lnTo>
                  <a:lnTo>
                    <a:pt x="36525" y="0"/>
                  </a:lnTo>
                  <a:lnTo>
                    <a:pt x="28409" y="0"/>
                  </a:lnTo>
                  <a:lnTo>
                    <a:pt x="28409" y="440855"/>
                  </a:lnTo>
                  <a:lnTo>
                    <a:pt x="0" y="440855"/>
                  </a:lnTo>
                  <a:lnTo>
                    <a:pt x="32473" y="505764"/>
                  </a:lnTo>
                  <a:lnTo>
                    <a:pt x="59524" y="451662"/>
                  </a:lnTo>
                  <a:lnTo>
                    <a:pt x="64935" y="440855"/>
                  </a:lnTo>
                  <a:close/>
                </a:path>
                <a:path w="3214370" h="528954">
                  <a:moveTo>
                    <a:pt x="3213976" y="463842"/>
                  </a:moveTo>
                  <a:lnTo>
                    <a:pt x="3185566" y="463842"/>
                  </a:lnTo>
                  <a:lnTo>
                    <a:pt x="3185566" y="22987"/>
                  </a:lnTo>
                  <a:lnTo>
                    <a:pt x="3177451" y="22987"/>
                  </a:lnTo>
                  <a:lnTo>
                    <a:pt x="3177451" y="463842"/>
                  </a:lnTo>
                  <a:lnTo>
                    <a:pt x="3149054" y="463842"/>
                  </a:lnTo>
                  <a:lnTo>
                    <a:pt x="3181515" y="528751"/>
                  </a:lnTo>
                  <a:lnTo>
                    <a:pt x="3208566" y="474662"/>
                  </a:lnTo>
                  <a:lnTo>
                    <a:pt x="3213976" y="4638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65979" y="3932825"/>
              <a:ext cx="64928" cy="216371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4048125" y="4291188"/>
              <a:ext cx="534035" cy="215265"/>
            </a:xfrm>
            <a:custGeom>
              <a:avLst/>
              <a:gdLst/>
              <a:ahLst/>
              <a:cxnLst/>
              <a:rect l="l" t="t" r="r" b="b"/>
              <a:pathLst>
                <a:path w="534035" h="215264">
                  <a:moveTo>
                    <a:pt x="533858" y="0"/>
                  </a:moveTo>
                  <a:lnTo>
                    <a:pt x="0" y="0"/>
                  </a:lnTo>
                  <a:lnTo>
                    <a:pt x="0" y="215018"/>
                  </a:lnTo>
                  <a:lnTo>
                    <a:pt x="533858" y="215018"/>
                  </a:lnTo>
                  <a:lnTo>
                    <a:pt x="533858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4048125" y="4317515"/>
            <a:ext cx="534035" cy="1752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950" spc="-50">
                <a:latin typeface="Franklin Gothic Medium"/>
                <a:cs typeface="Franklin Gothic Medium"/>
              </a:rPr>
              <a:t>Y</a:t>
            </a:r>
            <a:endParaRPr sz="950">
              <a:latin typeface="Franklin Gothic Medium"/>
              <a:cs typeface="Franklin Gothic Medium"/>
            </a:endParaRPr>
          </a:p>
        </p:txBody>
      </p:sp>
      <p:sp>
        <p:nvSpPr>
          <p:cNvPr id="42" name="object 42" descr=""/>
          <p:cNvSpPr/>
          <p:nvPr/>
        </p:nvSpPr>
        <p:spPr>
          <a:xfrm>
            <a:off x="1450975" y="4269552"/>
            <a:ext cx="534035" cy="216535"/>
          </a:xfrm>
          <a:custGeom>
            <a:avLst/>
            <a:gdLst/>
            <a:ahLst/>
            <a:cxnLst/>
            <a:rect l="l" t="t" r="r" b="b"/>
            <a:pathLst>
              <a:path w="534035" h="216535">
                <a:moveTo>
                  <a:pt x="533858" y="0"/>
                </a:moveTo>
                <a:lnTo>
                  <a:pt x="0" y="0"/>
                </a:lnTo>
                <a:lnTo>
                  <a:pt x="0" y="216369"/>
                </a:lnTo>
                <a:lnTo>
                  <a:pt x="533858" y="216369"/>
                </a:lnTo>
                <a:lnTo>
                  <a:pt x="533858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 txBox="1"/>
          <p:nvPr/>
        </p:nvSpPr>
        <p:spPr>
          <a:xfrm>
            <a:off x="1450975" y="4296179"/>
            <a:ext cx="534035" cy="1752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950" spc="-50">
                <a:latin typeface="Franklin Gothic Medium"/>
                <a:cs typeface="Franklin Gothic Medium"/>
              </a:rPr>
              <a:t>N</a:t>
            </a:r>
            <a:endParaRPr sz="950">
              <a:latin typeface="Franklin Gothic Medium"/>
              <a:cs typeface="Franklin Gothic Medium"/>
            </a:endParaRPr>
          </a:p>
        </p:txBody>
      </p:sp>
      <p:sp>
        <p:nvSpPr>
          <p:cNvPr id="44" name="object 44" descr=""/>
          <p:cNvSpPr/>
          <p:nvPr/>
        </p:nvSpPr>
        <p:spPr>
          <a:xfrm>
            <a:off x="1436546" y="4485921"/>
            <a:ext cx="534035" cy="0"/>
          </a:xfrm>
          <a:custGeom>
            <a:avLst/>
            <a:gdLst/>
            <a:ahLst/>
            <a:cxnLst/>
            <a:rect l="l" t="t" r="r" b="b"/>
            <a:pathLst>
              <a:path w="534035" h="0">
                <a:moveTo>
                  <a:pt x="0" y="0"/>
                </a:moveTo>
                <a:lnTo>
                  <a:pt x="533858" y="0"/>
                </a:lnTo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33019" rIns="0" bIns="0" rtlCol="0" vert="horz">
            <a:spAutoFit/>
          </a:bodyPr>
          <a:lstStyle/>
          <a:p>
            <a:pPr marL="3596004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130"/>
              <a:t> </a:t>
            </a:r>
            <a:r>
              <a:rPr dirty="0" spc="-50"/>
              <a:t>2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386332" y="2773763"/>
            <a:ext cx="7831455" cy="299466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339725" marR="254635" indent="-327660">
              <a:lnSpc>
                <a:spcPts val="2620"/>
              </a:lnSpc>
              <a:spcBef>
                <a:spcPts val="400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Write</a:t>
            </a:r>
            <a:r>
              <a:rPr dirty="0" sz="2400" spc="-8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an</a:t>
            </a:r>
            <a:r>
              <a:rPr dirty="0" sz="2400" spc="-7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algorithm</a:t>
            </a:r>
            <a:r>
              <a:rPr dirty="0" sz="2400" spc="-7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and</a:t>
            </a:r>
            <a:r>
              <a:rPr dirty="0" sz="2400" spc="-7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draw</a:t>
            </a:r>
            <a:r>
              <a:rPr dirty="0" sz="2400" spc="-8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a</a:t>
            </a:r>
            <a:r>
              <a:rPr dirty="0" sz="2400" spc="-7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flowchart</a:t>
            </a:r>
            <a:r>
              <a:rPr dirty="0" sz="2400" spc="-6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to</a:t>
            </a:r>
            <a:r>
              <a:rPr dirty="0" sz="2400" spc="-7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convert</a:t>
            </a:r>
            <a:r>
              <a:rPr dirty="0" sz="2400" spc="-7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25" b="1">
                <a:solidFill>
                  <a:srgbClr val="191B0E"/>
                </a:solidFill>
                <a:latin typeface="Times New Roman"/>
                <a:cs typeface="Times New Roman"/>
              </a:rPr>
              <a:t>the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length</a:t>
            </a:r>
            <a:r>
              <a:rPr dirty="0" sz="2400" spc="-5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in</a:t>
            </a:r>
            <a:r>
              <a:rPr dirty="0" sz="2400" spc="-5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feet</a:t>
            </a:r>
            <a:r>
              <a:rPr dirty="0" sz="2400" spc="-4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to</a:t>
            </a:r>
            <a:r>
              <a:rPr dirty="0" sz="2400" spc="-5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191B0E"/>
                </a:solidFill>
                <a:latin typeface="Times New Roman"/>
                <a:cs typeface="Times New Roman"/>
              </a:rPr>
              <a:t>centimeter.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95"/>
              </a:spcBef>
              <a:buClr>
                <a:srgbClr val="191B0E"/>
              </a:buClr>
              <a:buFont typeface="Franklin Gothic Medium"/>
              <a:buChar char="■"/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spc="-10" b="1">
                <a:solidFill>
                  <a:srgbClr val="191B0E"/>
                </a:solidFill>
                <a:latin typeface="Times New Roman"/>
                <a:cs typeface="Times New Roman"/>
              </a:rPr>
              <a:t>Pseudocode</a:t>
            </a: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415290" indent="-402590">
              <a:lnSpc>
                <a:spcPct val="100000"/>
              </a:lnSpc>
              <a:spcBef>
                <a:spcPts val="720"/>
              </a:spcBef>
              <a:buFont typeface="Franklin Gothic Medium"/>
              <a:buChar char="■"/>
              <a:tabLst>
                <a:tab pos="415290" algn="l"/>
              </a:tabLst>
            </a:pP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Input</a:t>
            </a:r>
            <a:r>
              <a:rPr dirty="0" sz="2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the</a:t>
            </a:r>
            <a:r>
              <a:rPr dirty="0" sz="2400" spc="-4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length</a:t>
            </a:r>
            <a:r>
              <a:rPr dirty="0" sz="2400" spc="-5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in</a:t>
            </a:r>
            <a:r>
              <a:rPr dirty="0" sz="2400" spc="-4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feet</a:t>
            </a:r>
            <a:r>
              <a:rPr dirty="0" sz="2400" spc="-4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(Lft)</a:t>
            </a:r>
            <a:endParaRPr sz="2400">
              <a:latin typeface="Times New Roman"/>
              <a:cs typeface="Times New Roman"/>
            </a:endParaRPr>
          </a:p>
          <a:p>
            <a:pPr marL="339725" indent="-327025">
              <a:lnSpc>
                <a:spcPct val="100000"/>
              </a:lnSpc>
              <a:spcBef>
                <a:spcPts val="720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Calculate</a:t>
            </a:r>
            <a:r>
              <a:rPr dirty="0" sz="2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the</a:t>
            </a:r>
            <a:r>
              <a:rPr dirty="0" sz="2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length</a:t>
            </a:r>
            <a:r>
              <a:rPr dirty="0" sz="2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in</a:t>
            </a:r>
            <a:r>
              <a:rPr dirty="0" sz="2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cm</a:t>
            </a:r>
            <a:r>
              <a:rPr dirty="0" sz="24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(Lcm)</a:t>
            </a:r>
            <a:r>
              <a:rPr dirty="0" sz="2400" spc="-5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by</a:t>
            </a:r>
            <a:r>
              <a:rPr dirty="0" sz="2400" spc="-5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multiplying</a:t>
            </a:r>
            <a:r>
              <a:rPr dirty="0" sz="2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LFT</a:t>
            </a:r>
            <a:r>
              <a:rPr dirty="0" sz="2400" spc="-9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with</a:t>
            </a:r>
            <a:r>
              <a:rPr dirty="0" sz="2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191B0E"/>
                </a:solidFill>
                <a:latin typeface="Times New Roman"/>
                <a:cs typeface="Times New Roman"/>
              </a:rPr>
              <a:t>30</a:t>
            </a:r>
            <a:endParaRPr sz="2400">
              <a:latin typeface="Times New Roman"/>
              <a:cs typeface="Times New Roman"/>
            </a:endParaRPr>
          </a:p>
          <a:p>
            <a:pPr marL="339725" indent="-327025">
              <a:lnSpc>
                <a:spcPct val="100000"/>
              </a:lnSpc>
              <a:spcBef>
                <a:spcPts val="720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Print</a:t>
            </a:r>
            <a:r>
              <a:rPr dirty="0" sz="2400" spc="-4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length</a:t>
            </a:r>
            <a:r>
              <a:rPr dirty="0" sz="2400" spc="-4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in</a:t>
            </a:r>
            <a:r>
              <a:rPr dirty="0" sz="2400" spc="-4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cm</a:t>
            </a:r>
            <a:r>
              <a:rPr dirty="0" sz="2400" spc="-5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20">
                <a:solidFill>
                  <a:srgbClr val="191B0E"/>
                </a:solidFill>
                <a:latin typeface="Times New Roman"/>
                <a:cs typeface="Times New Roman"/>
              </a:rPr>
              <a:t>(LCM)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33019" rIns="0" bIns="0" rtlCol="0" vert="horz">
            <a:spAutoFit/>
          </a:bodyPr>
          <a:lstStyle/>
          <a:p>
            <a:pPr marL="3596004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130"/>
              <a:t> </a:t>
            </a:r>
            <a:r>
              <a:rPr dirty="0" spc="-50"/>
              <a:t>2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386332" y="2679175"/>
            <a:ext cx="2440940" cy="970280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2400" spc="-10" b="1">
                <a:solidFill>
                  <a:srgbClr val="191B0E"/>
                </a:solidFill>
                <a:latin typeface="Times New Roman"/>
                <a:cs typeface="Times New Roman"/>
              </a:rPr>
              <a:t>Algorithm</a:t>
            </a:r>
            <a:endParaRPr sz="2400">
              <a:latin typeface="Times New Roman"/>
              <a:cs typeface="Times New Roman"/>
            </a:endParaRPr>
          </a:p>
          <a:p>
            <a:pPr marL="339725" indent="-327025">
              <a:lnSpc>
                <a:spcPct val="100000"/>
              </a:lnSpc>
              <a:spcBef>
                <a:spcPts val="840"/>
              </a:spcBef>
              <a:buFont typeface="Franklin Gothic Medium"/>
              <a:buChar char="■"/>
              <a:tabLst>
                <a:tab pos="339725" algn="l"/>
                <a:tab pos="1341120" algn="l"/>
              </a:tabLst>
            </a:pP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Step</a:t>
            </a:r>
            <a:r>
              <a:rPr dirty="0" sz="2400" spc="-4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191B0E"/>
                </a:solidFill>
                <a:latin typeface="Times New Roman"/>
                <a:cs typeface="Times New Roman"/>
              </a:rPr>
              <a:t>1: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	Input</a:t>
            </a:r>
            <a:r>
              <a:rPr dirty="0" sz="2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191B0E"/>
                </a:solidFill>
                <a:latin typeface="Times New Roman"/>
                <a:cs typeface="Times New Roman"/>
              </a:rPr>
              <a:t>Lft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386332" y="3624055"/>
            <a:ext cx="1203325" cy="964565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marL="339725" indent="-327025">
              <a:lnSpc>
                <a:spcPct val="100000"/>
              </a:lnSpc>
              <a:spcBef>
                <a:spcPts val="915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Step</a:t>
            </a:r>
            <a:r>
              <a:rPr dirty="0" sz="2400" spc="-4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191B0E"/>
                </a:solidFill>
                <a:latin typeface="Times New Roman"/>
                <a:cs typeface="Times New Roman"/>
              </a:rPr>
              <a:t>2:</a:t>
            </a:r>
            <a:endParaRPr sz="2400">
              <a:latin typeface="Times New Roman"/>
              <a:cs typeface="Times New Roman"/>
            </a:endParaRPr>
          </a:p>
          <a:p>
            <a:pPr marL="339725" indent="-327025">
              <a:lnSpc>
                <a:spcPct val="100000"/>
              </a:lnSpc>
              <a:spcBef>
                <a:spcPts val="815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Step</a:t>
            </a:r>
            <a:r>
              <a:rPr dirty="0" sz="2400" spc="-4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191B0E"/>
                </a:solidFill>
                <a:latin typeface="Times New Roman"/>
                <a:cs typeface="Times New Roman"/>
              </a:rPr>
              <a:t>3: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944622" y="3624055"/>
            <a:ext cx="2007235" cy="964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8299"/>
              </a:lnSpc>
              <a:spcBef>
                <a:spcPts val="100"/>
              </a:spcBef>
            </a:pP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Lcm</a:t>
            </a:r>
            <a:r>
              <a:rPr dirty="0" sz="2400" spc="-3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Symbol"/>
                <a:cs typeface="Symbol"/>
              </a:rPr>
              <a:t></a:t>
            </a:r>
            <a:r>
              <a:rPr dirty="0" sz="2400" spc="-3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Lft</a:t>
            </a:r>
            <a:r>
              <a:rPr dirty="0" sz="2400" spc="-2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x</a:t>
            </a:r>
            <a:r>
              <a:rPr dirty="0" sz="2400" spc="-1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191B0E"/>
                </a:solidFill>
                <a:latin typeface="Times New Roman"/>
                <a:cs typeface="Times New Roman"/>
              </a:rPr>
              <a:t>30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Print</a:t>
            </a:r>
            <a:r>
              <a:rPr dirty="0" sz="24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191B0E"/>
                </a:solidFill>
                <a:latin typeface="Times New Roman"/>
                <a:cs typeface="Times New Roman"/>
              </a:rPr>
              <a:t>Lcm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7282399" y="2859016"/>
            <a:ext cx="1047115" cy="320040"/>
            <a:chOff x="7282399" y="2859016"/>
            <a:chExt cx="1047115" cy="320040"/>
          </a:xfrm>
        </p:grpSpPr>
        <p:sp>
          <p:nvSpPr>
            <p:cNvPr id="7" name="object 7" descr=""/>
            <p:cNvSpPr/>
            <p:nvPr/>
          </p:nvSpPr>
          <p:spPr>
            <a:xfrm>
              <a:off x="7286527" y="2863143"/>
              <a:ext cx="1038860" cy="311785"/>
            </a:xfrm>
            <a:custGeom>
              <a:avLst/>
              <a:gdLst/>
              <a:ahLst/>
              <a:cxnLst/>
              <a:rect l="l" t="t" r="r" b="b"/>
              <a:pathLst>
                <a:path w="1038859" h="311785">
                  <a:moveTo>
                    <a:pt x="871590" y="0"/>
                  </a:moveTo>
                  <a:lnTo>
                    <a:pt x="167104" y="0"/>
                  </a:lnTo>
                  <a:lnTo>
                    <a:pt x="122680" y="5565"/>
                  </a:lnTo>
                  <a:lnTo>
                    <a:pt x="82763" y="21273"/>
                  </a:lnTo>
                  <a:lnTo>
                    <a:pt x="48943" y="45637"/>
                  </a:lnTo>
                  <a:lnTo>
                    <a:pt x="22814" y="77171"/>
                  </a:lnTo>
                  <a:lnTo>
                    <a:pt x="5969" y="114392"/>
                  </a:lnTo>
                  <a:lnTo>
                    <a:pt x="0" y="155813"/>
                  </a:lnTo>
                  <a:lnTo>
                    <a:pt x="5969" y="197235"/>
                  </a:lnTo>
                  <a:lnTo>
                    <a:pt x="22814" y="234456"/>
                  </a:lnTo>
                  <a:lnTo>
                    <a:pt x="48943" y="265990"/>
                  </a:lnTo>
                  <a:lnTo>
                    <a:pt x="82763" y="290354"/>
                  </a:lnTo>
                  <a:lnTo>
                    <a:pt x="122680" y="306061"/>
                  </a:lnTo>
                  <a:lnTo>
                    <a:pt x="167104" y="311627"/>
                  </a:lnTo>
                  <a:lnTo>
                    <a:pt x="871590" y="311627"/>
                  </a:lnTo>
                  <a:lnTo>
                    <a:pt x="916014" y="306061"/>
                  </a:lnTo>
                  <a:lnTo>
                    <a:pt x="955932" y="290354"/>
                  </a:lnTo>
                  <a:lnTo>
                    <a:pt x="989752" y="265990"/>
                  </a:lnTo>
                  <a:lnTo>
                    <a:pt x="1015881" y="234456"/>
                  </a:lnTo>
                  <a:lnTo>
                    <a:pt x="1032726" y="197235"/>
                  </a:lnTo>
                  <a:lnTo>
                    <a:pt x="1038696" y="155813"/>
                  </a:lnTo>
                  <a:lnTo>
                    <a:pt x="1032726" y="114392"/>
                  </a:lnTo>
                  <a:lnTo>
                    <a:pt x="1015881" y="77171"/>
                  </a:lnTo>
                  <a:lnTo>
                    <a:pt x="989752" y="45637"/>
                  </a:lnTo>
                  <a:lnTo>
                    <a:pt x="955932" y="21273"/>
                  </a:lnTo>
                  <a:lnTo>
                    <a:pt x="916014" y="5565"/>
                  </a:lnTo>
                  <a:lnTo>
                    <a:pt x="87159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286527" y="2863143"/>
              <a:ext cx="1038860" cy="311785"/>
            </a:xfrm>
            <a:custGeom>
              <a:avLst/>
              <a:gdLst/>
              <a:ahLst/>
              <a:cxnLst/>
              <a:rect l="l" t="t" r="r" b="b"/>
              <a:pathLst>
                <a:path w="1038859" h="311785">
                  <a:moveTo>
                    <a:pt x="167105" y="0"/>
                  </a:moveTo>
                  <a:lnTo>
                    <a:pt x="871590" y="0"/>
                  </a:lnTo>
                  <a:lnTo>
                    <a:pt x="916014" y="5565"/>
                  </a:lnTo>
                  <a:lnTo>
                    <a:pt x="955932" y="21273"/>
                  </a:lnTo>
                  <a:lnTo>
                    <a:pt x="989752" y="45636"/>
                  </a:lnTo>
                  <a:lnTo>
                    <a:pt x="1015881" y="77171"/>
                  </a:lnTo>
                  <a:lnTo>
                    <a:pt x="1032727" y="114392"/>
                  </a:lnTo>
                  <a:lnTo>
                    <a:pt x="1038696" y="155813"/>
                  </a:lnTo>
                  <a:lnTo>
                    <a:pt x="1032727" y="197234"/>
                  </a:lnTo>
                  <a:lnTo>
                    <a:pt x="1015881" y="234455"/>
                  </a:lnTo>
                  <a:lnTo>
                    <a:pt x="989752" y="265990"/>
                  </a:lnTo>
                  <a:lnTo>
                    <a:pt x="955932" y="290353"/>
                  </a:lnTo>
                  <a:lnTo>
                    <a:pt x="916014" y="306061"/>
                  </a:lnTo>
                  <a:lnTo>
                    <a:pt x="871590" y="311627"/>
                  </a:lnTo>
                  <a:lnTo>
                    <a:pt x="167105" y="311627"/>
                  </a:lnTo>
                  <a:lnTo>
                    <a:pt x="122681" y="306061"/>
                  </a:lnTo>
                  <a:lnTo>
                    <a:pt x="82763" y="290353"/>
                  </a:lnTo>
                  <a:lnTo>
                    <a:pt x="48943" y="265990"/>
                  </a:lnTo>
                  <a:lnTo>
                    <a:pt x="22814" y="234455"/>
                  </a:lnTo>
                  <a:lnTo>
                    <a:pt x="5969" y="197234"/>
                  </a:lnTo>
                  <a:lnTo>
                    <a:pt x="0" y="155813"/>
                  </a:lnTo>
                  <a:lnTo>
                    <a:pt x="5969" y="114392"/>
                  </a:lnTo>
                  <a:lnTo>
                    <a:pt x="22814" y="77171"/>
                  </a:lnTo>
                  <a:lnTo>
                    <a:pt x="48943" y="45636"/>
                  </a:lnTo>
                  <a:lnTo>
                    <a:pt x="82763" y="21273"/>
                  </a:lnTo>
                  <a:lnTo>
                    <a:pt x="122681" y="5565"/>
                  </a:lnTo>
                  <a:lnTo>
                    <a:pt x="167105" y="0"/>
                  </a:lnTo>
                  <a:close/>
                </a:path>
              </a:pathLst>
            </a:custGeom>
            <a:ln w="81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7400694" y="2936771"/>
            <a:ext cx="362585" cy="1752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50" spc="-10">
                <a:latin typeface="Franklin Gothic Medium"/>
                <a:cs typeface="Franklin Gothic Medium"/>
              </a:rPr>
              <a:t>START</a:t>
            </a:r>
            <a:endParaRPr sz="950">
              <a:latin typeface="Franklin Gothic Medium"/>
              <a:cs typeface="Franklin Gothic Medium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6641147" y="3174771"/>
            <a:ext cx="2293620" cy="715645"/>
            <a:chOff x="6641147" y="3174771"/>
            <a:chExt cx="2293620" cy="715645"/>
          </a:xfrm>
        </p:grpSpPr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73410" y="3174771"/>
              <a:ext cx="64928" cy="233719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6645274" y="3418771"/>
              <a:ext cx="2285365" cy="467995"/>
            </a:xfrm>
            <a:custGeom>
              <a:avLst/>
              <a:gdLst/>
              <a:ahLst/>
              <a:cxnLst/>
              <a:rect l="l" t="t" r="r" b="b"/>
              <a:pathLst>
                <a:path w="2285365" h="467995">
                  <a:moveTo>
                    <a:pt x="2285131" y="0"/>
                  </a:moveTo>
                  <a:lnTo>
                    <a:pt x="457026" y="0"/>
                  </a:lnTo>
                  <a:lnTo>
                    <a:pt x="0" y="467441"/>
                  </a:lnTo>
                  <a:lnTo>
                    <a:pt x="1828105" y="467441"/>
                  </a:lnTo>
                  <a:lnTo>
                    <a:pt x="2285131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645274" y="3418771"/>
              <a:ext cx="2285365" cy="467995"/>
            </a:xfrm>
            <a:custGeom>
              <a:avLst/>
              <a:gdLst/>
              <a:ahLst/>
              <a:cxnLst/>
              <a:rect l="l" t="t" r="r" b="b"/>
              <a:pathLst>
                <a:path w="2285365" h="467995">
                  <a:moveTo>
                    <a:pt x="0" y="467440"/>
                  </a:moveTo>
                  <a:lnTo>
                    <a:pt x="457026" y="0"/>
                  </a:lnTo>
                  <a:lnTo>
                    <a:pt x="2285131" y="0"/>
                  </a:lnTo>
                  <a:lnTo>
                    <a:pt x="1828105" y="467440"/>
                  </a:lnTo>
                  <a:lnTo>
                    <a:pt x="0" y="467440"/>
                  </a:lnTo>
                  <a:close/>
                </a:path>
              </a:pathLst>
            </a:custGeom>
            <a:ln w="81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7634408" y="3445787"/>
            <a:ext cx="305435" cy="32766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79375" marR="5080" indent="-67310">
              <a:lnSpc>
                <a:spcPct val="105300"/>
              </a:lnSpc>
              <a:spcBef>
                <a:spcPts val="70"/>
              </a:spcBef>
            </a:pPr>
            <a:r>
              <a:rPr dirty="0" sz="950" spc="-10">
                <a:latin typeface="Franklin Gothic Medium"/>
                <a:cs typeface="Franklin Gothic Medium"/>
              </a:rPr>
              <a:t>Input </a:t>
            </a:r>
            <a:r>
              <a:rPr dirty="0" sz="950" spc="-25">
                <a:latin typeface="Franklin Gothic Medium"/>
                <a:cs typeface="Franklin Gothic Medium"/>
              </a:rPr>
              <a:t>Lft</a:t>
            </a:r>
            <a:endParaRPr sz="950">
              <a:latin typeface="Franklin Gothic Medium"/>
              <a:cs typeface="Franklin Gothic Medium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019638" y="4201086"/>
            <a:ext cx="1544955" cy="311785"/>
          </a:xfrm>
          <a:prstGeom prst="rect">
            <a:avLst/>
          </a:prstGeom>
          <a:solidFill>
            <a:srgbClr val="CCFFFF"/>
          </a:solidFill>
          <a:ln w="8113">
            <a:solidFill>
              <a:srgbClr val="000000"/>
            </a:solidFill>
          </a:ln>
        </p:spPr>
        <p:txBody>
          <a:bodyPr wrap="square" lIns="0" tIns="37465" rIns="0" bIns="0" rtlCol="0" vert="horz">
            <a:spAutoFit/>
          </a:bodyPr>
          <a:lstStyle/>
          <a:p>
            <a:pPr marL="318770">
              <a:lnSpc>
                <a:spcPct val="100000"/>
              </a:lnSpc>
              <a:spcBef>
                <a:spcPts val="295"/>
              </a:spcBef>
            </a:pPr>
            <a:r>
              <a:rPr dirty="0" sz="950">
                <a:latin typeface="Franklin Gothic Medium"/>
                <a:cs typeface="Franklin Gothic Medium"/>
              </a:rPr>
              <a:t>Lcm</a:t>
            </a:r>
            <a:r>
              <a:rPr dirty="0" sz="950" spc="50">
                <a:latin typeface="Franklin Gothic Medium"/>
                <a:cs typeface="Franklin Gothic Medium"/>
              </a:rPr>
              <a:t> </a:t>
            </a:r>
            <a:r>
              <a:rPr dirty="0" sz="1500">
                <a:latin typeface="Symbol"/>
                <a:cs typeface="Symbol"/>
              </a:rPr>
              <a:t></a:t>
            </a:r>
            <a:r>
              <a:rPr dirty="0" sz="1500" spc="-65">
                <a:latin typeface="Times New Roman"/>
                <a:cs typeface="Times New Roman"/>
              </a:rPr>
              <a:t> </a:t>
            </a:r>
            <a:r>
              <a:rPr dirty="0" sz="950">
                <a:latin typeface="Franklin Gothic Medium"/>
                <a:cs typeface="Franklin Gothic Medium"/>
              </a:rPr>
              <a:t>Lft</a:t>
            </a:r>
            <a:r>
              <a:rPr dirty="0" sz="950" spc="55">
                <a:latin typeface="Franklin Gothic Medium"/>
                <a:cs typeface="Franklin Gothic Medium"/>
              </a:rPr>
              <a:t> </a:t>
            </a:r>
            <a:r>
              <a:rPr dirty="0" sz="950">
                <a:latin typeface="Franklin Gothic Medium"/>
                <a:cs typeface="Franklin Gothic Medium"/>
              </a:rPr>
              <a:t>x</a:t>
            </a:r>
            <a:r>
              <a:rPr dirty="0" sz="950" spc="50">
                <a:latin typeface="Franklin Gothic Medium"/>
                <a:cs typeface="Franklin Gothic Medium"/>
              </a:rPr>
              <a:t> </a:t>
            </a:r>
            <a:r>
              <a:rPr dirty="0" sz="950" spc="-25">
                <a:latin typeface="Franklin Gothic Medium"/>
                <a:cs typeface="Franklin Gothic Medium"/>
              </a:rPr>
              <a:t>30</a:t>
            </a:r>
            <a:endParaRPr sz="950">
              <a:latin typeface="Franklin Gothic Medium"/>
              <a:cs typeface="Franklin Gothic Medium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7755378" y="3886212"/>
            <a:ext cx="65405" cy="311785"/>
          </a:xfrm>
          <a:custGeom>
            <a:avLst/>
            <a:gdLst/>
            <a:ahLst/>
            <a:cxnLst/>
            <a:rect l="l" t="t" r="r" b="b"/>
            <a:pathLst>
              <a:path w="65404" h="311785">
                <a:moveTo>
                  <a:pt x="28406" y="246715"/>
                </a:moveTo>
                <a:lnTo>
                  <a:pt x="0" y="246715"/>
                </a:lnTo>
                <a:lnTo>
                  <a:pt x="32465" y="311626"/>
                </a:lnTo>
                <a:lnTo>
                  <a:pt x="59517" y="257534"/>
                </a:lnTo>
                <a:lnTo>
                  <a:pt x="28406" y="257534"/>
                </a:lnTo>
                <a:lnTo>
                  <a:pt x="28406" y="246715"/>
                </a:lnTo>
                <a:close/>
              </a:path>
              <a:path w="65404" h="311785">
                <a:moveTo>
                  <a:pt x="36522" y="0"/>
                </a:moveTo>
                <a:lnTo>
                  <a:pt x="28406" y="0"/>
                </a:lnTo>
                <a:lnTo>
                  <a:pt x="28406" y="257534"/>
                </a:lnTo>
                <a:lnTo>
                  <a:pt x="36522" y="257534"/>
                </a:lnTo>
                <a:lnTo>
                  <a:pt x="36522" y="0"/>
                </a:lnTo>
                <a:close/>
              </a:path>
              <a:path w="65404" h="311785">
                <a:moveTo>
                  <a:pt x="64928" y="246715"/>
                </a:moveTo>
                <a:lnTo>
                  <a:pt x="36522" y="246715"/>
                </a:lnTo>
                <a:lnTo>
                  <a:pt x="36522" y="257534"/>
                </a:lnTo>
                <a:lnTo>
                  <a:pt x="59517" y="257534"/>
                </a:lnTo>
                <a:lnTo>
                  <a:pt x="64928" y="2467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" name="object 17" descr=""/>
          <p:cNvGrpSpPr/>
          <p:nvPr/>
        </p:nvGrpSpPr>
        <p:grpSpPr>
          <a:xfrm>
            <a:off x="6903707" y="4816966"/>
            <a:ext cx="1774189" cy="553720"/>
            <a:chOff x="6903707" y="4816966"/>
            <a:chExt cx="1774189" cy="553720"/>
          </a:xfrm>
        </p:grpSpPr>
        <p:sp>
          <p:nvSpPr>
            <p:cNvPr id="18" name="object 18" descr=""/>
            <p:cNvSpPr/>
            <p:nvPr/>
          </p:nvSpPr>
          <p:spPr>
            <a:xfrm>
              <a:off x="6907834" y="4821093"/>
              <a:ext cx="1765935" cy="545465"/>
            </a:xfrm>
            <a:custGeom>
              <a:avLst/>
              <a:gdLst/>
              <a:ahLst/>
              <a:cxnLst/>
              <a:rect l="l" t="t" r="r" b="b"/>
              <a:pathLst>
                <a:path w="1765934" h="545464">
                  <a:moveTo>
                    <a:pt x="1471486" y="0"/>
                  </a:moveTo>
                  <a:lnTo>
                    <a:pt x="294297" y="0"/>
                  </a:lnTo>
                  <a:lnTo>
                    <a:pt x="0" y="272674"/>
                  </a:lnTo>
                  <a:lnTo>
                    <a:pt x="294297" y="545348"/>
                  </a:lnTo>
                  <a:lnTo>
                    <a:pt x="1471486" y="545348"/>
                  </a:lnTo>
                  <a:lnTo>
                    <a:pt x="1519223" y="541779"/>
                  </a:lnTo>
                  <a:lnTo>
                    <a:pt x="1564507" y="531447"/>
                  </a:lnTo>
                  <a:lnTo>
                    <a:pt x="1606733" y="514912"/>
                  </a:lnTo>
                  <a:lnTo>
                    <a:pt x="1645294" y="492737"/>
                  </a:lnTo>
                  <a:lnTo>
                    <a:pt x="1679586" y="465483"/>
                  </a:lnTo>
                  <a:lnTo>
                    <a:pt x="1709001" y="433711"/>
                  </a:lnTo>
                  <a:lnTo>
                    <a:pt x="1732934" y="397983"/>
                  </a:lnTo>
                  <a:lnTo>
                    <a:pt x="1750780" y="358860"/>
                  </a:lnTo>
                  <a:lnTo>
                    <a:pt x="1761932" y="316903"/>
                  </a:lnTo>
                  <a:lnTo>
                    <a:pt x="1765783" y="272674"/>
                  </a:lnTo>
                  <a:lnTo>
                    <a:pt x="1761932" y="228445"/>
                  </a:lnTo>
                  <a:lnTo>
                    <a:pt x="1750780" y="186488"/>
                  </a:lnTo>
                  <a:lnTo>
                    <a:pt x="1732934" y="147365"/>
                  </a:lnTo>
                  <a:lnTo>
                    <a:pt x="1709001" y="111636"/>
                  </a:lnTo>
                  <a:lnTo>
                    <a:pt x="1679586" y="79864"/>
                  </a:lnTo>
                  <a:lnTo>
                    <a:pt x="1645294" y="52610"/>
                  </a:lnTo>
                  <a:lnTo>
                    <a:pt x="1606733" y="30435"/>
                  </a:lnTo>
                  <a:lnTo>
                    <a:pt x="1564507" y="13901"/>
                  </a:lnTo>
                  <a:lnTo>
                    <a:pt x="1519223" y="3568"/>
                  </a:lnTo>
                  <a:lnTo>
                    <a:pt x="1471486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907834" y="4821093"/>
              <a:ext cx="1765935" cy="545465"/>
            </a:xfrm>
            <a:custGeom>
              <a:avLst/>
              <a:gdLst/>
              <a:ahLst/>
              <a:cxnLst/>
              <a:rect l="l" t="t" r="r" b="b"/>
              <a:pathLst>
                <a:path w="1765934" h="545464">
                  <a:moveTo>
                    <a:pt x="0" y="272673"/>
                  </a:moveTo>
                  <a:lnTo>
                    <a:pt x="294297" y="0"/>
                  </a:lnTo>
                  <a:lnTo>
                    <a:pt x="1471485" y="0"/>
                  </a:lnTo>
                  <a:lnTo>
                    <a:pt x="1519222" y="3568"/>
                  </a:lnTo>
                  <a:lnTo>
                    <a:pt x="1564506" y="13901"/>
                  </a:lnTo>
                  <a:lnTo>
                    <a:pt x="1606732" y="30435"/>
                  </a:lnTo>
                  <a:lnTo>
                    <a:pt x="1645294" y="52610"/>
                  </a:lnTo>
                  <a:lnTo>
                    <a:pt x="1679585" y="79864"/>
                  </a:lnTo>
                  <a:lnTo>
                    <a:pt x="1709000" y="111636"/>
                  </a:lnTo>
                  <a:lnTo>
                    <a:pt x="1732934" y="147364"/>
                  </a:lnTo>
                  <a:lnTo>
                    <a:pt x="1750779" y="186487"/>
                  </a:lnTo>
                  <a:lnTo>
                    <a:pt x="1761931" y="228444"/>
                  </a:lnTo>
                  <a:lnTo>
                    <a:pt x="1765783" y="272673"/>
                  </a:lnTo>
                  <a:lnTo>
                    <a:pt x="1761931" y="316903"/>
                  </a:lnTo>
                  <a:lnTo>
                    <a:pt x="1750779" y="358860"/>
                  </a:lnTo>
                  <a:lnTo>
                    <a:pt x="1732934" y="397983"/>
                  </a:lnTo>
                  <a:lnTo>
                    <a:pt x="1709000" y="433711"/>
                  </a:lnTo>
                  <a:lnTo>
                    <a:pt x="1679585" y="465483"/>
                  </a:lnTo>
                  <a:lnTo>
                    <a:pt x="1645294" y="492737"/>
                  </a:lnTo>
                  <a:lnTo>
                    <a:pt x="1606732" y="514912"/>
                  </a:lnTo>
                  <a:lnTo>
                    <a:pt x="1564506" y="531446"/>
                  </a:lnTo>
                  <a:lnTo>
                    <a:pt x="1519222" y="541779"/>
                  </a:lnTo>
                  <a:lnTo>
                    <a:pt x="1471485" y="545347"/>
                  </a:lnTo>
                  <a:lnTo>
                    <a:pt x="294297" y="545347"/>
                  </a:lnTo>
                  <a:lnTo>
                    <a:pt x="0" y="272673"/>
                  </a:lnTo>
                  <a:close/>
                </a:path>
              </a:pathLst>
            </a:custGeom>
            <a:ln w="81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7649522" y="4847867"/>
            <a:ext cx="281305" cy="32766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26034" marR="5080" indent="-13970">
              <a:lnSpc>
                <a:spcPct val="105300"/>
              </a:lnSpc>
              <a:spcBef>
                <a:spcPts val="70"/>
              </a:spcBef>
            </a:pPr>
            <a:r>
              <a:rPr dirty="0" sz="950" spc="-10">
                <a:latin typeface="Franklin Gothic Medium"/>
                <a:cs typeface="Franklin Gothic Medium"/>
              </a:rPr>
              <a:t>Print </a:t>
            </a:r>
            <a:r>
              <a:rPr dirty="0" sz="950" spc="-25">
                <a:latin typeface="Franklin Gothic Medium"/>
                <a:cs typeface="Franklin Gothic Medium"/>
              </a:rPr>
              <a:t>Lcm</a:t>
            </a:r>
            <a:endParaRPr sz="950">
              <a:latin typeface="Franklin Gothic Medium"/>
              <a:cs typeface="Franklin Gothic Medium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7250661" y="5663662"/>
            <a:ext cx="1047115" cy="330200"/>
            <a:chOff x="7250661" y="5663662"/>
            <a:chExt cx="1047115" cy="330200"/>
          </a:xfrm>
        </p:grpSpPr>
        <p:sp>
          <p:nvSpPr>
            <p:cNvPr id="22" name="object 22" descr=""/>
            <p:cNvSpPr/>
            <p:nvPr/>
          </p:nvSpPr>
          <p:spPr>
            <a:xfrm>
              <a:off x="7254788" y="5667790"/>
              <a:ext cx="1038860" cy="321945"/>
            </a:xfrm>
            <a:custGeom>
              <a:avLst/>
              <a:gdLst/>
              <a:ahLst/>
              <a:cxnLst/>
              <a:rect l="l" t="t" r="r" b="b"/>
              <a:pathLst>
                <a:path w="1038859" h="321945">
                  <a:moveTo>
                    <a:pt x="871592" y="0"/>
                  </a:moveTo>
                  <a:lnTo>
                    <a:pt x="167105" y="0"/>
                  </a:lnTo>
                  <a:lnTo>
                    <a:pt x="122682" y="5749"/>
                  </a:lnTo>
                  <a:lnTo>
                    <a:pt x="82764" y="21974"/>
                  </a:lnTo>
                  <a:lnTo>
                    <a:pt x="48944" y="47141"/>
                  </a:lnTo>
                  <a:lnTo>
                    <a:pt x="22814" y="79716"/>
                  </a:lnTo>
                  <a:lnTo>
                    <a:pt x="5969" y="118164"/>
                  </a:lnTo>
                  <a:lnTo>
                    <a:pt x="0" y="160952"/>
                  </a:lnTo>
                  <a:lnTo>
                    <a:pt x="5969" y="203740"/>
                  </a:lnTo>
                  <a:lnTo>
                    <a:pt x="22814" y="242188"/>
                  </a:lnTo>
                  <a:lnTo>
                    <a:pt x="48944" y="274763"/>
                  </a:lnTo>
                  <a:lnTo>
                    <a:pt x="82764" y="299930"/>
                  </a:lnTo>
                  <a:lnTo>
                    <a:pt x="122682" y="316156"/>
                  </a:lnTo>
                  <a:lnTo>
                    <a:pt x="167105" y="321905"/>
                  </a:lnTo>
                  <a:lnTo>
                    <a:pt x="871592" y="321905"/>
                  </a:lnTo>
                  <a:lnTo>
                    <a:pt x="916015" y="316156"/>
                  </a:lnTo>
                  <a:lnTo>
                    <a:pt x="955932" y="299930"/>
                  </a:lnTo>
                  <a:lnTo>
                    <a:pt x="989752" y="274763"/>
                  </a:lnTo>
                  <a:lnTo>
                    <a:pt x="1015881" y="242188"/>
                  </a:lnTo>
                  <a:lnTo>
                    <a:pt x="1032727" y="203740"/>
                  </a:lnTo>
                  <a:lnTo>
                    <a:pt x="1038696" y="160952"/>
                  </a:lnTo>
                  <a:lnTo>
                    <a:pt x="1032727" y="118164"/>
                  </a:lnTo>
                  <a:lnTo>
                    <a:pt x="1015881" y="79716"/>
                  </a:lnTo>
                  <a:lnTo>
                    <a:pt x="989752" y="47141"/>
                  </a:lnTo>
                  <a:lnTo>
                    <a:pt x="955932" y="21974"/>
                  </a:lnTo>
                  <a:lnTo>
                    <a:pt x="916015" y="5749"/>
                  </a:lnTo>
                  <a:lnTo>
                    <a:pt x="871592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254788" y="5667790"/>
              <a:ext cx="1038860" cy="321945"/>
            </a:xfrm>
            <a:custGeom>
              <a:avLst/>
              <a:gdLst/>
              <a:ahLst/>
              <a:cxnLst/>
              <a:rect l="l" t="t" r="r" b="b"/>
              <a:pathLst>
                <a:path w="1038859" h="321945">
                  <a:moveTo>
                    <a:pt x="167105" y="0"/>
                  </a:moveTo>
                  <a:lnTo>
                    <a:pt x="871590" y="0"/>
                  </a:lnTo>
                  <a:lnTo>
                    <a:pt x="916014" y="5749"/>
                  </a:lnTo>
                  <a:lnTo>
                    <a:pt x="955932" y="21974"/>
                  </a:lnTo>
                  <a:lnTo>
                    <a:pt x="989752" y="47142"/>
                  </a:lnTo>
                  <a:lnTo>
                    <a:pt x="1015881" y="79717"/>
                  </a:lnTo>
                  <a:lnTo>
                    <a:pt x="1032727" y="118165"/>
                  </a:lnTo>
                  <a:lnTo>
                    <a:pt x="1038696" y="160953"/>
                  </a:lnTo>
                  <a:lnTo>
                    <a:pt x="1032727" y="203740"/>
                  </a:lnTo>
                  <a:lnTo>
                    <a:pt x="1015881" y="242189"/>
                  </a:lnTo>
                  <a:lnTo>
                    <a:pt x="989752" y="274764"/>
                  </a:lnTo>
                  <a:lnTo>
                    <a:pt x="955932" y="299931"/>
                  </a:lnTo>
                  <a:lnTo>
                    <a:pt x="916014" y="316156"/>
                  </a:lnTo>
                  <a:lnTo>
                    <a:pt x="871590" y="321906"/>
                  </a:lnTo>
                  <a:lnTo>
                    <a:pt x="167105" y="321906"/>
                  </a:lnTo>
                  <a:lnTo>
                    <a:pt x="122681" y="316156"/>
                  </a:lnTo>
                  <a:lnTo>
                    <a:pt x="82763" y="299931"/>
                  </a:lnTo>
                  <a:lnTo>
                    <a:pt x="48943" y="274764"/>
                  </a:lnTo>
                  <a:lnTo>
                    <a:pt x="22814" y="242189"/>
                  </a:lnTo>
                  <a:lnTo>
                    <a:pt x="5969" y="203740"/>
                  </a:lnTo>
                  <a:lnTo>
                    <a:pt x="0" y="160953"/>
                  </a:lnTo>
                  <a:lnTo>
                    <a:pt x="5969" y="118165"/>
                  </a:lnTo>
                  <a:lnTo>
                    <a:pt x="22814" y="79717"/>
                  </a:lnTo>
                  <a:lnTo>
                    <a:pt x="48943" y="47142"/>
                  </a:lnTo>
                  <a:lnTo>
                    <a:pt x="82763" y="21974"/>
                  </a:lnTo>
                  <a:lnTo>
                    <a:pt x="122681" y="5749"/>
                  </a:lnTo>
                  <a:lnTo>
                    <a:pt x="167105" y="0"/>
                  </a:lnTo>
                  <a:close/>
                </a:path>
              </a:pathLst>
            </a:custGeom>
            <a:ln w="81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7617889" y="5740931"/>
            <a:ext cx="310515" cy="1752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50" spc="-20">
                <a:latin typeface="Franklin Gothic Medium"/>
                <a:cs typeface="Franklin Gothic Medium"/>
              </a:rPr>
              <a:t>STOP</a:t>
            </a:r>
            <a:endParaRPr sz="950">
              <a:latin typeface="Franklin Gothic Medium"/>
              <a:cs typeface="Franklin Gothic Medium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7755370" y="4509477"/>
            <a:ext cx="65405" cy="1169035"/>
          </a:xfrm>
          <a:custGeom>
            <a:avLst/>
            <a:gdLst/>
            <a:ahLst/>
            <a:cxnLst/>
            <a:rect l="l" t="t" r="r" b="b"/>
            <a:pathLst>
              <a:path w="65404" h="1169035">
                <a:moveTo>
                  <a:pt x="64935" y="1103680"/>
                </a:moveTo>
                <a:lnTo>
                  <a:pt x="36525" y="1103680"/>
                </a:lnTo>
                <a:lnTo>
                  <a:pt x="36525" y="856970"/>
                </a:lnTo>
                <a:lnTo>
                  <a:pt x="28409" y="856970"/>
                </a:lnTo>
                <a:lnTo>
                  <a:pt x="28409" y="1103680"/>
                </a:lnTo>
                <a:lnTo>
                  <a:pt x="0" y="1103680"/>
                </a:lnTo>
                <a:lnTo>
                  <a:pt x="32473" y="1168590"/>
                </a:lnTo>
                <a:lnTo>
                  <a:pt x="59524" y="1114501"/>
                </a:lnTo>
                <a:lnTo>
                  <a:pt x="64935" y="1103680"/>
                </a:lnTo>
                <a:close/>
              </a:path>
              <a:path w="65404" h="1169035">
                <a:moveTo>
                  <a:pt x="64935" y="246710"/>
                </a:moveTo>
                <a:lnTo>
                  <a:pt x="36525" y="246710"/>
                </a:lnTo>
                <a:lnTo>
                  <a:pt x="36525" y="0"/>
                </a:lnTo>
                <a:lnTo>
                  <a:pt x="28409" y="0"/>
                </a:lnTo>
                <a:lnTo>
                  <a:pt x="28409" y="246710"/>
                </a:lnTo>
                <a:lnTo>
                  <a:pt x="0" y="246710"/>
                </a:lnTo>
                <a:lnTo>
                  <a:pt x="32473" y="311619"/>
                </a:lnTo>
                <a:lnTo>
                  <a:pt x="59524" y="257530"/>
                </a:lnTo>
                <a:lnTo>
                  <a:pt x="64935" y="2467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7056775" y="2242380"/>
            <a:ext cx="116268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latin typeface="Times New Roman"/>
                <a:cs typeface="Times New Roman"/>
              </a:rPr>
              <a:t>Flowchart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33019" rIns="0" bIns="0" rtlCol="0" vert="horz">
            <a:spAutoFit/>
          </a:bodyPr>
          <a:lstStyle/>
          <a:p>
            <a:pPr marL="3596004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130"/>
              <a:t> </a:t>
            </a:r>
            <a:r>
              <a:rPr dirty="0" spc="-50"/>
              <a:t>3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386332" y="2209882"/>
            <a:ext cx="8006715" cy="3082925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339725" marR="5080">
              <a:lnSpc>
                <a:spcPts val="2690"/>
              </a:lnSpc>
              <a:spcBef>
                <a:spcPts val="345"/>
              </a:spcBef>
            </a:pP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Write</a:t>
            </a:r>
            <a:r>
              <a:rPr dirty="0" sz="2400" spc="-8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an</a:t>
            </a:r>
            <a:r>
              <a:rPr dirty="0" sz="2400" spc="-7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algorithm</a:t>
            </a:r>
            <a:r>
              <a:rPr dirty="0" sz="2400" spc="-8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and</a:t>
            </a:r>
            <a:r>
              <a:rPr dirty="0" sz="2400" spc="-7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draw</a:t>
            </a:r>
            <a:r>
              <a:rPr dirty="0" sz="2400" spc="-8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a</a:t>
            </a:r>
            <a:r>
              <a:rPr dirty="0" sz="2400" spc="-8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flowchart</a:t>
            </a:r>
            <a:r>
              <a:rPr dirty="0" sz="2400" spc="-7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that</a:t>
            </a:r>
            <a:r>
              <a:rPr dirty="0" sz="2400" spc="-6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will</a:t>
            </a:r>
            <a:r>
              <a:rPr dirty="0" sz="2400" spc="-8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read</a:t>
            </a:r>
            <a:r>
              <a:rPr dirty="0" sz="2400" spc="-7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25" b="1">
                <a:solidFill>
                  <a:srgbClr val="191B0E"/>
                </a:solidFill>
                <a:latin typeface="Times New Roman"/>
                <a:cs typeface="Times New Roman"/>
              </a:rPr>
              <a:t>the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two</a:t>
            </a:r>
            <a:r>
              <a:rPr dirty="0" sz="2400" spc="-6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sides</a:t>
            </a:r>
            <a:r>
              <a:rPr dirty="0" sz="2400" spc="-6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of</a:t>
            </a:r>
            <a:r>
              <a:rPr dirty="0" sz="2400" spc="-4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a</a:t>
            </a:r>
            <a:r>
              <a:rPr dirty="0" sz="2400" spc="-6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191B0E"/>
                </a:solidFill>
                <a:latin typeface="Times New Roman"/>
                <a:cs typeface="Times New Roman"/>
              </a:rPr>
              <a:t>rectangle</a:t>
            </a:r>
            <a:r>
              <a:rPr dirty="0" sz="2400" spc="-5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and</a:t>
            </a:r>
            <a:r>
              <a:rPr dirty="0" sz="2400" spc="-5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calculate</a:t>
            </a:r>
            <a:r>
              <a:rPr dirty="0" sz="2400" spc="-5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its</a:t>
            </a:r>
            <a:r>
              <a:rPr dirty="0" sz="2400" spc="-6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191B0E"/>
                </a:solidFill>
                <a:latin typeface="Times New Roman"/>
                <a:cs typeface="Times New Roman"/>
              </a:rPr>
              <a:t>area.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14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spc="-10" b="1">
                <a:solidFill>
                  <a:srgbClr val="191B0E"/>
                </a:solidFill>
                <a:latin typeface="Times New Roman"/>
                <a:cs typeface="Times New Roman"/>
              </a:rPr>
              <a:t>Pseudocode</a:t>
            </a:r>
            <a:endParaRPr sz="2400">
              <a:latin typeface="Times New Roman"/>
              <a:cs typeface="Times New Roman"/>
            </a:endParaRPr>
          </a:p>
          <a:p>
            <a:pPr marL="339725" indent="-327025">
              <a:lnSpc>
                <a:spcPct val="100000"/>
              </a:lnSpc>
              <a:spcBef>
                <a:spcPts val="820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Input</a:t>
            </a:r>
            <a:r>
              <a:rPr dirty="0" sz="2400" spc="-5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the</a:t>
            </a:r>
            <a:r>
              <a:rPr dirty="0" sz="2400" spc="-4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width</a:t>
            </a:r>
            <a:r>
              <a:rPr dirty="0" sz="2400" spc="-4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(W)</a:t>
            </a:r>
            <a:r>
              <a:rPr dirty="0" sz="2400" spc="-3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and</a:t>
            </a:r>
            <a:r>
              <a:rPr dirty="0" sz="2400" spc="-4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Length</a:t>
            </a:r>
            <a:r>
              <a:rPr dirty="0" sz="2400" spc="-4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(L)</a:t>
            </a:r>
            <a:r>
              <a:rPr dirty="0" sz="2400" spc="-3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of</a:t>
            </a:r>
            <a:r>
              <a:rPr dirty="0" sz="2400" spc="-4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a</a:t>
            </a:r>
            <a:r>
              <a:rPr dirty="0" sz="2400" spc="-4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rectangle</a:t>
            </a:r>
            <a:endParaRPr sz="2400">
              <a:latin typeface="Times New Roman"/>
              <a:cs typeface="Times New Roman"/>
            </a:endParaRPr>
          </a:p>
          <a:p>
            <a:pPr marL="339725" indent="-327025">
              <a:lnSpc>
                <a:spcPct val="100000"/>
              </a:lnSpc>
              <a:spcBef>
                <a:spcPts val="815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Calculate</a:t>
            </a:r>
            <a:r>
              <a:rPr dirty="0" sz="24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the</a:t>
            </a:r>
            <a:r>
              <a:rPr dirty="0" sz="2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area</a:t>
            </a:r>
            <a:r>
              <a:rPr dirty="0" sz="2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(A)</a:t>
            </a:r>
            <a:r>
              <a:rPr dirty="0" sz="2400" spc="-5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by</a:t>
            </a:r>
            <a:r>
              <a:rPr dirty="0" sz="2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multiplying</a:t>
            </a:r>
            <a:r>
              <a:rPr dirty="0" sz="24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L</a:t>
            </a:r>
            <a:r>
              <a:rPr dirty="0" sz="2400" spc="-14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with</a:t>
            </a:r>
            <a:r>
              <a:rPr dirty="0" sz="2400" spc="-9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50">
                <a:solidFill>
                  <a:srgbClr val="191B0E"/>
                </a:solidFill>
                <a:latin typeface="Times New Roman"/>
                <a:cs typeface="Times New Roman"/>
              </a:rPr>
              <a:t>W</a:t>
            </a:r>
            <a:endParaRPr sz="2400">
              <a:latin typeface="Times New Roman"/>
              <a:cs typeface="Times New Roman"/>
            </a:endParaRPr>
          </a:p>
          <a:p>
            <a:pPr marL="339725" indent="-327025">
              <a:lnSpc>
                <a:spcPct val="100000"/>
              </a:lnSpc>
              <a:spcBef>
                <a:spcPts val="815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2400" spc="-20">
                <a:solidFill>
                  <a:srgbClr val="191B0E"/>
                </a:solidFill>
                <a:latin typeface="Times New Roman"/>
                <a:cs typeface="Times New Roman"/>
              </a:rPr>
              <a:t>Print</a:t>
            </a:r>
            <a:r>
              <a:rPr dirty="0" sz="2400" spc="-10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50">
                <a:solidFill>
                  <a:srgbClr val="191B0E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33019" rIns="0" bIns="0" rtlCol="0" vert="horz">
            <a:spAutoFit/>
          </a:bodyPr>
          <a:lstStyle/>
          <a:p>
            <a:pPr marL="6616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130"/>
              <a:t> </a:t>
            </a:r>
            <a:r>
              <a:rPr dirty="0" spc="-50"/>
              <a:t>3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23616" y="2354561"/>
            <a:ext cx="1560830" cy="2095500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z="2700" spc="-10" b="1">
                <a:solidFill>
                  <a:srgbClr val="191B0E"/>
                </a:solidFill>
                <a:latin typeface="Times New Roman"/>
                <a:cs typeface="Times New Roman"/>
              </a:rPr>
              <a:t>Algorithm</a:t>
            </a:r>
            <a:endParaRPr sz="2700">
              <a:latin typeface="Times New Roman"/>
              <a:cs typeface="Times New Roman"/>
            </a:endParaRPr>
          </a:p>
          <a:p>
            <a:pPr marL="339725" indent="-327025">
              <a:lnSpc>
                <a:spcPct val="100000"/>
              </a:lnSpc>
              <a:spcBef>
                <a:spcPts val="860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2700">
                <a:solidFill>
                  <a:srgbClr val="191B0E"/>
                </a:solidFill>
                <a:latin typeface="Times New Roman"/>
                <a:cs typeface="Times New Roman"/>
              </a:rPr>
              <a:t>Step</a:t>
            </a:r>
            <a:r>
              <a:rPr dirty="0" sz="2700" spc="3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700" spc="-25">
                <a:solidFill>
                  <a:srgbClr val="191B0E"/>
                </a:solidFill>
                <a:latin typeface="Times New Roman"/>
                <a:cs typeface="Times New Roman"/>
              </a:rPr>
              <a:t>1:</a:t>
            </a:r>
            <a:endParaRPr sz="2700">
              <a:latin typeface="Times New Roman"/>
              <a:cs typeface="Times New Roman"/>
            </a:endParaRPr>
          </a:p>
          <a:p>
            <a:pPr marL="339725" indent="-327025">
              <a:lnSpc>
                <a:spcPct val="100000"/>
              </a:lnSpc>
              <a:spcBef>
                <a:spcPts val="840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2700">
                <a:solidFill>
                  <a:srgbClr val="191B0E"/>
                </a:solidFill>
                <a:latin typeface="Times New Roman"/>
                <a:cs typeface="Times New Roman"/>
              </a:rPr>
              <a:t>Step</a:t>
            </a:r>
            <a:r>
              <a:rPr dirty="0" sz="2700" spc="3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700" spc="-25">
                <a:solidFill>
                  <a:srgbClr val="191B0E"/>
                </a:solidFill>
                <a:latin typeface="Times New Roman"/>
                <a:cs typeface="Times New Roman"/>
              </a:rPr>
              <a:t>2:</a:t>
            </a:r>
            <a:endParaRPr sz="2700">
              <a:latin typeface="Times New Roman"/>
              <a:cs typeface="Times New Roman"/>
            </a:endParaRPr>
          </a:p>
          <a:p>
            <a:pPr marL="339725" indent="-327025">
              <a:lnSpc>
                <a:spcPct val="100000"/>
              </a:lnSpc>
              <a:spcBef>
                <a:spcPts val="770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2700">
                <a:solidFill>
                  <a:srgbClr val="191B0E"/>
                </a:solidFill>
                <a:latin typeface="Times New Roman"/>
                <a:cs typeface="Times New Roman"/>
              </a:rPr>
              <a:t>Step</a:t>
            </a:r>
            <a:r>
              <a:rPr dirty="0" sz="2700" spc="3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700" spc="-25">
                <a:solidFill>
                  <a:srgbClr val="191B0E"/>
                </a:solidFill>
                <a:latin typeface="Times New Roman"/>
                <a:cs typeface="Times New Roman"/>
              </a:rPr>
              <a:t>3: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381906" y="2878817"/>
            <a:ext cx="1807210" cy="1570990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2700">
                <a:solidFill>
                  <a:srgbClr val="191B0E"/>
                </a:solidFill>
                <a:latin typeface="Times New Roman"/>
                <a:cs typeface="Times New Roman"/>
              </a:rPr>
              <a:t>Input</a:t>
            </a:r>
            <a:r>
              <a:rPr dirty="0" sz="2700" spc="-3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700" spc="-25">
                <a:solidFill>
                  <a:srgbClr val="191B0E"/>
                </a:solidFill>
                <a:latin typeface="Times New Roman"/>
                <a:cs typeface="Times New Roman"/>
              </a:rPr>
              <a:t>W,L</a:t>
            </a:r>
            <a:endParaRPr sz="2700">
              <a:latin typeface="Times New Roman"/>
              <a:cs typeface="Times New Roman"/>
            </a:endParaRPr>
          </a:p>
          <a:p>
            <a:pPr marL="12700" marR="5080">
              <a:lnSpc>
                <a:spcPct val="123700"/>
              </a:lnSpc>
              <a:spcBef>
                <a:spcPts val="70"/>
              </a:spcBef>
              <a:tabLst>
                <a:tab pos="1130300" algn="l"/>
                <a:tab pos="1470025" algn="l"/>
              </a:tabLst>
            </a:pPr>
            <a:r>
              <a:rPr dirty="0" sz="2700">
                <a:solidFill>
                  <a:srgbClr val="191B0E"/>
                </a:solidFill>
                <a:latin typeface="Times New Roman"/>
                <a:cs typeface="Times New Roman"/>
              </a:rPr>
              <a:t>A</a:t>
            </a:r>
            <a:r>
              <a:rPr dirty="0" sz="2700" spc="-12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191B0E"/>
                </a:solidFill>
                <a:latin typeface="Symbol"/>
                <a:cs typeface="Symbol"/>
              </a:rPr>
              <a:t></a:t>
            </a:r>
            <a:r>
              <a:rPr dirty="0" sz="2700" spc="3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700" spc="-50">
                <a:solidFill>
                  <a:srgbClr val="191B0E"/>
                </a:solidFill>
                <a:latin typeface="Times New Roman"/>
                <a:cs typeface="Times New Roman"/>
              </a:rPr>
              <a:t>L</a:t>
            </a:r>
            <a:r>
              <a:rPr dirty="0" sz="2700">
                <a:solidFill>
                  <a:srgbClr val="191B0E"/>
                </a:solidFill>
                <a:latin typeface="Times New Roman"/>
                <a:cs typeface="Times New Roman"/>
              </a:rPr>
              <a:t>	</a:t>
            </a:r>
            <a:r>
              <a:rPr dirty="0" sz="2700" spc="-50">
                <a:solidFill>
                  <a:srgbClr val="191B0E"/>
                </a:solidFill>
                <a:latin typeface="Times New Roman"/>
                <a:cs typeface="Times New Roman"/>
              </a:rPr>
              <a:t>x</a:t>
            </a:r>
            <a:r>
              <a:rPr dirty="0" sz="2700">
                <a:solidFill>
                  <a:srgbClr val="191B0E"/>
                </a:solidFill>
                <a:latin typeface="Times New Roman"/>
                <a:cs typeface="Times New Roman"/>
              </a:rPr>
              <a:t>	</a:t>
            </a:r>
            <a:r>
              <a:rPr dirty="0" sz="2700" spc="-50">
                <a:solidFill>
                  <a:srgbClr val="191B0E"/>
                </a:solidFill>
                <a:latin typeface="Times New Roman"/>
                <a:cs typeface="Times New Roman"/>
              </a:rPr>
              <a:t>W </a:t>
            </a:r>
            <a:r>
              <a:rPr dirty="0" sz="2700">
                <a:solidFill>
                  <a:srgbClr val="191B0E"/>
                </a:solidFill>
                <a:latin typeface="Times New Roman"/>
                <a:cs typeface="Times New Roman"/>
              </a:rPr>
              <a:t>Print</a:t>
            </a:r>
            <a:r>
              <a:rPr dirty="0" sz="2700" spc="-11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700" spc="-50">
                <a:solidFill>
                  <a:srgbClr val="191B0E"/>
                </a:solidFill>
                <a:latin typeface="Times New Roman"/>
                <a:cs typeface="Times New Roman"/>
              </a:rPr>
              <a:t>A</a:t>
            </a:r>
            <a:endParaRPr sz="2700">
              <a:latin typeface="Times New Roman"/>
              <a:cs typeface="Times New Roman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7290899" y="2599372"/>
            <a:ext cx="1621790" cy="364490"/>
            <a:chOff x="7290899" y="2599372"/>
            <a:chExt cx="1621790" cy="364490"/>
          </a:xfrm>
        </p:grpSpPr>
        <p:sp>
          <p:nvSpPr>
            <p:cNvPr id="6" name="object 6" descr=""/>
            <p:cNvSpPr/>
            <p:nvPr/>
          </p:nvSpPr>
          <p:spPr>
            <a:xfrm>
              <a:off x="7295027" y="2603500"/>
              <a:ext cx="1613535" cy="356235"/>
            </a:xfrm>
            <a:custGeom>
              <a:avLst/>
              <a:gdLst/>
              <a:ahLst/>
              <a:cxnLst/>
              <a:rect l="l" t="t" r="r" b="b"/>
              <a:pathLst>
                <a:path w="1613534" h="356235">
                  <a:moveTo>
                    <a:pt x="1353821" y="0"/>
                  </a:moveTo>
                  <a:lnTo>
                    <a:pt x="259560" y="0"/>
                  </a:lnTo>
                  <a:lnTo>
                    <a:pt x="207249" y="3614"/>
                  </a:lnTo>
                  <a:lnTo>
                    <a:pt x="158527" y="13981"/>
                  </a:lnTo>
                  <a:lnTo>
                    <a:pt x="114437" y="30385"/>
                  </a:lnTo>
                  <a:lnTo>
                    <a:pt x="76023" y="52111"/>
                  </a:lnTo>
                  <a:lnTo>
                    <a:pt x="44328" y="78442"/>
                  </a:lnTo>
                  <a:lnTo>
                    <a:pt x="20397" y="108664"/>
                  </a:lnTo>
                  <a:lnTo>
                    <a:pt x="0" y="177918"/>
                  </a:lnTo>
                  <a:lnTo>
                    <a:pt x="5273" y="213775"/>
                  </a:lnTo>
                  <a:lnTo>
                    <a:pt x="44328" y="277394"/>
                  </a:lnTo>
                  <a:lnTo>
                    <a:pt x="76023" y="303726"/>
                  </a:lnTo>
                  <a:lnTo>
                    <a:pt x="114437" y="325451"/>
                  </a:lnTo>
                  <a:lnTo>
                    <a:pt x="158527" y="341855"/>
                  </a:lnTo>
                  <a:lnTo>
                    <a:pt x="207249" y="352222"/>
                  </a:lnTo>
                  <a:lnTo>
                    <a:pt x="259560" y="355837"/>
                  </a:lnTo>
                  <a:lnTo>
                    <a:pt x="1353821" y="355837"/>
                  </a:lnTo>
                  <a:lnTo>
                    <a:pt x="1406131" y="352222"/>
                  </a:lnTo>
                  <a:lnTo>
                    <a:pt x="1454853" y="341855"/>
                  </a:lnTo>
                  <a:lnTo>
                    <a:pt x="1498943" y="325451"/>
                  </a:lnTo>
                  <a:lnTo>
                    <a:pt x="1537358" y="303726"/>
                  </a:lnTo>
                  <a:lnTo>
                    <a:pt x="1569052" y="277394"/>
                  </a:lnTo>
                  <a:lnTo>
                    <a:pt x="1592983" y="247172"/>
                  </a:lnTo>
                  <a:lnTo>
                    <a:pt x="1613381" y="177918"/>
                  </a:lnTo>
                  <a:lnTo>
                    <a:pt x="1608107" y="142061"/>
                  </a:lnTo>
                  <a:lnTo>
                    <a:pt x="1569052" y="78442"/>
                  </a:lnTo>
                  <a:lnTo>
                    <a:pt x="1537358" y="52111"/>
                  </a:lnTo>
                  <a:lnTo>
                    <a:pt x="1498943" y="30385"/>
                  </a:lnTo>
                  <a:lnTo>
                    <a:pt x="1454853" y="13981"/>
                  </a:lnTo>
                  <a:lnTo>
                    <a:pt x="1406131" y="3614"/>
                  </a:lnTo>
                  <a:lnTo>
                    <a:pt x="1353821" y="0"/>
                  </a:lnTo>
                  <a:close/>
                </a:path>
              </a:pathLst>
            </a:custGeom>
            <a:solidFill>
              <a:srgbClr val="CC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295027" y="2603500"/>
              <a:ext cx="1613535" cy="356235"/>
            </a:xfrm>
            <a:custGeom>
              <a:avLst/>
              <a:gdLst/>
              <a:ahLst/>
              <a:cxnLst/>
              <a:rect l="l" t="t" r="r" b="b"/>
              <a:pathLst>
                <a:path w="1613534" h="356235">
                  <a:moveTo>
                    <a:pt x="259560" y="0"/>
                  </a:moveTo>
                  <a:lnTo>
                    <a:pt x="1353821" y="0"/>
                  </a:lnTo>
                  <a:lnTo>
                    <a:pt x="1406131" y="3614"/>
                  </a:lnTo>
                  <a:lnTo>
                    <a:pt x="1454853" y="13981"/>
                  </a:lnTo>
                  <a:lnTo>
                    <a:pt x="1498943" y="30385"/>
                  </a:lnTo>
                  <a:lnTo>
                    <a:pt x="1537358" y="52111"/>
                  </a:lnTo>
                  <a:lnTo>
                    <a:pt x="1569052" y="78442"/>
                  </a:lnTo>
                  <a:lnTo>
                    <a:pt x="1592983" y="108664"/>
                  </a:lnTo>
                  <a:lnTo>
                    <a:pt x="1613381" y="177918"/>
                  </a:lnTo>
                  <a:lnTo>
                    <a:pt x="1608107" y="213775"/>
                  </a:lnTo>
                  <a:lnTo>
                    <a:pt x="1569052" y="277394"/>
                  </a:lnTo>
                  <a:lnTo>
                    <a:pt x="1537358" y="303726"/>
                  </a:lnTo>
                  <a:lnTo>
                    <a:pt x="1498943" y="325451"/>
                  </a:lnTo>
                  <a:lnTo>
                    <a:pt x="1454853" y="341855"/>
                  </a:lnTo>
                  <a:lnTo>
                    <a:pt x="1406131" y="352222"/>
                  </a:lnTo>
                  <a:lnTo>
                    <a:pt x="1353821" y="355837"/>
                  </a:lnTo>
                  <a:lnTo>
                    <a:pt x="259560" y="355837"/>
                  </a:lnTo>
                  <a:lnTo>
                    <a:pt x="207249" y="352222"/>
                  </a:lnTo>
                  <a:lnTo>
                    <a:pt x="158527" y="341855"/>
                  </a:lnTo>
                  <a:lnTo>
                    <a:pt x="114437" y="325451"/>
                  </a:lnTo>
                  <a:lnTo>
                    <a:pt x="76023" y="303726"/>
                  </a:lnTo>
                  <a:lnTo>
                    <a:pt x="44328" y="277394"/>
                  </a:lnTo>
                  <a:lnTo>
                    <a:pt x="20397" y="247172"/>
                  </a:lnTo>
                  <a:lnTo>
                    <a:pt x="0" y="177918"/>
                  </a:lnTo>
                  <a:lnTo>
                    <a:pt x="5273" y="142061"/>
                  </a:lnTo>
                  <a:lnTo>
                    <a:pt x="44328" y="78442"/>
                  </a:lnTo>
                  <a:lnTo>
                    <a:pt x="76023" y="52111"/>
                  </a:lnTo>
                  <a:lnTo>
                    <a:pt x="114437" y="30385"/>
                  </a:lnTo>
                  <a:lnTo>
                    <a:pt x="158527" y="13981"/>
                  </a:lnTo>
                  <a:lnTo>
                    <a:pt x="207249" y="3614"/>
                  </a:lnTo>
                  <a:lnTo>
                    <a:pt x="259560" y="0"/>
                  </a:lnTo>
                  <a:close/>
                </a:path>
              </a:pathLst>
            </a:custGeom>
            <a:ln w="81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7316491" y="2022441"/>
            <a:ext cx="1544320" cy="865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700" spc="-10" b="1">
                <a:solidFill>
                  <a:srgbClr val="191B0E"/>
                </a:solidFill>
                <a:latin typeface="Times New Roman"/>
                <a:cs typeface="Times New Roman"/>
              </a:rPr>
              <a:t>Flowchart</a:t>
            </a:r>
            <a:endParaRPr sz="2700">
              <a:latin typeface="Times New Roman"/>
              <a:cs typeface="Times New Roman"/>
            </a:endParaRPr>
          </a:p>
          <a:p>
            <a:pPr algn="ctr" marL="26670">
              <a:lnSpc>
                <a:spcPct val="100000"/>
              </a:lnSpc>
              <a:spcBef>
                <a:spcPts val="1985"/>
              </a:spcBef>
            </a:pPr>
            <a:r>
              <a:rPr dirty="0" sz="1150" spc="-10">
                <a:latin typeface="Franklin Gothic Medium"/>
                <a:cs typeface="Franklin Gothic Medium"/>
              </a:rPr>
              <a:t>START</a:t>
            </a:r>
            <a:endParaRPr sz="1150">
              <a:latin typeface="Franklin Gothic Medium"/>
              <a:cs typeface="Franklin Gothic Medium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6294860" y="2959337"/>
            <a:ext cx="3557904" cy="816610"/>
            <a:chOff x="6294860" y="2959337"/>
            <a:chExt cx="3557904" cy="816610"/>
          </a:xfrm>
        </p:grpSpPr>
        <p:sp>
          <p:nvSpPr>
            <p:cNvPr id="10" name="object 10" descr=""/>
            <p:cNvSpPr/>
            <p:nvPr/>
          </p:nvSpPr>
          <p:spPr>
            <a:xfrm>
              <a:off x="8069253" y="2959337"/>
              <a:ext cx="65405" cy="267335"/>
            </a:xfrm>
            <a:custGeom>
              <a:avLst/>
              <a:gdLst/>
              <a:ahLst/>
              <a:cxnLst/>
              <a:rect l="l" t="t" r="r" b="b"/>
              <a:pathLst>
                <a:path w="65404" h="267335">
                  <a:moveTo>
                    <a:pt x="28406" y="201966"/>
                  </a:moveTo>
                  <a:lnTo>
                    <a:pt x="0" y="201966"/>
                  </a:lnTo>
                  <a:lnTo>
                    <a:pt x="32463" y="266877"/>
                  </a:lnTo>
                  <a:lnTo>
                    <a:pt x="59517" y="212785"/>
                  </a:lnTo>
                  <a:lnTo>
                    <a:pt x="28406" y="212785"/>
                  </a:lnTo>
                  <a:lnTo>
                    <a:pt x="28406" y="201966"/>
                  </a:lnTo>
                  <a:close/>
                </a:path>
                <a:path w="65404" h="267335">
                  <a:moveTo>
                    <a:pt x="36521" y="0"/>
                  </a:moveTo>
                  <a:lnTo>
                    <a:pt x="28404" y="0"/>
                  </a:lnTo>
                  <a:lnTo>
                    <a:pt x="28406" y="212785"/>
                  </a:lnTo>
                  <a:lnTo>
                    <a:pt x="36522" y="212785"/>
                  </a:lnTo>
                  <a:lnTo>
                    <a:pt x="36521" y="0"/>
                  </a:lnTo>
                  <a:close/>
                </a:path>
                <a:path w="65404" h="267335">
                  <a:moveTo>
                    <a:pt x="64928" y="201966"/>
                  </a:moveTo>
                  <a:lnTo>
                    <a:pt x="36522" y="201966"/>
                  </a:lnTo>
                  <a:lnTo>
                    <a:pt x="36522" y="212785"/>
                  </a:lnTo>
                  <a:lnTo>
                    <a:pt x="59517" y="212785"/>
                  </a:lnTo>
                  <a:lnTo>
                    <a:pt x="64928" y="2019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298987" y="3237953"/>
              <a:ext cx="3549650" cy="534035"/>
            </a:xfrm>
            <a:custGeom>
              <a:avLst/>
              <a:gdLst/>
              <a:ahLst/>
              <a:cxnLst/>
              <a:rect l="l" t="t" r="r" b="b"/>
              <a:pathLst>
                <a:path w="3549650" h="534035">
                  <a:moveTo>
                    <a:pt x="3549437" y="0"/>
                  </a:moveTo>
                  <a:lnTo>
                    <a:pt x="709888" y="0"/>
                  </a:lnTo>
                  <a:lnTo>
                    <a:pt x="0" y="533755"/>
                  </a:lnTo>
                  <a:lnTo>
                    <a:pt x="2839551" y="533755"/>
                  </a:lnTo>
                  <a:lnTo>
                    <a:pt x="3549437" y="0"/>
                  </a:lnTo>
                  <a:close/>
                </a:path>
              </a:pathLst>
            </a:custGeom>
            <a:solidFill>
              <a:srgbClr val="CC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298987" y="3237953"/>
              <a:ext cx="3549650" cy="534035"/>
            </a:xfrm>
            <a:custGeom>
              <a:avLst/>
              <a:gdLst/>
              <a:ahLst/>
              <a:cxnLst/>
              <a:rect l="l" t="t" r="r" b="b"/>
              <a:pathLst>
                <a:path w="3549650" h="534035">
                  <a:moveTo>
                    <a:pt x="0" y="533755"/>
                  </a:moveTo>
                  <a:lnTo>
                    <a:pt x="709887" y="0"/>
                  </a:lnTo>
                  <a:lnTo>
                    <a:pt x="3549437" y="0"/>
                  </a:lnTo>
                  <a:lnTo>
                    <a:pt x="2839550" y="533755"/>
                  </a:lnTo>
                  <a:lnTo>
                    <a:pt x="0" y="533755"/>
                  </a:lnTo>
                  <a:close/>
                </a:path>
              </a:pathLst>
            </a:custGeom>
            <a:ln w="81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7896033" y="3265197"/>
            <a:ext cx="354965" cy="3816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43180" marR="5080" indent="-31115">
              <a:lnSpc>
                <a:spcPct val="100899"/>
              </a:lnSpc>
              <a:spcBef>
                <a:spcPts val="110"/>
              </a:spcBef>
            </a:pPr>
            <a:r>
              <a:rPr dirty="0" sz="1150" spc="-10">
                <a:latin typeface="Franklin Gothic Medium"/>
                <a:cs typeface="Franklin Gothic Medium"/>
              </a:rPr>
              <a:t>Input </a:t>
            </a:r>
            <a:r>
              <a:rPr dirty="0" sz="1150">
                <a:latin typeface="Franklin Gothic Medium"/>
                <a:cs typeface="Franklin Gothic Medium"/>
              </a:rPr>
              <a:t>W,</a:t>
            </a:r>
            <a:r>
              <a:rPr dirty="0" sz="1150" spc="-60">
                <a:latin typeface="Franklin Gothic Medium"/>
                <a:cs typeface="Franklin Gothic Medium"/>
              </a:rPr>
              <a:t> </a:t>
            </a:r>
            <a:r>
              <a:rPr dirty="0" sz="1150" spc="-50">
                <a:latin typeface="Franklin Gothic Medium"/>
                <a:cs typeface="Franklin Gothic Medium"/>
              </a:rPr>
              <a:t>L</a:t>
            </a:r>
            <a:endParaRPr sz="1150">
              <a:latin typeface="Franklin Gothic Medium"/>
              <a:cs typeface="Franklin Gothic Medium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880477" y="4131252"/>
            <a:ext cx="2399030" cy="356235"/>
          </a:xfrm>
          <a:prstGeom prst="rect">
            <a:avLst/>
          </a:prstGeom>
          <a:solidFill>
            <a:srgbClr val="CCFFFF">
              <a:alpha val="79998"/>
            </a:srgbClr>
          </a:solidFill>
          <a:ln w="8113">
            <a:solidFill>
              <a:srgbClr val="000000"/>
            </a:solidFill>
          </a:ln>
        </p:spPr>
        <p:txBody>
          <a:bodyPr wrap="square" lIns="0" tIns="400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dirty="0" sz="1150">
                <a:latin typeface="Franklin Gothic Medium"/>
                <a:cs typeface="Franklin Gothic Medium"/>
              </a:rPr>
              <a:t>A</a:t>
            </a:r>
            <a:r>
              <a:rPr dirty="0" sz="1150" spc="-10">
                <a:latin typeface="Franklin Gothic Medium"/>
                <a:cs typeface="Franklin Gothic Medium"/>
              </a:rPr>
              <a:t> </a:t>
            </a:r>
            <a:r>
              <a:rPr dirty="0" sz="1500">
                <a:latin typeface="Symbol"/>
                <a:cs typeface="Symbol"/>
              </a:rPr>
              <a:t>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150">
                <a:latin typeface="Franklin Gothic Medium"/>
                <a:cs typeface="Franklin Gothic Medium"/>
              </a:rPr>
              <a:t>L</a:t>
            </a:r>
            <a:r>
              <a:rPr dirty="0" sz="1150" spc="-5">
                <a:latin typeface="Franklin Gothic Medium"/>
                <a:cs typeface="Franklin Gothic Medium"/>
              </a:rPr>
              <a:t> </a:t>
            </a:r>
            <a:r>
              <a:rPr dirty="0" sz="1150">
                <a:latin typeface="Franklin Gothic Medium"/>
                <a:cs typeface="Franklin Gothic Medium"/>
              </a:rPr>
              <a:t>x </a:t>
            </a:r>
            <a:r>
              <a:rPr dirty="0" sz="1150" spc="-50">
                <a:latin typeface="Franklin Gothic Medium"/>
                <a:cs typeface="Franklin Gothic Medium"/>
              </a:rPr>
              <a:t>W</a:t>
            </a:r>
            <a:endParaRPr sz="1150">
              <a:latin typeface="Franklin Gothic Medium"/>
              <a:cs typeface="Franklin Gothic Medium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8041244" y="3771709"/>
            <a:ext cx="65405" cy="356235"/>
          </a:xfrm>
          <a:custGeom>
            <a:avLst/>
            <a:gdLst/>
            <a:ahLst/>
            <a:cxnLst/>
            <a:rect l="l" t="t" r="r" b="b"/>
            <a:pathLst>
              <a:path w="65404" h="356235">
                <a:moveTo>
                  <a:pt x="28406" y="290925"/>
                </a:moveTo>
                <a:lnTo>
                  <a:pt x="0" y="290926"/>
                </a:lnTo>
                <a:lnTo>
                  <a:pt x="32465" y="355837"/>
                </a:lnTo>
                <a:lnTo>
                  <a:pt x="59517" y="301744"/>
                </a:lnTo>
                <a:lnTo>
                  <a:pt x="28406" y="301744"/>
                </a:lnTo>
                <a:lnTo>
                  <a:pt x="28406" y="290925"/>
                </a:lnTo>
                <a:close/>
              </a:path>
              <a:path w="65404" h="356235">
                <a:moveTo>
                  <a:pt x="36522" y="290925"/>
                </a:moveTo>
                <a:lnTo>
                  <a:pt x="28406" y="290925"/>
                </a:lnTo>
                <a:lnTo>
                  <a:pt x="28406" y="301744"/>
                </a:lnTo>
                <a:lnTo>
                  <a:pt x="36522" y="301744"/>
                </a:lnTo>
                <a:lnTo>
                  <a:pt x="36522" y="290925"/>
                </a:lnTo>
                <a:close/>
              </a:path>
              <a:path w="65404" h="356235">
                <a:moveTo>
                  <a:pt x="64928" y="290925"/>
                </a:moveTo>
                <a:lnTo>
                  <a:pt x="36522" y="290925"/>
                </a:lnTo>
                <a:lnTo>
                  <a:pt x="36522" y="301744"/>
                </a:lnTo>
                <a:lnTo>
                  <a:pt x="59517" y="301744"/>
                </a:lnTo>
                <a:lnTo>
                  <a:pt x="64928" y="290925"/>
                </a:lnTo>
                <a:close/>
              </a:path>
              <a:path w="65404" h="356235">
                <a:moveTo>
                  <a:pt x="36521" y="0"/>
                </a:moveTo>
                <a:lnTo>
                  <a:pt x="28406" y="0"/>
                </a:lnTo>
                <a:lnTo>
                  <a:pt x="28406" y="290925"/>
                </a:lnTo>
                <a:lnTo>
                  <a:pt x="36522" y="290925"/>
                </a:lnTo>
                <a:lnTo>
                  <a:pt x="365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" name="object 16" descr=""/>
          <p:cNvGrpSpPr/>
          <p:nvPr/>
        </p:nvGrpSpPr>
        <p:grpSpPr>
          <a:xfrm>
            <a:off x="6702687" y="4835093"/>
            <a:ext cx="2751455" cy="631190"/>
            <a:chOff x="6702687" y="4835093"/>
            <a:chExt cx="2751455" cy="631190"/>
          </a:xfrm>
        </p:grpSpPr>
        <p:sp>
          <p:nvSpPr>
            <p:cNvPr id="17" name="object 17" descr=""/>
            <p:cNvSpPr/>
            <p:nvPr/>
          </p:nvSpPr>
          <p:spPr>
            <a:xfrm>
              <a:off x="6706815" y="4839220"/>
              <a:ext cx="2743200" cy="622935"/>
            </a:xfrm>
            <a:custGeom>
              <a:avLst/>
              <a:gdLst/>
              <a:ahLst/>
              <a:cxnLst/>
              <a:rect l="l" t="t" r="r" b="b"/>
              <a:pathLst>
                <a:path w="2743200" h="622935">
                  <a:moveTo>
                    <a:pt x="2285622" y="0"/>
                  </a:moveTo>
                  <a:lnTo>
                    <a:pt x="457123" y="0"/>
                  </a:lnTo>
                  <a:lnTo>
                    <a:pt x="0" y="311358"/>
                  </a:lnTo>
                  <a:lnTo>
                    <a:pt x="457123" y="622715"/>
                  </a:lnTo>
                  <a:lnTo>
                    <a:pt x="2285622" y="622715"/>
                  </a:lnTo>
                  <a:lnTo>
                    <a:pt x="2342963" y="620289"/>
                  </a:lnTo>
                  <a:lnTo>
                    <a:pt x="2398178" y="613206"/>
                  </a:lnTo>
                  <a:lnTo>
                    <a:pt x="2450840" y="601757"/>
                  </a:lnTo>
                  <a:lnTo>
                    <a:pt x="2500519" y="586234"/>
                  </a:lnTo>
                  <a:lnTo>
                    <a:pt x="2546788" y="566930"/>
                  </a:lnTo>
                  <a:lnTo>
                    <a:pt x="2589217" y="544135"/>
                  </a:lnTo>
                  <a:lnTo>
                    <a:pt x="2627379" y="518142"/>
                  </a:lnTo>
                  <a:lnTo>
                    <a:pt x="2660846" y="489243"/>
                  </a:lnTo>
                  <a:lnTo>
                    <a:pt x="2689188" y="457728"/>
                  </a:lnTo>
                  <a:lnTo>
                    <a:pt x="2711978" y="423891"/>
                  </a:lnTo>
                  <a:lnTo>
                    <a:pt x="2728786" y="388022"/>
                  </a:lnTo>
                  <a:lnTo>
                    <a:pt x="2739186" y="350414"/>
                  </a:lnTo>
                  <a:lnTo>
                    <a:pt x="2742747" y="311358"/>
                  </a:lnTo>
                  <a:lnTo>
                    <a:pt x="2739186" y="272302"/>
                  </a:lnTo>
                  <a:lnTo>
                    <a:pt x="2728786" y="234693"/>
                  </a:lnTo>
                  <a:lnTo>
                    <a:pt x="2711978" y="198825"/>
                  </a:lnTo>
                  <a:lnTo>
                    <a:pt x="2689188" y="164987"/>
                  </a:lnTo>
                  <a:lnTo>
                    <a:pt x="2660846" y="133472"/>
                  </a:lnTo>
                  <a:lnTo>
                    <a:pt x="2627379" y="104573"/>
                  </a:lnTo>
                  <a:lnTo>
                    <a:pt x="2589217" y="78579"/>
                  </a:lnTo>
                  <a:lnTo>
                    <a:pt x="2546788" y="55785"/>
                  </a:lnTo>
                  <a:lnTo>
                    <a:pt x="2500519" y="36480"/>
                  </a:lnTo>
                  <a:lnTo>
                    <a:pt x="2450840" y="20958"/>
                  </a:lnTo>
                  <a:lnTo>
                    <a:pt x="2398178" y="9509"/>
                  </a:lnTo>
                  <a:lnTo>
                    <a:pt x="2342963" y="2425"/>
                  </a:lnTo>
                  <a:lnTo>
                    <a:pt x="2285622" y="0"/>
                  </a:lnTo>
                  <a:close/>
                </a:path>
              </a:pathLst>
            </a:custGeom>
            <a:solidFill>
              <a:srgbClr val="CC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706815" y="4839220"/>
              <a:ext cx="2743200" cy="622935"/>
            </a:xfrm>
            <a:custGeom>
              <a:avLst/>
              <a:gdLst/>
              <a:ahLst/>
              <a:cxnLst/>
              <a:rect l="l" t="t" r="r" b="b"/>
              <a:pathLst>
                <a:path w="2743200" h="622935">
                  <a:moveTo>
                    <a:pt x="0" y="311357"/>
                  </a:moveTo>
                  <a:lnTo>
                    <a:pt x="457124" y="0"/>
                  </a:lnTo>
                  <a:lnTo>
                    <a:pt x="2285623" y="0"/>
                  </a:lnTo>
                  <a:lnTo>
                    <a:pt x="2342963" y="2425"/>
                  </a:lnTo>
                  <a:lnTo>
                    <a:pt x="2398179" y="9509"/>
                  </a:lnTo>
                  <a:lnTo>
                    <a:pt x="2450840" y="20957"/>
                  </a:lnTo>
                  <a:lnTo>
                    <a:pt x="2500519" y="36480"/>
                  </a:lnTo>
                  <a:lnTo>
                    <a:pt x="2546788" y="55784"/>
                  </a:lnTo>
                  <a:lnTo>
                    <a:pt x="2589217" y="78579"/>
                  </a:lnTo>
                  <a:lnTo>
                    <a:pt x="2627379" y="104572"/>
                  </a:lnTo>
                  <a:lnTo>
                    <a:pt x="2660846" y="133472"/>
                  </a:lnTo>
                  <a:lnTo>
                    <a:pt x="2689188" y="164986"/>
                  </a:lnTo>
                  <a:lnTo>
                    <a:pt x="2711978" y="198824"/>
                  </a:lnTo>
                  <a:lnTo>
                    <a:pt x="2728786" y="234693"/>
                  </a:lnTo>
                  <a:lnTo>
                    <a:pt x="2739186" y="272301"/>
                  </a:lnTo>
                  <a:lnTo>
                    <a:pt x="2742747" y="311357"/>
                  </a:lnTo>
                  <a:lnTo>
                    <a:pt x="2739186" y="350413"/>
                  </a:lnTo>
                  <a:lnTo>
                    <a:pt x="2728786" y="388022"/>
                  </a:lnTo>
                  <a:lnTo>
                    <a:pt x="2711978" y="423891"/>
                  </a:lnTo>
                  <a:lnTo>
                    <a:pt x="2689188" y="457728"/>
                  </a:lnTo>
                  <a:lnTo>
                    <a:pt x="2660846" y="489243"/>
                  </a:lnTo>
                  <a:lnTo>
                    <a:pt x="2627379" y="518142"/>
                  </a:lnTo>
                  <a:lnTo>
                    <a:pt x="2589217" y="544136"/>
                  </a:lnTo>
                  <a:lnTo>
                    <a:pt x="2546788" y="566930"/>
                  </a:lnTo>
                  <a:lnTo>
                    <a:pt x="2500519" y="586235"/>
                  </a:lnTo>
                  <a:lnTo>
                    <a:pt x="2450840" y="601757"/>
                  </a:lnTo>
                  <a:lnTo>
                    <a:pt x="2398179" y="613206"/>
                  </a:lnTo>
                  <a:lnTo>
                    <a:pt x="2342963" y="620289"/>
                  </a:lnTo>
                  <a:lnTo>
                    <a:pt x="2285623" y="622715"/>
                  </a:lnTo>
                  <a:lnTo>
                    <a:pt x="457124" y="622715"/>
                  </a:lnTo>
                  <a:lnTo>
                    <a:pt x="0" y="311357"/>
                  </a:lnTo>
                  <a:close/>
                </a:path>
              </a:pathLst>
            </a:custGeom>
            <a:ln w="81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7915340" y="4865397"/>
            <a:ext cx="325755" cy="3848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1920" marR="5080" indent="-109855">
              <a:lnSpc>
                <a:spcPct val="102600"/>
              </a:lnSpc>
              <a:spcBef>
                <a:spcPts val="90"/>
              </a:spcBef>
            </a:pPr>
            <a:r>
              <a:rPr dirty="0" sz="1150" spc="-10">
                <a:latin typeface="Franklin Gothic Medium"/>
                <a:cs typeface="Franklin Gothic Medium"/>
              </a:rPr>
              <a:t>Print </a:t>
            </a:r>
            <a:r>
              <a:rPr dirty="0" sz="1150" spc="-50">
                <a:latin typeface="Franklin Gothic Medium"/>
                <a:cs typeface="Franklin Gothic Medium"/>
              </a:rPr>
              <a:t>A</a:t>
            </a:r>
            <a:endParaRPr sz="1150">
              <a:latin typeface="Franklin Gothic Medium"/>
              <a:cs typeface="Franklin Gothic Medium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7241602" y="5801908"/>
            <a:ext cx="1621790" cy="375920"/>
            <a:chOff x="7241602" y="5801908"/>
            <a:chExt cx="1621790" cy="375920"/>
          </a:xfrm>
        </p:grpSpPr>
        <p:sp>
          <p:nvSpPr>
            <p:cNvPr id="21" name="object 21" descr=""/>
            <p:cNvSpPr/>
            <p:nvPr/>
          </p:nvSpPr>
          <p:spPr>
            <a:xfrm>
              <a:off x="7245729" y="5806036"/>
              <a:ext cx="1613535" cy="367665"/>
            </a:xfrm>
            <a:custGeom>
              <a:avLst/>
              <a:gdLst/>
              <a:ahLst/>
              <a:cxnLst/>
              <a:rect l="l" t="t" r="r" b="b"/>
              <a:pathLst>
                <a:path w="1613534" h="367664">
                  <a:moveTo>
                    <a:pt x="1353820" y="0"/>
                  </a:moveTo>
                  <a:lnTo>
                    <a:pt x="259560" y="0"/>
                  </a:lnTo>
                  <a:lnTo>
                    <a:pt x="207249" y="3733"/>
                  </a:lnTo>
                  <a:lnTo>
                    <a:pt x="158527" y="14442"/>
                  </a:lnTo>
                  <a:lnTo>
                    <a:pt x="114437" y="31388"/>
                  </a:lnTo>
                  <a:lnTo>
                    <a:pt x="76023" y="53830"/>
                  </a:lnTo>
                  <a:lnTo>
                    <a:pt x="44328" y="81030"/>
                  </a:lnTo>
                  <a:lnTo>
                    <a:pt x="20397" y="112248"/>
                  </a:lnTo>
                  <a:lnTo>
                    <a:pt x="0" y="183786"/>
                  </a:lnTo>
                  <a:lnTo>
                    <a:pt x="5273" y="220826"/>
                  </a:lnTo>
                  <a:lnTo>
                    <a:pt x="44328" y="286544"/>
                  </a:lnTo>
                  <a:lnTo>
                    <a:pt x="76023" y="313744"/>
                  </a:lnTo>
                  <a:lnTo>
                    <a:pt x="114437" y="336186"/>
                  </a:lnTo>
                  <a:lnTo>
                    <a:pt x="158527" y="353131"/>
                  </a:lnTo>
                  <a:lnTo>
                    <a:pt x="207249" y="363840"/>
                  </a:lnTo>
                  <a:lnTo>
                    <a:pt x="259560" y="367574"/>
                  </a:lnTo>
                  <a:lnTo>
                    <a:pt x="1353820" y="367574"/>
                  </a:lnTo>
                  <a:lnTo>
                    <a:pt x="1406130" y="363840"/>
                  </a:lnTo>
                  <a:lnTo>
                    <a:pt x="1454852" y="353131"/>
                  </a:lnTo>
                  <a:lnTo>
                    <a:pt x="1498942" y="336186"/>
                  </a:lnTo>
                  <a:lnTo>
                    <a:pt x="1537357" y="313744"/>
                  </a:lnTo>
                  <a:lnTo>
                    <a:pt x="1569052" y="286544"/>
                  </a:lnTo>
                  <a:lnTo>
                    <a:pt x="1592983" y="255325"/>
                  </a:lnTo>
                  <a:lnTo>
                    <a:pt x="1613381" y="183786"/>
                  </a:lnTo>
                  <a:lnTo>
                    <a:pt x="1608107" y="146747"/>
                  </a:lnTo>
                  <a:lnTo>
                    <a:pt x="1569052" y="81030"/>
                  </a:lnTo>
                  <a:lnTo>
                    <a:pt x="1537357" y="53830"/>
                  </a:lnTo>
                  <a:lnTo>
                    <a:pt x="1498942" y="31388"/>
                  </a:lnTo>
                  <a:lnTo>
                    <a:pt x="1454852" y="14442"/>
                  </a:lnTo>
                  <a:lnTo>
                    <a:pt x="1406130" y="3733"/>
                  </a:lnTo>
                  <a:lnTo>
                    <a:pt x="1353820" y="0"/>
                  </a:lnTo>
                  <a:close/>
                </a:path>
              </a:pathLst>
            </a:custGeom>
            <a:solidFill>
              <a:srgbClr val="CC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245729" y="5806036"/>
              <a:ext cx="1613535" cy="367665"/>
            </a:xfrm>
            <a:custGeom>
              <a:avLst/>
              <a:gdLst/>
              <a:ahLst/>
              <a:cxnLst/>
              <a:rect l="l" t="t" r="r" b="b"/>
              <a:pathLst>
                <a:path w="1613534" h="367664">
                  <a:moveTo>
                    <a:pt x="259560" y="0"/>
                  </a:moveTo>
                  <a:lnTo>
                    <a:pt x="1353821" y="0"/>
                  </a:lnTo>
                  <a:lnTo>
                    <a:pt x="1406131" y="3733"/>
                  </a:lnTo>
                  <a:lnTo>
                    <a:pt x="1454853" y="14442"/>
                  </a:lnTo>
                  <a:lnTo>
                    <a:pt x="1498943" y="31388"/>
                  </a:lnTo>
                  <a:lnTo>
                    <a:pt x="1537358" y="53830"/>
                  </a:lnTo>
                  <a:lnTo>
                    <a:pt x="1569052" y="81030"/>
                  </a:lnTo>
                  <a:lnTo>
                    <a:pt x="1592983" y="112249"/>
                  </a:lnTo>
                  <a:lnTo>
                    <a:pt x="1613381" y="183787"/>
                  </a:lnTo>
                  <a:lnTo>
                    <a:pt x="1608107" y="220827"/>
                  </a:lnTo>
                  <a:lnTo>
                    <a:pt x="1569052" y="286544"/>
                  </a:lnTo>
                  <a:lnTo>
                    <a:pt x="1537358" y="313744"/>
                  </a:lnTo>
                  <a:lnTo>
                    <a:pt x="1498943" y="336186"/>
                  </a:lnTo>
                  <a:lnTo>
                    <a:pt x="1454853" y="353132"/>
                  </a:lnTo>
                  <a:lnTo>
                    <a:pt x="1406131" y="363841"/>
                  </a:lnTo>
                  <a:lnTo>
                    <a:pt x="1353821" y="367574"/>
                  </a:lnTo>
                  <a:lnTo>
                    <a:pt x="259560" y="367574"/>
                  </a:lnTo>
                  <a:lnTo>
                    <a:pt x="207249" y="363841"/>
                  </a:lnTo>
                  <a:lnTo>
                    <a:pt x="158527" y="353132"/>
                  </a:lnTo>
                  <a:lnTo>
                    <a:pt x="114437" y="336186"/>
                  </a:lnTo>
                  <a:lnTo>
                    <a:pt x="76023" y="313744"/>
                  </a:lnTo>
                  <a:lnTo>
                    <a:pt x="44328" y="286544"/>
                  </a:lnTo>
                  <a:lnTo>
                    <a:pt x="20397" y="255325"/>
                  </a:lnTo>
                  <a:lnTo>
                    <a:pt x="0" y="183787"/>
                  </a:lnTo>
                  <a:lnTo>
                    <a:pt x="5273" y="146747"/>
                  </a:lnTo>
                  <a:lnTo>
                    <a:pt x="44328" y="81030"/>
                  </a:lnTo>
                  <a:lnTo>
                    <a:pt x="76023" y="53830"/>
                  </a:lnTo>
                  <a:lnTo>
                    <a:pt x="114437" y="31388"/>
                  </a:lnTo>
                  <a:lnTo>
                    <a:pt x="158527" y="14442"/>
                  </a:lnTo>
                  <a:lnTo>
                    <a:pt x="207249" y="3733"/>
                  </a:lnTo>
                  <a:lnTo>
                    <a:pt x="259560" y="0"/>
                  </a:lnTo>
                  <a:close/>
                </a:path>
              </a:pathLst>
            </a:custGeom>
            <a:ln w="81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7873042" y="5886477"/>
            <a:ext cx="359410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-20">
                <a:latin typeface="Franklin Gothic Medium"/>
                <a:cs typeface="Franklin Gothic Medium"/>
              </a:rPr>
              <a:t>STOP</a:t>
            </a:r>
            <a:endParaRPr sz="1150">
              <a:latin typeface="Franklin Gothic Medium"/>
              <a:cs typeface="Franklin Gothic Medium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8041233" y="4483391"/>
            <a:ext cx="65405" cy="1334770"/>
          </a:xfrm>
          <a:custGeom>
            <a:avLst/>
            <a:gdLst/>
            <a:ahLst/>
            <a:cxnLst/>
            <a:rect l="l" t="t" r="r" b="b"/>
            <a:pathLst>
              <a:path w="65404" h="1334770">
                <a:moveTo>
                  <a:pt x="64935" y="1269479"/>
                </a:moveTo>
                <a:lnTo>
                  <a:pt x="36525" y="1269479"/>
                </a:lnTo>
                <a:lnTo>
                  <a:pt x="36525" y="978547"/>
                </a:lnTo>
                <a:lnTo>
                  <a:pt x="28409" y="978547"/>
                </a:lnTo>
                <a:lnTo>
                  <a:pt x="28409" y="1269479"/>
                </a:lnTo>
                <a:lnTo>
                  <a:pt x="0" y="1269479"/>
                </a:lnTo>
                <a:lnTo>
                  <a:pt x="32473" y="1334389"/>
                </a:lnTo>
                <a:lnTo>
                  <a:pt x="59524" y="1280299"/>
                </a:lnTo>
                <a:lnTo>
                  <a:pt x="64935" y="1269479"/>
                </a:lnTo>
                <a:close/>
              </a:path>
              <a:path w="65404" h="1334770">
                <a:moveTo>
                  <a:pt x="64935" y="290918"/>
                </a:moveTo>
                <a:lnTo>
                  <a:pt x="36525" y="290918"/>
                </a:lnTo>
                <a:lnTo>
                  <a:pt x="36525" y="0"/>
                </a:lnTo>
                <a:lnTo>
                  <a:pt x="28409" y="0"/>
                </a:lnTo>
                <a:lnTo>
                  <a:pt x="28409" y="290918"/>
                </a:lnTo>
                <a:lnTo>
                  <a:pt x="0" y="290918"/>
                </a:lnTo>
                <a:lnTo>
                  <a:pt x="32473" y="355828"/>
                </a:lnTo>
                <a:lnTo>
                  <a:pt x="59524" y="301739"/>
                </a:lnTo>
                <a:lnTo>
                  <a:pt x="64935" y="2909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794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130"/>
              <a:t> </a:t>
            </a:r>
            <a:r>
              <a:rPr dirty="0" spc="-50"/>
              <a:t>4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37044" y="2526875"/>
            <a:ext cx="85667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9725" indent="-327025">
              <a:lnSpc>
                <a:spcPct val="100000"/>
              </a:lnSpc>
              <a:spcBef>
                <a:spcPts val="100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Write</a:t>
            </a:r>
            <a:r>
              <a:rPr dirty="0" sz="2400" spc="-8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an</a:t>
            </a:r>
            <a:r>
              <a:rPr dirty="0" sz="2400" spc="-7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algorithm</a:t>
            </a:r>
            <a:r>
              <a:rPr dirty="0" sz="2400" spc="-8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and</a:t>
            </a:r>
            <a:r>
              <a:rPr dirty="0" sz="2400" spc="-7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draw</a:t>
            </a:r>
            <a:r>
              <a:rPr dirty="0" sz="2400" spc="-7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a</a:t>
            </a:r>
            <a:r>
              <a:rPr dirty="0" sz="2400" spc="-8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flowchart</a:t>
            </a:r>
            <a:r>
              <a:rPr dirty="0" sz="2400" spc="-7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that</a:t>
            </a:r>
            <a:r>
              <a:rPr dirty="0" sz="2400" spc="-7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will</a:t>
            </a:r>
            <a:r>
              <a:rPr dirty="0" sz="2400" spc="-8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calculate</a:t>
            </a:r>
            <a:r>
              <a:rPr dirty="0" sz="2400" spc="-8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25" b="1">
                <a:solidFill>
                  <a:srgbClr val="191B0E"/>
                </a:solidFill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38993" y="2776402"/>
            <a:ext cx="3827779" cy="935990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44"/>
              </a:spcBef>
            </a:pP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roots</a:t>
            </a:r>
            <a:r>
              <a:rPr dirty="0" sz="2400" spc="-7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of</a:t>
            </a:r>
            <a:r>
              <a:rPr dirty="0" sz="2400" spc="-6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a</a:t>
            </a:r>
            <a:r>
              <a:rPr dirty="0" sz="2400" spc="-7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quadratic</a:t>
            </a:r>
            <a:r>
              <a:rPr dirty="0" sz="2400" spc="-7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191B0E"/>
                </a:solidFill>
                <a:latin typeface="Times New Roman"/>
                <a:cs typeface="Times New Roman"/>
              </a:rPr>
              <a:t>equation</a:t>
            </a:r>
            <a:endParaRPr sz="2400">
              <a:latin typeface="Times New Roman"/>
              <a:cs typeface="Times New Roman"/>
            </a:endParaRPr>
          </a:p>
          <a:p>
            <a:pPr marL="212090">
              <a:lnSpc>
                <a:spcPct val="100000"/>
              </a:lnSpc>
              <a:spcBef>
                <a:spcPts val="720"/>
              </a:spcBef>
            </a:pPr>
            <a:r>
              <a:rPr dirty="0" sz="2350" spc="365" i="1">
                <a:latin typeface="Times New Roman"/>
                <a:cs typeface="Times New Roman"/>
              </a:rPr>
              <a:t>ax</a:t>
            </a:r>
            <a:r>
              <a:rPr dirty="0" baseline="43209" sz="2025" spc="547">
                <a:latin typeface="Times New Roman"/>
                <a:cs typeface="Times New Roman"/>
              </a:rPr>
              <a:t>2</a:t>
            </a:r>
            <a:r>
              <a:rPr dirty="0" baseline="43209" sz="2025" spc="120">
                <a:latin typeface="Times New Roman"/>
                <a:cs typeface="Times New Roman"/>
              </a:rPr>
              <a:t>  </a:t>
            </a:r>
            <a:r>
              <a:rPr dirty="0" sz="2350" spc="420">
                <a:latin typeface="Symbol"/>
                <a:cs typeface="Symbol"/>
              </a:rPr>
              <a:t></a:t>
            </a:r>
            <a:r>
              <a:rPr dirty="0" sz="2350" spc="-105">
                <a:latin typeface="Times New Roman"/>
                <a:cs typeface="Times New Roman"/>
              </a:rPr>
              <a:t> </a:t>
            </a:r>
            <a:r>
              <a:rPr dirty="0" sz="2350" spc="365" i="1">
                <a:latin typeface="Times New Roman"/>
                <a:cs typeface="Times New Roman"/>
              </a:rPr>
              <a:t>bx</a:t>
            </a:r>
            <a:r>
              <a:rPr dirty="0" sz="2350" spc="-20" i="1">
                <a:latin typeface="Times New Roman"/>
                <a:cs typeface="Times New Roman"/>
              </a:rPr>
              <a:t> </a:t>
            </a:r>
            <a:r>
              <a:rPr dirty="0" sz="2350" spc="420">
                <a:latin typeface="Symbol"/>
                <a:cs typeface="Symbol"/>
              </a:rPr>
              <a:t></a:t>
            </a:r>
            <a:r>
              <a:rPr dirty="0" sz="2350" spc="-60">
                <a:latin typeface="Times New Roman"/>
                <a:cs typeface="Times New Roman"/>
              </a:rPr>
              <a:t> </a:t>
            </a:r>
            <a:r>
              <a:rPr dirty="0" sz="2350" spc="340" i="1">
                <a:latin typeface="Times New Roman"/>
                <a:cs typeface="Times New Roman"/>
              </a:rPr>
              <a:t>c</a:t>
            </a:r>
            <a:r>
              <a:rPr dirty="0" sz="2350" spc="180" i="1">
                <a:latin typeface="Times New Roman"/>
                <a:cs typeface="Times New Roman"/>
              </a:rPr>
              <a:t> </a:t>
            </a:r>
            <a:r>
              <a:rPr dirty="0" sz="2350" spc="420">
                <a:latin typeface="Symbol"/>
                <a:cs typeface="Symbol"/>
              </a:rPr>
              <a:t></a:t>
            </a:r>
            <a:r>
              <a:rPr dirty="0" sz="2350" spc="95">
                <a:latin typeface="Times New Roman"/>
                <a:cs typeface="Times New Roman"/>
              </a:rPr>
              <a:t> </a:t>
            </a:r>
            <a:r>
              <a:rPr dirty="0" sz="2350" spc="325">
                <a:latin typeface="Times New Roman"/>
                <a:cs typeface="Times New Roman"/>
              </a:rPr>
              <a:t>0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86244" y="3794951"/>
            <a:ext cx="8621395" cy="7512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466090" indent="-402590">
              <a:lnSpc>
                <a:spcPts val="2905"/>
              </a:lnSpc>
              <a:spcBef>
                <a:spcPts val="114"/>
              </a:spcBef>
              <a:buFont typeface="Franklin Gothic Medium"/>
              <a:buChar char="■"/>
              <a:tabLst>
                <a:tab pos="466090" algn="l"/>
                <a:tab pos="3417570" algn="l"/>
                <a:tab pos="5913755" algn="l"/>
                <a:tab pos="8131809" algn="l"/>
              </a:tabLst>
            </a:pP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Hint:</a:t>
            </a:r>
            <a:r>
              <a:rPr dirty="0" sz="2400" spc="-10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d</a:t>
            </a:r>
            <a:r>
              <a:rPr dirty="0" sz="2400" spc="-6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=</a:t>
            </a:r>
            <a:r>
              <a:rPr dirty="0" sz="2400" spc="-7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sqrt</a:t>
            </a:r>
            <a:r>
              <a:rPr dirty="0" sz="24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70">
                <a:solidFill>
                  <a:srgbClr val="191B0E"/>
                </a:solidFill>
                <a:latin typeface="Times New Roman"/>
                <a:cs typeface="Times New Roman"/>
              </a:rPr>
              <a:t>(</a:t>
            </a:r>
            <a:r>
              <a:rPr dirty="0" baseline="1111" sz="3750" spc="-104" i="1">
                <a:latin typeface="Times New Roman"/>
                <a:cs typeface="Times New Roman"/>
              </a:rPr>
              <a:t>b</a:t>
            </a:r>
            <a:r>
              <a:rPr dirty="0" baseline="45977" sz="2175" spc="-104">
                <a:latin typeface="Times New Roman"/>
                <a:cs typeface="Times New Roman"/>
              </a:rPr>
              <a:t>2</a:t>
            </a:r>
            <a:r>
              <a:rPr dirty="0" baseline="45977" sz="2175" spc="284">
                <a:latin typeface="Times New Roman"/>
                <a:cs typeface="Times New Roman"/>
              </a:rPr>
              <a:t> </a:t>
            </a:r>
            <a:r>
              <a:rPr dirty="0" baseline="1111" sz="3750" spc="-195">
                <a:latin typeface="Symbol"/>
                <a:cs typeface="Symbol"/>
              </a:rPr>
              <a:t></a:t>
            </a:r>
            <a:r>
              <a:rPr dirty="0" baseline="1111" sz="3750" spc="-352">
                <a:latin typeface="Times New Roman"/>
                <a:cs typeface="Times New Roman"/>
              </a:rPr>
              <a:t> </a:t>
            </a:r>
            <a:r>
              <a:rPr dirty="0" baseline="1111" sz="3750" spc="-37">
                <a:latin typeface="Times New Roman"/>
                <a:cs typeface="Times New Roman"/>
              </a:rPr>
              <a:t>4</a:t>
            </a:r>
            <a:r>
              <a:rPr dirty="0" baseline="1111" sz="3750" spc="-37" i="1">
                <a:latin typeface="Times New Roman"/>
                <a:cs typeface="Times New Roman"/>
              </a:rPr>
              <a:t>ac</a:t>
            </a:r>
            <a:r>
              <a:rPr dirty="0" baseline="1111" sz="3750" i="1">
                <a:latin typeface="Times New Roman"/>
                <a:cs typeface="Times New Roman"/>
              </a:rPr>
              <a:t>	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),</a:t>
            </a:r>
            <a:r>
              <a:rPr dirty="0" sz="2400" spc="-4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and</a:t>
            </a:r>
            <a:r>
              <a:rPr dirty="0" sz="2400" spc="-4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the</a:t>
            </a:r>
            <a:r>
              <a:rPr dirty="0" sz="2400" spc="-4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roots</a:t>
            </a:r>
            <a:r>
              <a:rPr dirty="0" sz="2400" spc="-4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20">
                <a:solidFill>
                  <a:srgbClr val="191B0E"/>
                </a:solidFill>
                <a:latin typeface="Times New Roman"/>
                <a:cs typeface="Times New Roman"/>
              </a:rPr>
              <a:t>are: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	</a:t>
            </a:r>
            <a:r>
              <a:rPr dirty="0" sz="2400" b="1" i="1">
                <a:solidFill>
                  <a:srgbClr val="191B0E"/>
                </a:solidFill>
                <a:latin typeface="Times New Roman"/>
                <a:cs typeface="Times New Roman"/>
              </a:rPr>
              <a:t>x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1</a:t>
            </a:r>
            <a:r>
              <a:rPr dirty="0" sz="2400" spc="-2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=</a:t>
            </a:r>
            <a:r>
              <a:rPr dirty="0" sz="2400" spc="-2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(–</a:t>
            </a:r>
            <a:r>
              <a:rPr dirty="0" sz="2400" i="1">
                <a:solidFill>
                  <a:srgbClr val="191B0E"/>
                </a:solidFill>
                <a:latin typeface="Times New Roman"/>
                <a:cs typeface="Times New Roman"/>
              </a:rPr>
              <a:t>b</a:t>
            </a:r>
            <a:r>
              <a:rPr dirty="0" sz="2400" spc="-25" i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+</a:t>
            </a:r>
            <a:r>
              <a:rPr dirty="0" sz="2400" spc="-2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 i="1">
                <a:solidFill>
                  <a:srgbClr val="191B0E"/>
                </a:solidFill>
                <a:latin typeface="Times New Roman"/>
                <a:cs typeface="Times New Roman"/>
              </a:rPr>
              <a:t>d</a:t>
            </a: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)/2</a:t>
            </a:r>
            <a:r>
              <a:rPr dirty="0" sz="2400" spc="-10" i="1">
                <a:solidFill>
                  <a:srgbClr val="191B0E"/>
                </a:solidFill>
                <a:latin typeface="Times New Roman"/>
                <a:cs typeface="Times New Roman"/>
              </a:rPr>
              <a:t>a</a:t>
            </a:r>
            <a:r>
              <a:rPr dirty="0" sz="2400" i="1">
                <a:solidFill>
                  <a:srgbClr val="191B0E"/>
                </a:solidFill>
                <a:latin typeface="Times New Roman"/>
                <a:cs typeface="Times New Roman"/>
              </a:rPr>
              <a:t>	</a:t>
            </a:r>
            <a:r>
              <a:rPr dirty="0" sz="2400" spc="-25">
                <a:solidFill>
                  <a:srgbClr val="191B0E"/>
                </a:solidFill>
                <a:latin typeface="Times New Roman"/>
                <a:cs typeface="Times New Roman"/>
              </a:rPr>
              <a:t>and</a:t>
            </a:r>
            <a:endParaRPr sz="2400">
              <a:latin typeface="Times New Roman"/>
              <a:cs typeface="Times New Roman"/>
            </a:endParaRPr>
          </a:p>
          <a:p>
            <a:pPr marL="390525">
              <a:lnSpc>
                <a:spcPts val="2785"/>
              </a:lnSpc>
            </a:pPr>
            <a:r>
              <a:rPr dirty="0" sz="2400" b="1" i="1">
                <a:solidFill>
                  <a:srgbClr val="191B0E"/>
                </a:solidFill>
                <a:latin typeface="Times New Roman"/>
                <a:cs typeface="Times New Roman"/>
              </a:rPr>
              <a:t>x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2</a:t>
            </a:r>
            <a:r>
              <a:rPr dirty="0" sz="2400" spc="-2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=</a:t>
            </a:r>
            <a:r>
              <a:rPr dirty="0" sz="2400" spc="-2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(–</a:t>
            </a:r>
            <a:r>
              <a:rPr dirty="0" sz="2400" i="1">
                <a:solidFill>
                  <a:srgbClr val="191B0E"/>
                </a:solidFill>
                <a:latin typeface="Times New Roman"/>
                <a:cs typeface="Times New Roman"/>
              </a:rPr>
              <a:t>b</a:t>
            </a:r>
            <a:r>
              <a:rPr dirty="0" sz="2400" spc="-25" i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–</a:t>
            </a:r>
            <a:r>
              <a:rPr dirty="0" sz="2400" spc="-2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20" i="1">
                <a:solidFill>
                  <a:srgbClr val="191B0E"/>
                </a:solidFill>
                <a:latin typeface="Times New Roman"/>
                <a:cs typeface="Times New Roman"/>
              </a:rPr>
              <a:t>d</a:t>
            </a:r>
            <a:r>
              <a:rPr dirty="0" sz="2400" spc="-20">
                <a:solidFill>
                  <a:srgbClr val="191B0E"/>
                </a:solidFill>
                <a:latin typeface="Times New Roman"/>
                <a:cs typeface="Times New Roman"/>
              </a:rPr>
              <a:t>)/2</a:t>
            </a:r>
            <a:r>
              <a:rPr dirty="0" sz="2400" spc="-20" i="1">
                <a:solidFill>
                  <a:srgbClr val="191B0E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33019" rIns="0" bIns="0" rtlCol="0" vert="horz">
            <a:spAutoFit/>
          </a:bodyPr>
          <a:lstStyle/>
          <a:p>
            <a:pPr marL="6616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130"/>
              <a:t> </a:t>
            </a:r>
            <a:r>
              <a:rPr dirty="0" spc="-50"/>
              <a:t>4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386332" y="2682223"/>
            <a:ext cx="7013575" cy="2756535"/>
          </a:xfrm>
          <a:prstGeom prst="rect">
            <a:avLst/>
          </a:prstGeom>
        </p:spPr>
        <p:txBody>
          <a:bodyPr wrap="square" lIns="0" tIns="1041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2400" spc="-10" b="1">
                <a:solidFill>
                  <a:srgbClr val="191B0E"/>
                </a:solidFill>
                <a:latin typeface="Times New Roman"/>
                <a:cs typeface="Times New Roman"/>
              </a:rPr>
              <a:t>Pseudocode:</a:t>
            </a:r>
            <a:endParaRPr sz="2400">
              <a:latin typeface="Times New Roman"/>
              <a:cs typeface="Times New Roman"/>
            </a:endParaRPr>
          </a:p>
          <a:p>
            <a:pPr marL="339725" indent="-327025">
              <a:lnSpc>
                <a:spcPct val="100000"/>
              </a:lnSpc>
              <a:spcBef>
                <a:spcPts val="720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Input</a:t>
            </a:r>
            <a:r>
              <a:rPr dirty="0" sz="2400" spc="-4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the</a:t>
            </a:r>
            <a:r>
              <a:rPr dirty="0" sz="2400" spc="-4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coefficients</a:t>
            </a:r>
            <a:r>
              <a:rPr dirty="0" sz="2400" spc="-4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(a,</a:t>
            </a:r>
            <a:r>
              <a:rPr dirty="0" sz="2400" spc="-4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b,</a:t>
            </a:r>
            <a:r>
              <a:rPr dirty="0" sz="2400" spc="-4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c)</a:t>
            </a:r>
            <a:r>
              <a:rPr dirty="0" sz="2400" spc="-3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of</a:t>
            </a:r>
            <a:r>
              <a:rPr dirty="0" sz="2400" spc="-3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the</a:t>
            </a:r>
            <a:r>
              <a:rPr dirty="0" sz="2400" spc="-4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quadratic</a:t>
            </a:r>
            <a:r>
              <a:rPr dirty="0" sz="2400" spc="-4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equation</a:t>
            </a:r>
            <a:endParaRPr sz="2400">
              <a:latin typeface="Times New Roman"/>
              <a:cs typeface="Times New Roman"/>
            </a:endParaRPr>
          </a:p>
          <a:p>
            <a:pPr marL="339725" indent="-327025">
              <a:lnSpc>
                <a:spcPct val="100000"/>
              </a:lnSpc>
              <a:spcBef>
                <a:spcPts val="720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Calculate</a:t>
            </a:r>
            <a:r>
              <a:rPr dirty="0" sz="2400" spc="-12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50" b="1">
                <a:solidFill>
                  <a:srgbClr val="191B0E"/>
                </a:solidFill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  <a:p>
            <a:pPr marL="339725" indent="-327025">
              <a:lnSpc>
                <a:spcPct val="100000"/>
              </a:lnSpc>
              <a:spcBef>
                <a:spcPts val="625"/>
              </a:spcBef>
              <a:buFont typeface="Franklin Gothic Medium"/>
              <a:buChar char="■"/>
              <a:tabLst>
                <a:tab pos="339725" algn="l"/>
                <a:tab pos="1631314" algn="l"/>
              </a:tabLst>
            </a:pP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Calculate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	</a:t>
            </a:r>
            <a:r>
              <a:rPr dirty="0" sz="2400" spc="-25" b="1">
                <a:solidFill>
                  <a:srgbClr val="191B0E"/>
                </a:solidFill>
                <a:latin typeface="Times New Roman"/>
                <a:cs typeface="Times New Roman"/>
              </a:rPr>
              <a:t>x1</a:t>
            </a:r>
            <a:endParaRPr sz="2400">
              <a:latin typeface="Times New Roman"/>
              <a:cs typeface="Times New Roman"/>
            </a:endParaRPr>
          </a:p>
          <a:p>
            <a:pPr marL="339725" indent="-327025">
              <a:lnSpc>
                <a:spcPct val="100000"/>
              </a:lnSpc>
              <a:spcBef>
                <a:spcPts val="720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Calculate</a:t>
            </a:r>
            <a:r>
              <a:rPr dirty="0" sz="2400" spc="-12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25" b="1">
                <a:solidFill>
                  <a:srgbClr val="191B0E"/>
                </a:solidFill>
                <a:latin typeface="Times New Roman"/>
                <a:cs typeface="Times New Roman"/>
              </a:rPr>
              <a:t>x2</a:t>
            </a:r>
            <a:endParaRPr sz="2400">
              <a:latin typeface="Times New Roman"/>
              <a:cs typeface="Times New Roman"/>
            </a:endParaRPr>
          </a:p>
          <a:p>
            <a:pPr marL="339725" indent="-327025">
              <a:lnSpc>
                <a:spcPct val="100000"/>
              </a:lnSpc>
              <a:spcBef>
                <a:spcPts val="720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Print</a:t>
            </a:r>
            <a:r>
              <a:rPr dirty="0" sz="2400" spc="-4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x1</a:t>
            </a:r>
            <a:r>
              <a:rPr dirty="0" sz="2400" spc="-4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and</a:t>
            </a:r>
            <a:r>
              <a:rPr dirty="0" sz="2400" spc="-4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191B0E"/>
                </a:solidFill>
                <a:latin typeface="Times New Roman"/>
                <a:cs typeface="Times New Roman"/>
              </a:rPr>
              <a:t>x2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55939" y="1191387"/>
            <a:ext cx="2179320" cy="5892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130"/>
              <a:t> </a:t>
            </a:r>
            <a:r>
              <a:rPr dirty="0" spc="-50"/>
              <a:t>4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785736" y="1865458"/>
            <a:ext cx="13557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191B0E"/>
                </a:solidFill>
                <a:latin typeface="Times New Roman"/>
                <a:cs typeface="Times New Roman"/>
              </a:rPr>
              <a:t>Flowchart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37044" y="2526875"/>
            <a:ext cx="17849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9725" indent="-327025">
              <a:lnSpc>
                <a:spcPct val="100000"/>
              </a:lnSpc>
              <a:spcBef>
                <a:spcPts val="100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2400" spc="-10" b="1">
                <a:solidFill>
                  <a:srgbClr val="191B0E"/>
                </a:solidFill>
                <a:latin typeface="Times New Roman"/>
                <a:cs typeface="Times New Roman"/>
              </a:rPr>
              <a:t>Algorithm</a:t>
            </a: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37044" y="2899144"/>
            <a:ext cx="960119" cy="1882139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339725" indent="-327025">
              <a:lnSpc>
                <a:spcPct val="100000"/>
              </a:lnSpc>
              <a:spcBef>
                <a:spcPts val="965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1700">
                <a:solidFill>
                  <a:srgbClr val="191B0E"/>
                </a:solidFill>
                <a:latin typeface="Times New Roman"/>
                <a:cs typeface="Times New Roman"/>
              </a:rPr>
              <a:t>Step</a:t>
            </a:r>
            <a:r>
              <a:rPr dirty="0" sz="1700" spc="-2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700" spc="-25">
                <a:solidFill>
                  <a:srgbClr val="191B0E"/>
                </a:solidFill>
                <a:latin typeface="Times New Roman"/>
                <a:cs typeface="Times New Roman"/>
              </a:rPr>
              <a:t>1:</a:t>
            </a:r>
            <a:endParaRPr sz="1700">
              <a:latin typeface="Times New Roman"/>
              <a:cs typeface="Times New Roman"/>
            </a:endParaRPr>
          </a:p>
          <a:p>
            <a:pPr marL="339725" indent="-327025">
              <a:lnSpc>
                <a:spcPct val="100000"/>
              </a:lnSpc>
              <a:spcBef>
                <a:spcPts val="860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1700">
                <a:solidFill>
                  <a:srgbClr val="191B0E"/>
                </a:solidFill>
                <a:latin typeface="Times New Roman"/>
                <a:cs typeface="Times New Roman"/>
              </a:rPr>
              <a:t>Step</a:t>
            </a:r>
            <a:r>
              <a:rPr dirty="0" sz="1700" spc="-2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700" spc="-25">
                <a:solidFill>
                  <a:srgbClr val="191B0E"/>
                </a:solidFill>
                <a:latin typeface="Times New Roman"/>
                <a:cs typeface="Times New Roman"/>
              </a:rPr>
              <a:t>2:</a:t>
            </a:r>
            <a:endParaRPr sz="1700">
              <a:latin typeface="Times New Roman"/>
              <a:cs typeface="Times New Roman"/>
            </a:endParaRPr>
          </a:p>
          <a:p>
            <a:pPr marL="339725" indent="-327025">
              <a:lnSpc>
                <a:spcPct val="100000"/>
              </a:lnSpc>
              <a:spcBef>
                <a:spcPts val="960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1700">
                <a:solidFill>
                  <a:srgbClr val="191B0E"/>
                </a:solidFill>
                <a:latin typeface="Times New Roman"/>
                <a:cs typeface="Times New Roman"/>
              </a:rPr>
              <a:t>Step</a:t>
            </a:r>
            <a:r>
              <a:rPr dirty="0" sz="1700" spc="-2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700" spc="-25">
                <a:solidFill>
                  <a:srgbClr val="191B0E"/>
                </a:solidFill>
                <a:latin typeface="Times New Roman"/>
                <a:cs typeface="Times New Roman"/>
              </a:rPr>
              <a:t>3:</a:t>
            </a:r>
            <a:endParaRPr sz="1700">
              <a:latin typeface="Times New Roman"/>
              <a:cs typeface="Times New Roman"/>
            </a:endParaRPr>
          </a:p>
          <a:p>
            <a:pPr marL="339725" indent="-327025">
              <a:lnSpc>
                <a:spcPct val="100000"/>
              </a:lnSpc>
              <a:spcBef>
                <a:spcPts val="865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1700">
                <a:solidFill>
                  <a:srgbClr val="191B0E"/>
                </a:solidFill>
                <a:latin typeface="Times New Roman"/>
                <a:cs typeface="Times New Roman"/>
              </a:rPr>
              <a:t>Step</a:t>
            </a:r>
            <a:r>
              <a:rPr dirty="0" sz="1700" spc="-2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700" spc="-25">
                <a:solidFill>
                  <a:srgbClr val="191B0E"/>
                </a:solidFill>
                <a:latin typeface="Times New Roman"/>
                <a:cs typeface="Times New Roman"/>
              </a:rPr>
              <a:t>4:</a:t>
            </a:r>
            <a:endParaRPr sz="1700">
              <a:latin typeface="Times New Roman"/>
              <a:cs typeface="Times New Roman"/>
            </a:endParaRPr>
          </a:p>
          <a:p>
            <a:pPr marL="339725" indent="-327025">
              <a:lnSpc>
                <a:spcPct val="100000"/>
              </a:lnSpc>
              <a:spcBef>
                <a:spcPts val="865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1700">
                <a:solidFill>
                  <a:srgbClr val="191B0E"/>
                </a:solidFill>
                <a:latin typeface="Times New Roman"/>
                <a:cs typeface="Times New Roman"/>
              </a:rPr>
              <a:t>Step</a:t>
            </a:r>
            <a:r>
              <a:rPr dirty="0" sz="1700" spc="-2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700" spc="-25">
                <a:solidFill>
                  <a:srgbClr val="191B0E"/>
                </a:solidFill>
                <a:latin typeface="Times New Roman"/>
                <a:cs typeface="Times New Roman"/>
              </a:rPr>
              <a:t>5: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7812394" y="2553007"/>
            <a:ext cx="1424940" cy="382905"/>
            <a:chOff x="7812394" y="2553007"/>
            <a:chExt cx="1424940" cy="382905"/>
          </a:xfrm>
        </p:grpSpPr>
        <p:sp>
          <p:nvSpPr>
            <p:cNvPr id="7" name="object 7" descr=""/>
            <p:cNvSpPr/>
            <p:nvPr/>
          </p:nvSpPr>
          <p:spPr>
            <a:xfrm>
              <a:off x="7816521" y="2557134"/>
              <a:ext cx="1416685" cy="374650"/>
            </a:xfrm>
            <a:custGeom>
              <a:avLst/>
              <a:gdLst/>
              <a:ahLst/>
              <a:cxnLst/>
              <a:rect l="l" t="t" r="r" b="b"/>
              <a:pathLst>
                <a:path w="1416684" h="374650">
                  <a:moveTo>
                    <a:pt x="1188721" y="0"/>
                  </a:moveTo>
                  <a:lnTo>
                    <a:pt x="227906" y="0"/>
                  </a:lnTo>
                  <a:lnTo>
                    <a:pt x="175649" y="4942"/>
                  </a:lnTo>
                  <a:lnTo>
                    <a:pt x="127679" y="19020"/>
                  </a:lnTo>
                  <a:lnTo>
                    <a:pt x="85363" y="41110"/>
                  </a:lnTo>
                  <a:lnTo>
                    <a:pt x="50068" y="70090"/>
                  </a:lnTo>
                  <a:lnTo>
                    <a:pt x="23164" y="104836"/>
                  </a:lnTo>
                  <a:lnTo>
                    <a:pt x="6019" y="144224"/>
                  </a:lnTo>
                  <a:lnTo>
                    <a:pt x="0" y="187131"/>
                  </a:lnTo>
                  <a:lnTo>
                    <a:pt x="6019" y="230039"/>
                  </a:lnTo>
                  <a:lnTo>
                    <a:pt x="23164" y="269427"/>
                  </a:lnTo>
                  <a:lnTo>
                    <a:pt x="50068" y="304172"/>
                  </a:lnTo>
                  <a:lnTo>
                    <a:pt x="85363" y="333151"/>
                  </a:lnTo>
                  <a:lnTo>
                    <a:pt x="127679" y="355242"/>
                  </a:lnTo>
                  <a:lnTo>
                    <a:pt x="175649" y="369320"/>
                  </a:lnTo>
                  <a:lnTo>
                    <a:pt x="227906" y="374262"/>
                  </a:lnTo>
                  <a:lnTo>
                    <a:pt x="1188721" y="374262"/>
                  </a:lnTo>
                  <a:lnTo>
                    <a:pt x="1240977" y="369320"/>
                  </a:lnTo>
                  <a:lnTo>
                    <a:pt x="1288948" y="355242"/>
                  </a:lnTo>
                  <a:lnTo>
                    <a:pt x="1331264" y="333151"/>
                  </a:lnTo>
                  <a:lnTo>
                    <a:pt x="1366559" y="304172"/>
                  </a:lnTo>
                  <a:lnTo>
                    <a:pt x="1393463" y="269427"/>
                  </a:lnTo>
                  <a:lnTo>
                    <a:pt x="1410608" y="230039"/>
                  </a:lnTo>
                  <a:lnTo>
                    <a:pt x="1416627" y="187131"/>
                  </a:lnTo>
                  <a:lnTo>
                    <a:pt x="1410608" y="144224"/>
                  </a:lnTo>
                  <a:lnTo>
                    <a:pt x="1393463" y="104836"/>
                  </a:lnTo>
                  <a:lnTo>
                    <a:pt x="1366559" y="70090"/>
                  </a:lnTo>
                  <a:lnTo>
                    <a:pt x="1331264" y="41110"/>
                  </a:lnTo>
                  <a:lnTo>
                    <a:pt x="1288948" y="19020"/>
                  </a:lnTo>
                  <a:lnTo>
                    <a:pt x="1240977" y="4942"/>
                  </a:lnTo>
                  <a:lnTo>
                    <a:pt x="11887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816521" y="2557134"/>
              <a:ext cx="1416685" cy="374650"/>
            </a:xfrm>
            <a:custGeom>
              <a:avLst/>
              <a:gdLst/>
              <a:ahLst/>
              <a:cxnLst/>
              <a:rect l="l" t="t" r="r" b="b"/>
              <a:pathLst>
                <a:path w="1416684" h="374650">
                  <a:moveTo>
                    <a:pt x="227906" y="0"/>
                  </a:moveTo>
                  <a:lnTo>
                    <a:pt x="1188720" y="0"/>
                  </a:lnTo>
                  <a:lnTo>
                    <a:pt x="1240977" y="4942"/>
                  </a:lnTo>
                  <a:lnTo>
                    <a:pt x="1288947" y="19020"/>
                  </a:lnTo>
                  <a:lnTo>
                    <a:pt x="1331264" y="41110"/>
                  </a:lnTo>
                  <a:lnTo>
                    <a:pt x="1366558" y="70090"/>
                  </a:lnTo>
                  <a:lnTo>
                    <a:pt x="1393462" y="104835"/>
                  </a:lnTo>
                  <a:lnTo>
                    <a:pt x="1410607" y="144223"/>
                  </a:lnTo>
                  <a:lnTo>
                    <a:pt x="1416626" y="187130"/>
                  </a:lnTo>
                  <a:lnTo>
                    <a:pt x="1410607" y="230038"/>
                  </a:lnTo>
                  <a:lnTo>
                    <a:pt x="1393462" y="269426"/>
                  </a:lnTo>
                  <a:lnTo>
                    <a:pt x="1366558" y="304171"/>
                  </a:lnTo>
                  <a:lnTo>
                    <a:pt x="1331264" y="333151"/>
                  </a:lnTo>
                  <a:lnTo>
                    <a:pt x="1288947" y="355241"/>
                  </a:lnTo>
                  <a:lnTo>
                    <a:pt x="1240977" y="369319"/>
                  </a:lnTo>
                  <a:lnTo>
                    <a:pt x="1188720" y="374261"/>
                  </a:lnTo>
                  <a:lnTo>
                    <a:pt x="227906" y="374261"/>
                  </a:lnTo>
                  <a:lnTo>
                    <a:pt x="175649" y="369319"/>
                  </a:lnTo>
                  <a:lnTo>
                    <a:pt x="127678" y="355241"/>
                  </a:lnTo>
                  <a:lnTo>
                    <a:pt x="85362" y="333151"/>
                  </a:lnTo>
                  <a:lnTo>
                    <a:pt x="50068" y="304171"/>
                  </a:lnTo>
                  <a:lnTo>
                    <a:pt x="23164" y="269426"/>
                  </a:lnTo>
                  <a:lnTo>
                    <a:pt x="6019" y="230038"/>
                  </a:lnTo>
                  <a:lnTo>
                    <a:pt x="0" y="187130"/>
                  </a:lnTo>
                  <a:lnTo>
                    <a:pt x="6019" y="144223"/>
                  </a:lnTo>
                  <a:lnTo>
                    <a:pt x="23164" y="104835"/>
                  </a:lnTo>
                  <a:lnTo>
                    <a:pt x="50068" y="70090"/>
                  </a:lnTo>
                  <a:lnTo>
                    <a:pt x="85362" y="41110"/>
                  </a:lnTo>
                  <a:lnTo>
                    <a:pt x="127678" y="19020"/>
                  </a:lnTo>
                  <a:lnTo>
                    <a:pt x="175649" y="4942"/>
                  </a:lnTo>
                  <a:lnTo>
                    <a:pt x="227906" y="0"/>
                  </a:lnTo>
                  <a:close/>
                </a:path>
              </a:pathLst>
            </a:custGeom>
            <a:ln w="81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7948501" y="2640357"/>
            <a:ext cx="420370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-10">
                <a:latin typeface="Franklin Gothic Medium"/>
                <a:cs typeface="Franklin Gothic Medium"/>
              </a:rPr>
              <a:t>START</a:t>
            </a:r>
            <a:endParaRPr sz="1150">
              <a:latin typeface="Franklin Gothic Medium"/>
              <a:cs typeface="Franklin Gothic Medium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6956516" y="2931397"/>
            <a:ext cx="3124835" cy="705485"/>
            <a:chOff x="6956516" y="2931397"/>
            <a:chExt cx="3124835" cy="705485"/>
          </a:xfrm>
        </p:grpSpPr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92371" y="2931397"/>
              <a:ext cx="64928" cy="233264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6960643" y="3187404"/>
              <a:ext cx="3116580" cy="445134"/>
            </a:xfrm>
            <a:custGeom>
              <a:avLst/>
              <a:gdLst/>
              <a:ahLst/>
              <a:cxnLst/>
              <a:rect l="l" t="t" r="r" b="b"/>
              <a:pathLst>
                <a:path w="3116579" h="445135">
                  <a:moveTo>
                    <a:pt x="3116580" y="0"/>
                  </a:moveTo>
                  <a:lnTo>
                    <a:pt x="623316" y="0"/>
                  </a:lnTo>
                  <a:lnTo>
                    <a:pt x="0" y="445085"/>
                  </a:lnTo>
                  <a:lnTo>
                    <a:pt x="2493264" y="445085"/>
                  </a:lnTo>
                  <a:lnTo>
                    <a:pt x="31165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960643" y="3187404"/>
              <a:ext cx="3116580" cy="445134"/>
            </a:xfrm>
            <a:custGeom>
              <a:avLst/>
              <a:gdLst/>
              <a:ahLst/>
              <a:cxnLst/>
              <a:rect l="l" t="t" r="r" b="b"/>
              <a:pathLst>
                <a:path w="3116579" h="445135">
                  <a:moveTo>
                    <a:pt x="0" y="445085"/>
                  </a:moveTo>
                  <a:lnTo>
                    <a:pt x="623315" y="0"/>
                  </a:lnTo>
                  <a:lnTo>
                    <a:pt x="3116579" y="0"/>
                  </a:lnTo>
                  <a:lnTo>
                    <a:pt x="2493263" y="445085"/>
                  </a:lnTo>
                  <a:lnTo>
                    <a:pt x="0" y="445085"/>
                  </a:lnTo>
                  <a:close/>
                </a:path>
              </a:pathLst>
            </a:custGeom>
            <a:ln w="81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8314828" y="3213381"/>
            <a:ext cx="409575" cy="3848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26034">
              <a:lnSpc>
                <a:spcPct val="102600"/>
              </a:lnSpc>
              <a:spcBef>
                <a:spcPts val="90"/>
              </a:spcBef>
            </a:pPr>
            <a:r>
              <a:rPr dirty="0" sz="1150" spc="-10">
                <a:latin typeface="Franklin Gothic Medium"/>
                <a:cs typeface="Franklin Gothic Medium"/>
              </a:rPr>
              <a:t>Input </a:t>
            </a:r>
            <a:r>
              <a:rPr dirty="0" sz="1150">
                <a:latin typeface="Franklin Gothic Medium"/>
                <a:cs typeface="Franklin Gothic Medium"/>
              </a:rPr>
              <a:t>a,</a:t>
            </a:r>
            <a:r>
              <a:rPr dirty="0" sz="1150" spc="30">
                <a:latin typeface="Franklin Gothic Medium"/>
                <a:cs typeface="Franklin Gothic Medium"/>
              </a:rPr>
              <a:t> </a:t>
            </a:r>
            <a:r>
              <a:rPr dirty="0" sz="1150">
                <a:latin typeface="Franklin Gothic Medium"/>
                <a:cs typeface="Franklin Gothic Medium"/>
              </a:rPr>
              <a:t>b,</a:t>
            </a:r>
            <a:r>
              <a:rPr dirty="0" sz="1150" spc="30">
                <a:latin typeface="Franklin Gothic Medium"/>
                <a:cs typeface="Franklin Gothic Medium"/>
              </a:rPr>
              <a:t> </a:t>
            </a:r>
            <a:r>
              <a:rPr dirty="0" sz="1150" spc="-50">
                <a:latin typeface="Franklin Gothic Medium"/>
                <a:cs typeface="Franklin Gothic Medium"/>
              </a:rPr>
              <a:t>c</a:t>
            </a:r>
            <a:endParaRPr sz="1150">
              <a:latin typeface="Franklin Gothic Medium"/>
              <a:cs typeface="Franklin Gothic Medium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046230" y="3869002"/>
            <a:ext cx="2889885" cy="247015"/>
          </a:xfrm>
          <a:prstGeom prst="rect">
            <a:avLst/>
          </a:prstGeom>
          <a:solidFill>
            <a:srgbClr val="FFFFFF"/>
          </a:solidFill>
          <a:ln w="8113">
            <a:solidFill>
              <a:srgbClr val="000000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595630">
              <a:lnSpc>
                <a:spcPts val="1625"/>
              </a:lnSpc>
              <a:spcBef>
                <a:spcPts val="320"/>
              </a:spcBef>
            </a:pPr>
            <a:r>
              <a:rPr dirty="0" sz="1150">
                <a:latin typeface="Franklin Gothic Medium"/>
                <a:cs typeface="Franklin Gothic Medium"/>
              </a:rPr>
              <a:t>d</a:t>
            </a:r>
            <a:r>
              <a:rPr dirty="0" sz="1150" spc="20">
                <a:latin typeface="Franklin Gothic Medium"/>
                <a:cs typeface="Franklin Gothic Medium"/>
              </a:rPr>
              <a:t> </a:t>
            </a:r>
            <a:r>
              <a:rPr dirty="0" sz="1500">
                <a:latin typeface="Symbol"/>
                <a:cs typeface="Symbol"/>
              </a:rPr>
              <a:t></a:t>
            </a:r>
            <a:r>
              <a:rPr dirty="0" sz="1500" spc="70">
                <a:latin typeface="Times New Roman"/>
                <a:cs typeface="Times New Roman"/>
              </a:rPr>
              <a:t> </a:t>
            </a:r>
            <a:r>
              <a:rPr dirty="0" sz="1150">
                <a:latin typeface="Franklin Gothic Medium"/>
                <a:cs typeface="Franklin Gothic Medium"/>
              </a:rPr>
              <a:t>sqrt(</a:t>
            </a:r>
            <a:r>
              <a:rPr dirty="0" sz="1150" i="1">
                <a:latin typeface="Franklin Gothic Medium"/>
                <a:cs typeface="Franklin Gothic Medium"/>
              </a:rPr>
              <a:t>b</a:t>
            </a:r>
            <a:r>
              <a:rPr dirty="0" sz="1150" spc="20" i="1">
                <a:latin typeface="Franklin Gothic Medium"/>
                <a:cs typeface="Franklin Gothic Medium"/>
              </a:rPr>
              <a:t> </a:t>
            </a:r>
            <a:r>
              <a:rPr dirty="0" sz="1150" i="1">
                <a:latin typeface="Franklin Gothic Medium"/>
                <a:cs typeface="Franklin Gothic Medium"/>
              </a:rPr>
              <a:t>x</a:t>
            </a:r>
            <a:r>
              <a:rPr dirty="0" sz="1150" spc="25" i="1">
                <a:latin typeface="Franklin Gothic Medium"/>
                <a:cs typeface="Franklin Gothic Medium"/>
              </a:rPr>
              <a:t> </a:t>
            </a:r>
            <a:r>
              <a:rPr dirty="0" sz="1150" i="1">
                <a:latin typeface="Franklin Gothic Medium"/>
                <a:cs typeface="Franklin Gothic Medium"/>
              </a:rPr>
              <a:t>b</a:t>
            </a:r>
            <a:r>
              <a:rPr dirty="0" sz="1150" spc="20" i="1">
                <a:latin typeface="Franklin Gothic Medium"/>
                <a:cs typeface="Franklin Gothic Medium"/>
              </a:rPr>
              <a:t> </a:t>
            </a:r>
            <a:r>
              <a:rPr dirty="0" sz="1150">
                <a:latin typeface="Franklin Gothic Medium"/>
                <a:cs typeface="Franklin Gothic Medium"/>
              </a:rPr>
              <a:t>–</a:t>
            </a:r>
            <a:r>
              <a:rPr dirty="0" sz="1150" spc="35">
                <a:latin typeface="Franklin Gothic Medium"/>
                <a:cs typeface="Franklin Gothic Medium"/>
              </a:rPr>
              <a:t> </a:t>
            </a:r>
            <a:r>
              <a:rPr dirty="0" sz="1150">
                <a:latin typeface="Franklin Gothic Medium"/>
                <a:cs typeface="Franklin Gothic Medium"/>
              </a:rPr>
              <a:t>4</a:t>
            </a:r>
            <a:r>
              <a:rPr dirty="0" sz="1150" spc="30">
                <a:latin typeface="Franklin Gothic Medium"/>
                <a:cs typeface="Franklin Gothic Medium"/>
              </a:rPr>
              <a:t> </a:t>
            </a:r>
            <a:r>
              <a:rPr dirty="0" sz="1150">
                <a:latin typeface="Franklin Gothic Medium"/>
                <a:cs typeface="Franklin Gothic Medium"/>
              </a:rPr>
              <a:t>x</a:t>
            </a:r>
            <a:r>
              <a:rPr dirty="0" sz="1150" spc="30">
                <a:latin typeface="Franklin Gothic Medium"/>
                <a:cs typeface="Franklin Gothic Medium"/>
              </a:rPr>
              <a:t> </a:t>
            </a:r>
            <a:r>
              <a:rPr dirty="0" sz="1150" i="1">
                <a:latin typeface="Franklin Gothic Medium"/>
                <a:cs typeface="Franklin Gothic Medium"/>
              </a:rPr>
              <a:t>a</a:t>
            </a:r>
            <a:r>
              <a:rPr dirty="0" sz="1150" spc="30" i="1">
                <a:latin typeface="Franklin Gothic Medium"/>
                <a:cs typeface="Franklin Gothic Medium"/>
              </a:rPr>
              <a:t> </a:t>
            </a:r>
            <a:r>
              <a:rPr dirty="0" sz="1150">
                <a:latin typeface="Franklin Gothic Medium"/>
                <a:cs typeface="Franklin Gothic Medium"/>
              </a:rPr>
              <a:t>x</a:t>
            </a:r>
            <a:r>
              <a:rPr dirty="0" sz="1150" spc="30">
                <a:latin typeface="Franklin Gothic Medium"/>
                <a:cs typeface="Franklin Gothic Medium"/>
              </a:rPr>
              <a:t> </a:t>
            </a:r>
            <a:r>
              <a:rPr dirty="0" sz="1150" spc="-25" i="1">
                <a:latin typeface="Franklin Gothic Medium"/>
                <a:cs typeface="Franklin Gothic Medium"/>
              </a:rPr>
              <a:t>c</a:t>
            </a:r>
            <a:r>
              <a:rPr dirty="0" sz="1150" spc="-25">
                <a:latin typeface="Franklin Gothic Medium"/>
                <a:cs typeface="Franklin Gothic Medium"/>
              </a:rPr>
              <a:t>)</a:t>
            </a:r>
            <a:endParaRPr sz="1150">
              <a:latin typeface="Franklin Gothic Medium"/>
              <a:cs typeface="Franklin Gothic Medium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7269353" y="5300196"/>
            <a:ext cx="2416810" cy="551815"/>
            <a:chOff x="7269353" y="5300196"/>
            <a:chExt cx="2416810" cy="551815"/>
          </a:xfrm>
        </p:grpSpPr>
        <p:sp>
          <p:nvSpPr>
            <p:cNvPr id="17" name="object 17" descr=""/>
            <p:cNvSpPr/>
            <p:nvPr/>
          </p:nvSpPr>
          <p:spPr>
            <a:xfrm>
              <a:off x="7273481" y="5304323"/>
              <a:ext cx="2408555" cy="543560"/>
            </a:xfrm>
            <a:custGeom>
              <a:avLst/>
              <a:gdLst/>
              <a:ahLst/>
              <a:cxnLst/>
              <a:rect l="l" t="t" r="r" b="b"/>
              <a:pathLst>
                <a:path w="2408554" h="543560">
                  <a:moveTo>
                    <a:pt x="2006888" y="0"/>
                  </a:moveTo>
                  <a:lnTo>
                    <a:pt x="401377" y="0"/>
                  </a:lnTo>
                  <a:lnTo>
                    <a:pt x="0" y="271600"/>
                  </a:lnTo>
                  <a:lnTo>
                    <a:pt x="401377" y="543200"/>
                  </a:lnTo>
                  <a:lnTo>
                    <a:pt x="2006888" y="543200"/>
                  </a:lnTo>
                  <a:lnTo>
                    <a:pt x="2061352" y="540721"/>
                  </a:lnTo>
                  <a:lnTo>
                    <a:pt x="2113590" y="533498"/>
                  </a:lnTo>
                  <a:lnTo>
                    <a:pt x="2163122" y="521857"/>
                  </a:lnTo>
                  <a:lnTo>
                    <a:pt x="2209471" y="506119"/>
                  </a:lnTo>
                  <a:lnTo>
                    <a:pt x="2252157" y="486609"/>
                  </a:lnTo>
                  <a:lnTo>
                    <a:pt x="2290704" y="463651"/>
                  </a:lnTo>
                  <a:lnTo>
                    <a:pt x="2324633" y="437567"/>
                  </a:lnTo>
                  <a:lnTo>
                    <a:pt x="2353465" y="408682"/>
                  </a:lnTo>
                  <a:lnTo>
                    <a:pt x="2376723" y="377320"/>
                  </a:lnTo>
                  <a:lnTo>
                    <a:pt x="2404601" y="308455"/>
                  </a:lnTo>
                  <a:lnTo>
                    <a:pt x="2408265" y="271600"/>
                  </a:lnTo>
                  <a:lnTo>
                    <a:pt x="2404601" y="234746"/>
                  </a:lnTo>
                  <a:lnTo>
                    <a:pt x="2376723" y="165881"/>
                  </a:lnTo>
                  <a:lnTo>
                    <a:pt x="2353465" y="134518"/>
                  </a:lnTo>
                  <a:lnTo>
                    <a:pt x="2324633" y="105633"/>
                  </a:lnTo>
                  <a:lnTo>
                    <a:pt x="2290704" y="79550"/>
                  </a:lnTo>
                  <a:lnTo>
                    <a:pt x="2252157" y="56591"/>
                  </a:lnTo>
                  <a:lnTo>
                    <a:pt x="2209471" y="37081"/>
                  </a:lnTo>
                  <a:lnTo>
                    <a:pt x="2163122" y="21343"/>
                  </a:lnTo>
                  <a:lnTo>
                    <a:pt x="2113590" y="9701"/>
                  </a:lnTo>
                  <a:lnTo>
                    <a:pt x="2061352" y="2479"/>
                  </a:lnTo>
                  <a:lnTo>
                    <a:pt x="20068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273481" y="5304323"/>
              <a:ext cx="2408555" cy="543560"/>
            </a:xfrm>
            <a:custGeom>
              <a:avLst/>
              <a:gdLst/>
              <a:ahLst/>
              <a:cxnLst/>
              <a:rect l="l" t="t" r="r" b="b"/>
              <a:pathLst>
                <a:path w="2408554" h="543560">
                  <a:moveTo>
                    <a:pt x="0" y="271600"/>
                  </a:moveTo>
                  <a:lnTo>
                    <a:pt x="401377" y="0"/>
                  </a:lnTo>
                  <a:lnTo>
                    <a:pt x="2006887" y="0"/>
                  </a:lnTo>
                  <a:lnTo>
                    <a:pt x="2061352" y="2479"/>
                  </a:lnTo>
                  <a:lnTo>
                    <a:pt x="2113590" y="9701"/>
                  </a:lnTo>
                  <a:lnTo>
                    <a:pt x="2163122" y="21343"/>
                  </a:lnTo>
                  <a:lnTo>
                    <a:pt x="2209471" y="37081"/>
                  </a:lnTo>
                  <a:lnTo>
                    <a:pt x="2252158" y="56591"/>
                  </a:lnTo>
                  <a:lnTo>
                    <a:pt x="2290705" y="79549"/>
                  </a:lnTo>
                  <a:lnTo>
                    <a:pt x="2324633" y="105633"/>
                  </a:lnTo>
                  <a:lnTo>
                    <a:pt x="2353466" y="134518"/>
                  </a:lnTo>
                  <a:lnTo>
                    <a:pt x="2376723" y="165881"/>
                  </a:lnTo>
                  <a:lnTo>
                    <a:pt x="2404601" y="234745"/>
                  </a:lnTo>
                  <a:lnTo>
                    <a:pt x="2408265" y="271600"/>
                  </a:lnTo>
                  <a:lnTo>
                    <a:pt x="2404601" y="308454"/>
                  </a:lnTo>
                  <a:lnTo>
                    <a:pt x="2376723" y="377319"/>
                  </a:lnTo>
                  <a:lnTo>
                    <a:pt x="2353466" y="408682"/>
                  </a:lnTo>
                  <a:lnTo>
                    <a:pt x="2324633" y="437566"/>
                  </a:lnTo>
                  <a:lnTo>
                    <a:pt x="2290705" y="463650"/>
                  </a:lnTo>
                  <a:lnTo>
                    <a:pt x="2252158" y="486609"/>
                  </a:lnTo>
                  <a:lnTo>
                    <a:pt x="2209471" y="506118"/>
                  </a:lnTo>
                  <a:lnTo>
                    <a:pt x="2163122" y="521856"/>
                  </a:lnTo>
                  <a:lnTo>
                    <a:pt x="2113590" y="533498"/>
                  </a:lnTo>
                  <a:lnTo>
                    <a:pt x="2061352" y="540720"/>
                  </a:lnTo>
                  <a:lnTo>
                    <a:pt x="2006887" y="543200"/>
                  </a:lnTo>
                  <a:lnTo>
                    <a:pt x="401377" y="543200"/>
                  </a:lnTo>
                  <a:lnTo>
                    <a:pt x="0" y="271600"/>
                  </a:lnTo>
                  <a:close/>
                </a:path>
              </a:pathLst>
            </a:custGeom>
            <a:ln w="81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8275840" y="5331741"/>
            <a:ext cx="403860" cy="3816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125"/>
              </a:spcBef>
            </a:pPr>
            <a:r>
              <a:rPr dirty="0" sz="1150" spc="-10">
                <a:latin typeface="Franklin Gothic Medium"/>
                <a:cs typeface="Franklin Gothic Medium"/>
              </a:rPr>
              <a:t>Print</a:t>
            </a:r>
            <a:endParaRPr sz="1150">
              <a:latin typeface="Franklin Gothic Medium"/>
              <a:cs typeface="Franklin Gothic Medium"/>
            </a:endParaRPr>
          </a:p>
          <a:p>
            <a:pPr marL="38100">
              <a:lnSpc>
                <a:spcPct val="100000"/>
              </a:lnSpc>
              <a:spcBef>
                <a:spcPts val="10"/>
              </a:spcBef>
            </a:pPr>
            <a:r>
              <a:rPr dirty="0" sz="1150" i="1">
                <a:latin typeface="Franklin Gothic Medium"/>
                <a:cs typeface="Franklin Gothic Medium"/>
              </a:rPr>
              <a:t>x</a:t>
            </a:r>
            <a:r>
              <a:rPr dirty="0" baseline="-14814" sz="1125">
                <a:latin typeface="Franklin Gothic Medium"/>
                <a:cs typeface="Franklin Gothic Medium"/>
              </a:rPr>
              <a:t>1</a:t>
            </a:r>
            <a:r>
              <a:rPr dirty="0" baseline="-14814" sz="1125" spc="187">
                <a:latin typeface="Franklin Gothic Medium"/>
                <a:cs typeface="Franklin Gothic Medium"/>
              </a:rPr>
              <a:t> </a:t>
            </a:r>
            <a:r>
              <a:rPr dirty="0" sz="1150" spc="-25">
                <a:latin typeface="Franklin Gothic Medium"/>
                <a:cs typeface="Franklin Gothic Medium"/>
              </a:rPr>
              <a:t>,</a:t>
            </a:r>
            <a:r>
              <a:rPr dirty="0" sz="1150" spc="-25" i="1">
                <a:latin typeface="Franklin Gothic Medium"/>
                <a:cs typeface="Franklin Gothic Medium"/>
              </a:rPr>
              <a:t>x</a:t>
            </a:r>
            <a:r>
              <a:rPr dirty="0" baseline="-14814" sz="1125" spc="-37">
                <a:latin typeface="Franklin Gothic Medium"/>
                <a:cs typeface="Franklin Gothic Medium"/>
              </a:rPr>
              <a:t>2</a:t>
            </a:r>
            <a:endParaRPr baseline="-14814" sz="1125">
              <a:latin typeface="Franklin Gothic Medium"/>
              <a:cs typeface="Franklin Gothic Medium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7761239" y="6061066"/>
            <a:ext cx="1424940" cy="394970"/>
            <a:chOff x="7761239" y="6061066"/>
            <a:chExt cx="1424940" cy="394970"/>
          </a:xfrm>
        </p:grpSpPr>
        <p:sp>
          <p:nvSpPr>
            <p:cNvPr id="21" name="object 21" descr=""/>
            <p:cNvSpPr/>
            <p:nvPr/>
          </p:nvSpPr>
          <p:spPr>
            <a:xfrm>
              <a:off x="7765366" y="6065193"/>
              <a:ext cx="1416685" cy="386715"/>
            </a:xfrm>
            <a:custGeom>
              <a:avLst/>
              <a:gdLst/>
              <a:ahLst/>
              <a:cxnLst/>
              <a:rect l="l" t="t" r="r" b="b"/>
              <a:pathLst>
                <a:path w="1416684" h="386714">
                  <a:moveTo>
                    <a:pt x="1188720" y="0"/>
                  </a:moveTo>
                  <a:lnTo>
                    <a:pt x="227905" y="0"/>
                  </a:lnTo>
                  <a:lnTo>
                    <a:pt x="175648" y="5105"/>
                  </a:lnTo>
                  <a:lnTo>
                    <a:pt x="127678" y="19647"/>
                  </a:lnTo>
                  <a:lnTo>
                    <a:pt x="85362" y="42466"/>
                  </a:lnTo>
                  <a:lnTo>
                    <a:pt x="50068" y="72402"/>
                  </a:lnTo>
                  <a:lnTo>
                    <a:pt x="23164" y="108293"/>
                  </a:lnTo>
                  <a:lnTo>
                    <a:pt x="6019" y="148981"/>
                  </a:lnTo>
                  <a:lnTo>
                    <a:pt x="0" y="193304"/>
                  </a:lnTo>
                  <a:lnTo>
                    <a:pt x="6019" y="237627"/>
                  </a:lnTo>
                  <a:lnTo>
                    <a:pt x="23164" y="278314"/>
                  </a:lnTo>
                  <a:lnTo>
                    <a:pt x="50068" y="314206"/>
                  </a:lnTo>
                  <a:lnTo>
                    <a:pt x="85362" y="344141"/>
                  </a:lnTo>
                  <a:lnTo>
                    <a:pt x="127678" y="366960"/>
                  </a:lnTo>
                  <a:lnTo>
                    <a:pt x="175648" y="381503"/>
                  </a:lnTo>
                  <a:lnTo>
                    <a:pt x="227905" y="386608"/>
                  </a:lnTo>
                  <a:lnTo>
                    <a:pt x="1188720" y="386608"/>
                  </a:lnTo>
                  <a:lnTo>
                    <a:pt x="1240977" y="381503"/>
                  </a:lnTo>
                  <a:lnTo>
                    <a:pt x="1288947" y="366960"/>
                  </a:lnTo>
                  <a:lnTo>
                    <a:pt x="1331264" y="344141"/>
                  </a:lnTo>
                  <a:lnTo>
                    <a:pt x="1366558" y="314206"/>
                  </a:lnTo>
                  <a:lnTo>
                    <a:pt x="1393461" y="278314"/>
                  </a:lnTo>
                  <a:lnTo>
                    <a:pt x="1410607" y="237627"/>
                  </a:lnTo>
                  <a:lnTo>
                    <a:pt x="1416626" y="193304"/>
                  </a:lnTo>
                  <a:lnTo>
                    <a:pt x="1410607" y="148981"/>
                  </a:lnTo>
                  <a:lnTo>
                    <a:pt x="1393461" y="108293"/>
                  </a:lnTo>
                  <a:lnTo>
                    <a:pt x="1366558" y="72402"/>
                  </a:lnTo>
                  <a:lnTo>
                    <a:pt x="1331264" y="42466"/>
                  </a:lnTo>
                  <a:lnTo>
                    <a:pt x="1288947" y="19647"/>
                  </a:lnTo>
                  <a:lnTo>
                    <a:pt x="1240977" y="5105"/>
                  </a:lnTo>
                  <a:lnTo>
                    <a:pt x="11887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765366" y="6065193"/>
              <a:ext cx="1416685" cy="386715"/>
            </a:xfrm>
            <a:custGeom>
              <a:avLst/>
              <a:gdLst/>
              <a:ahLst/>
              <a:cxnLst/>
              <a:rect l="l" t="t" r="r" b="b"/>
              <a:pathLst>
                <a:path w="1416684" h="386714">
                  <a:moveTo>
                    <a:pt x="227906" y="0"/>
                  </a:moveTo>
                  <a:lnTo>
                    <a:pt x="1188720" y="0"/>
                  </a:lnTo>
                  <a:lnTo>
                    <a:pt x="1240977" y="5105"/>
                  </a:lnTo>
                  <a:lnTo>
                    <a:pt x="1288947" y="19647"/>
                  </a:lnTo>
                  <a:lnTo>
                    <a:pt x="1331264" y="42466"/>
                  </a:lnTo>
                  <a:lnTo>
                    <a:pt x="1366558" y="72402"/>
                  </a:lnTo>
                  <a:lnTo>
                    <a:pt x="1393462" y="108293"/>
                  </a:lnTo>
                  <a:lnTo>
                    <a:pt x="1410607" y="148981"/>
                  </a:lnTo>
                  <a:lnTo>
                    <a:pt x="1416626" y="193303"/>
                  </a:lnTo>
                  <a:lnTo>
                    <a:pt x="1410607" y="237626"/>
                  </a:lnTo>
                  <a:lnTo>
                    <a:pt x="1393462" y="278314"/>
                  </a:lnTo>
                  <a:lnTo>
                    <a:pt x="1366558" y="314205"/>
                  </a:lnTo>
                  <a:lnTo>
                    <a:pt x="1331264" y="344141"/>
                  </a:lnTo>
                  <a:lnTo>
                    <a:pt x="1288947" y="366960"/>
                  </a:lnTo>
                  <a:lnTo>
                    <a:pt x="1240977" y="381502"/>
                  </a:lnTo>
                  <a:lnTo>
                    <a:pt x="1188720" y="386607"/>
                  </a:lnTo>
                  <a:lnTo>
                    <a:pt x="227906" y="386607"/>
                  </a:lnTo>
                  <a:lnTo>
                    <a:pt x="175649" y="381502"/>
                  </a:lnTo>
                  <a:lnTo>
                    <a:pt x="127678" y="366960"/>
                  </a:lnTo>
                  <a:lnTo>
                    <a:pt x="85362" y="344141"/>
                  </a:lnTo>
                  <a:lnTo>
                    <a:pt x="50068" y="314205"/>
                  </a:lnTo>
                  <a:lnTo>
                    <a:pt x="23164" y="278314"/>
                  </a:lnTo>
                  <a:lnTo>
                    <a:pt x="6019" y="237626"/>
                  </a:lnTo>
                  <a:lnTo>
                    <a:pt x="0" y="193303"/>
                  </a:lnTo>
                  <a:lnTo>
                    <a:pt x="6019" y="148981"/>
                  </a:lnTo>
                  <a:lnTo>
                    <a:pt x="23164" y="108293"/>
                  </a:lnTo>
                  <a:lnTo>
                    <a:pt x="50068" y="72402"/>
                  </a:lnTo>
                  <a:lnTo>
                    <a:pt x="85362" y="42466"/>
                  </a:lnTo>
                  <a:lnTo>
                    <a:pt x="127678" y="19647"/>
                  </a:lnTo>
                  <a:lnTo>
                    <a:pt x="175649" y="5105"/>
                  </a:lnTo>
                  <a:lnTo>
                    <a:pt x="227906" y="0"/>
                  </a:lnTo>
                  <a:close/>
                </a:path>
              </a:pathLst>
            </a:custGeom>
            <a:ln w="81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8294303" y="6148605"/>
            <a:ext cx="359410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-20">
                <a:latin typeface="Franklin Gothic Medium"/>
                <a:cs typeface="Franklin Gothic Medium"/>
              </a:rPr>
              <a:t>STOP</a:t>
            </a:r>
            <a:endParaRPr sz="1150">
              <a:latin typeface="Franklin Gothic Medium"/>
              <a:cs typeface="Franklin Gothic Medium"/>
            </a:endParaRPr>
          </a:p>
        </p:txBody>
      </p:sp>
      <p:pic>
        <p:nvPicPr>
          <p:cNvPr id="24" name="object 2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67778" y="3632489"/>
            <a:ext cx="64928" cy="233263"/>
          </a:xfrm>
          <a:prstGeom prst="rect">
            <a:avLst/>
          </a:prstGeom>
        </p:spPr>
      </p:pic>
      <p:sp>
        <p:nvSpPr>
          <p:cNvPr id="25" name="object 25" descr=""/>
          <p:cNvSpPr txBox="1"/>
          <p:nvPr/>
        </p:nvSpPr>
        <p:spPr>
          <a:xfrm>
            <a:off x="7054101" y="4336830"/>
            <a:ext cx="2889885" cy="247015"/>
          </a:xfrm>
          <a:prstGeom prst="rect">
            <a:avLst/>
          </a:prstGeom>
          <a:solidFill>
            <a:srgbClr val="FFFFFF"/>
          </a:solidFill>
          <a:ln w="8113">
            <a:solidFill>
              <a:srgbClr val="00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marL="740410">
              <a:lnSpc>
                <a:spcPts val="1635"/>
              </a:lnSpc>
              <a:spcBef>
                <a:spcPts val="305"/>
              </a:spcBef>
            </a:pPr>
            <a:r>
              <a:rPr dirty="0" sz="1150" i="1">
                <a:latin typeface="Franklin Gothic Medium"/>
                <a:cs typeface="Franklin Gothic Medium"/>
              </a:rPr>
              <a:t>x</a:t>
            </a:r>
            <a:r>
              <a:rPr dirty="0" baseline="-14814" sz="1125">
                <a:latin typeface="Franklin Gothic Medium"/>
                <a:cs typeface="Franklin Gothic Medium"/>
              </a:rPr>
              <a:t>1</a:t>
            </a:r>
            <a:r>
              <a:rPr dirty="0" baseline="-14814" sz="1125" spc="195">
                <a:latin typeface="Franklin Gothic Medium"/>
                <a:cs typeface="Franklin Gothic Medium"/>
              </a:rPr>
              <a:t> </a:t>
            </a:r>
            <a:r>
              <a:rPr dirty="0" sz="1500">
                <a:latin typeface="Symbol"/>
                <a:cs typeface="Symbol"/>
              </a:rPr>
              <a:t></a:t>
            </a:r>
            <a:r>
              <a:rPr dirty="0" sz="1150">
                <a:latin typeface="Franklin Gothic Medium"/>
                <a:cs typeface="Franklin Gothic Medium"/>
              </a:rPr>
              <a:t>(–</a:t>
            </a:r>
            <a:r>
              <a:rPr dirty="0" sz="1150" i="1">
                <a:latin typeface="Franklin Gothic Medium"/>
                <a:cs typeface="Franklin Gothic Medium"/>
              </a:rPr>
              <a:t>b</a:t>
            </a:r>
            <a:r>
              <a:rPr dirty="0" sz="1150" spc="30" i="1">
                <a:latin typeface="Franklin Gothic Medium"/>
                <a:cs typeface="Franklin Gothic Medium"/>
              </a:rPr>
              <a:t> </a:t>
            </a:r>
            <a:r>
              <a:rPr dirty="0" sz="1150">
                <a:latin typeface="Franklin Gothic Medium"/>
                <a:cs typeface="Franklin Gothic Medium"/>
              </a:rPr>
              <a:t>+</a:t>
            </a:r>
            <a:r>
              <a:rPr dirty="0" sz="1150" spc="35">
                <a:latin typeface="Franklin Gothic Medium"/>
                <a:cs typeface="Franklin Gothic Medium"/>
              </a:rPr>
              <a:t> </a:t>
            </a:r>
            <a:r>
              <a:rPr dirty="0" sz="1150" i="1">
                <a:latin typeface="Franklin Gothic Medium"/>
                <a:cs typeface="Franklin Gothic Medium"/>
              </a:rPr>
              <a:t>d</a:t>
            </a:r>
            <a:r>
              <a:rPr dirty="0" sz="1150">
                <a:latin typeface="Franklin Gothic Medium"/>
                <a:cs typeface="Franklin Gothic Medium"/>
              </a:rPr>
              <a:t>)</a:t>
            </a:r>
            <a:r>
              <a:rPr dirty="0" sz="1150" spc="40">
                <a:latin typeface="Franklin Gothic Medium"/>
                <a:cs typeface="Franklin Gothic Medium"/>
              </a:rPr>
              <a:t> </a:t>
            </a:r>
            <a:r>
              <a:rPr dirty="0" sz="1150">
                <a:latin typeface="Franklin Gothic Medium"/>
                <a:cs typeface="Franklin Gothic Medium"/>
              </a:rPr>
              <a:t>/</a:t>
            </a:r>
            <a:r>
              <a:rPr dirty="0" sz="1150" spc="35">
                <a:latin typeface="Franklin Gothic Medium"/>
                <a:cs typeface="Franklin Gothic Medium"/>
              </a:rPr>
              <a:t> </a:t>
            </a:r>
            <a:r>
              <a:rPr dirty="0" sz="1150">
                <a:latin typeface="Franklin Gothic Medium"/>
                <a:cs typeface="Franklin Gothic Medium"/>
              </a:rPr>
              <a:t>(2</a:t>
            </a:r>
            <a:r>
              <a:rPr dirty="0" sz="1150" spc="35">
                <a:latin typeface="Franklin Gothic Medium"/>
                <a:cs typeface="Franklin Gothic Medium"/>
              </a:rPr>
              <a:t> </a:t>
            </a:r>
            <a:r>
              <a:rPr dirty="0" sz="1150">
                <a:latin typeface="Franklin Gothic Medium"/>
                <a:cs typeface="Franklin Gothic Medium"/>
              </a:rPr>
              <a:t>x</a:t>
            </a:r>
            <a:r>
              <a:rPr dirty="0" sz="1150" spc="40">
                <a:latin typeface="Franklin Gothic Medium"/>
                <a:cs typeface="Franklin Gothic Medium"/>
              </a:rPr>
              <a:t> </a:t>
            </a:r>
            <a:r>
              <a:rPr dirty="0" sz="1150" spc="-25" i="1">
                <a:latin typeface="Franklin Gothic Medium"/>
                <a:cs typeface="Franklin Gothic Medium"/>
              </a:rPr>
              <a:t>a</a:t>
            </a:r>
            <a:r>
              <a:rPr dirty="0" sz="1150" spc="-25">
                <a:latin typeface="Franklin Gothic Medium"/>
                <a:cs typeface="Franklin Gothic Medium"/>
              </a:rPr>
              <a:t>)</a:t>
            </a:r>
            <a:endParaRPr sz="1150">
              <a:latin typeface="Franklin Gothic Medium"/>
              <a:cs typeface="Franklin Gothic Medium"/>
            </a:endParaRPr>
          </a:p>
        </p:txBody>
      </p:sp>
      <p:pic>
        <p:nvPicPr>
          <p:cNvPr id="26" name="object 2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6956" y="4100318"/>
            <a:ext cx="64928" cy="233263"/>
          </a:xfrm>
          <a:prstGeom prst="rect">
            <a:avLst/>
          </a:prstGeom>
        </p:spPr>
      </p:pic>
      <p:sp>
        <p:nvSpPr>
          <p:cNvPr id="27" name="object 27" descr=""/>
          <p:cNvSpPr txBox="1"/>
          <p:nvPr/>
        </p:nvSpPr>
        <p:spPr>
          <a:xfrm>
            <a:off x="7046230" y="4811805"/>
            <a:ext cx="2889885" cy="247015"/>
          </a:xfrm>
          <a:prstGeom prst="rect">
            <a:avLst/>
          </a:prstGeom>
          <a:solidFill>
            <a:srgbClr val="FFFFFF"/>
          </a:solidFill>
          <a:ln w="8113">
            <a:solidFill>
              <a:srgbClr val="000000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713740">
              <a:lnSpc>
                <a:spcPts val="1630"/>
              </a:lnSpc>
              <a:spcBef>
                <a:spcPts val="310"/>
              </a:spcBef>
            </a:pPr>
            <a:r>
              <a:rPr dirty="0" sz="1150" i="1">
                <a:latin typeface="Franklin Gothic Medium"/>
                <a:cs typeface="Franklin Gothic Medium"/>
              </a:rPr>
              <a:t>X</a:t>
            </a:r>
            <a:r>
              <a:rPr dirty="0" baseline="-14814" sz="1125">
                <a:latin typeface="Franklin Gothic Medium"/>
                <a:cs typeface="Franklin Gothic Medium"/>
              </a:rPr>
              <a:t>2</a:t>
            </a:r>
            <a:r>
              <a:rPr dirty="0" baseline="-14814" sz="1125" spc="187">
                <a:latin typeface="Franklin Gothic Medium"/>
                <a:cs typeface="Franklin Gothic Medium"/>
              </a:rPr>
              <a:t> </a:t>
            </a:r>
            <a:r>
              <a:rPr dirty="0" sz="1500">
                <a:latin typeface="Symbol"/>
                <a:cs typeface="Symbol"/>
              </a:rPr>
              <a:t>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150">
                <a:latin typeface="Franklin Gothic Medium"/>
                <a:cs typeface="Franklin Gothic Medium"/>
              </a:rPr>
              <a:t>(–</a:t>
            </a:r>
            <a:r>
              <a:rPr dirty="0" sz="1150" i="1">
                <a:latin typeface="Franklin Gothic Medium"/>
                <a:cs typeface="Franklin Gothic Medium"/>
              </a:rPr>
              <a:t>b</a:t>
            </a:r>
            <a:r>
              <a:rPr dirty="0" sz="1150" spc="20" i="1">
                <a:latin typeface="Franklin Gothic Medium"/>
                <a:cs typeface="Franklin Gothic Medium"/>
              </a:rPr>
              <a:t> </a:t>
            </a:r>
            <a:r>
              <a:rPr dirty="0" sz="1150">
                <a:latin typeface="Franklin Gothic Medium"/>
                <a:cs typeface="Franklin Gothic Medium"/>
              </a:rPr>
              <a:t>–</a:t>
            </a:r>
            <a:r>
              <a:rPr dirty="0" sz="1150" spc="30">
                <a:latin typeface="Franklin Gothic Medium"/>
                <a:cs typeface="Franklin Gothic Medium"/>
              </a:rPr>
              <a:t> </a:t>
            </a:r>
            <a:r>
              <a:rPr dirty="0" sz="1150" i="1">
                <a:latin typeface="Franklin Gothic Medium"/>
                <a:cs typeface="Franklin Gothic Medium"/>
              </a:rPr>
              <a:t>d</a:t>
            </a:r>
            <a:r>
              <a:rPr dirty="0" sz="1150">
                <a:latin typeface="Franklin Gothic Medium"/>
                <a:cs typeface="Franklin Gothic Medium"/>
              </a:rPr>
              <a:t>)</a:t>
            </a:r>
            <a:r>
              <a:rPr dirty="0" sz="1150" spc="30">
                <a:latin typeface="Franklin Gothic Medium"/>
                <a:cs typeface="Franklin Gothic Medium"/>
              </a:rPr>
              <a:t> </a:t>
            </a:r>
            <a:r>
              <a:rPr dirty="0" sz="1150">
                <a:latin typeface="Franklin Gothic Medium"/>
                <a:cs typeface="Franklin Gothic Medium"/>
              </a:rPr>
              <a:t>/</a:t>
            </a:r>
            <a:r>
              <a:rPr dirty="0" sz="1150" spc="30">
                <a:latin typeface="Franklin Gothic Medium"/>
                <a:cs typeface="Franklin Gothic Medium"/>
              </a:rPr>
              <a:t> </a:t>
            </a:r>
            <a:r>
              <a:rPr dirty="0" sz="1150">
                <a:latin typeface="Franklin Gothic Medium"/>
                <a:cs typeface="Franklin Gothic Medium"/>
              </a:rPr>
              <a:t>(2</a:t>
            </a:r>
            <a:r>
              <a:rPr dirty="0" sz="1150" spc="30">
                <a:latin typeface="Franklin Gothic Medium"/>
                <a:cs typeface="Franklin Gothic Medium"/>
              </a:rPr>
              <a:t> </a:t>
            </a:r>
            <a:r>
              <a:rPr dirty="0" sz="1150">
                <a:latin typeface="Franklin Gothic Medium"/>
                <a:cs typeface="Franklin Gothic Medium"/>
              </a:rPr>
              <a:t>x</a:t>
            </a:r>
            <a:r>
              <a:rPr dirty="0" sz="1150" spc="30">
                <a:latin typeface="Franklin Gothic Medium"/>
                <a:cs typeface="Franklin Gothic Medium"/>
              </a:rPr>
              <a:t> </a:t>
            </a:r>
            <a:r>
              <a:rPr dirty="0" sz="1150" spc="-25" i="1">
                <a:latin typeface="Franklin Gothic Medium"/>
                <a:cs typeface="Franklin Gothic Medium"/>
              </a:rPr>
              <a:t>a</a:t>
            </a:r>
            <a:r>
              <a:rPr dirty="0" sz="1150" spc="-25">
                <a:latin typeface="Franklin Gothic Medium"/>
                <a:cs typeface="Franklin Gothic Medium"/>
              </a:rPr>
              <a:t>)</a:t>
            </a:r>
            <a:endParaRPr sz="1150">
              <a:latin typeface="Franklin Gothic Medium"/>
              <a:cs typeface="Franklin Gothic Medium"/>
            </a:endParaRPr>
          </a:p>
        </p:txBody>
      </p:sp>
      <p:pic>
        <p:nvPicPr>
          <p:cNvPr id="28" name="object 2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49086" y="4575293"/>
            <a:ext cx="64928" cy="233263"/>
          </a:xfrm>
          <a:prstGeom prst="rect">
            <a:avLst/>
          </a:prstGeom>
        </p:spPr>
      </p:pic>
      <p:grpSp>
        <p:nvGrpSpPr>
          <p:cNvPr id="29" name="object 29" descr=""/>
          <p:cNvGrpSpPr/>
          <p:nvPr/>
        </p:nvGrpSpPr>
        <p:grpSpPr>
          <a:xfrm>
            <a:off x="8449086" y="5051567"/>
            <a:ext cx="65405" cy="1026160"/>
            <a:chOff x="8449086" y="5051567"/>
            <a:chExt cx="65405" cy="1026160"/>
          </a:xfrm>
        </p:grpSpPr>
        <p:pic>
          <p:nvPicPr>
            <p:cNvPr id="30" name="object 3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49086" y="5051567"/>
              <a:ext cx="64928" cy="233264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49086" y="5844275"/>
              <a:ext cx="64928" cy="233264"/>
            </a:xfrm>
            <a:prstGeom prst="rect">
              <a:avLst/>
            </a:prstGeom>
          </p:spPr>
        </p:pic>
      </p:grpSp>
      <p:sp>
        <p:nvSpPr>
          <p:cNvPr id="32" name="object 32" descr=""/>
          <p:cNvSpPr txBox="1"/>
          <p:nvPr/>
        </p:nvSpPr>
        <p:spPr>
          <a:xfrm>
            <a:off x="2295334" y="2944821"/>
            <a:ext cx="2440305" cy="1836420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700">
                <a:solidFill>
                  <a:srgbClr val="191B0E"/>
                </a:solidFill>
                <a:latin typeface="Times New Roman"/>
                <a:cs typeface="Times New Roman"/>
              </a:rPr>
              <a:t>Input</a:t>
            </a:r>
            <a:r>
              <a:rPr dirty="0" sz="1700" spc="-1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191B0E"/>
                </a:solidFill>
                <a:latin typeface="Times New Roman"/>
                <a:cs typeface="Times New Roman"/>
              </a:rPr>
              <a:t>a,</a:t>
            </a:r>
            <a:r>
              <a:rPr dirty="0" sz="1700" spc="-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191B0E"/>
                </a:solidFill>
                <a:latin typeface="Times New Roman"/>
                <a:cs typeface="Times New Roman"/>
              </a:rPr>
              <a:t>b, </a:t>
            </a:r>
            <a:r>
              <a:rPr dirty="0" sz="1700" spc="-50">
                <a:solidFill>
                  <a:srgbClr val="191B0E"/>
                </a:solidFill>
                <a:latin typeface="Times New Roman"/>
                <a:cs typeface="Times New Roman"/>
              </a:rPr>
              <a:t>c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1700" i="1">
                <a:solidFill>
                  <a:srgbClr val="191B0E"/>
                </a:solidFill>
                <a:latin typeface="Times New Roman"/>
                <a:cs typeface="Times New Roman"/>
              </a:rPr>
              <a:t>d</a:t>
            </a:r>
            <a:r>
              <a:rPr dirty="0" sz="1700" spc="-25" i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191B0E"/>
                </a:solidFill>
                <a:latin typeface="Symbol"/>
                <a:cs typeface="Symbol"/>
              </a:rPr>
              <a:t></a:t>
            </a:r>
            <a:r>
              <a:rPr dirty="0" sz="1700">
                <a:solidFill>
                  <a:srgbClr val="191B0E"/>
                </a:solidFill>
                <a:latin typeface="Times New Roman"/>
                <a:cs typeface="Times New Roman"/>
              </a:rPr>
              <a:t> sqrt</a:t>
            </a:r>
            <a:r>
              <a:rPr dirty="0" sz="1700" spc="-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191B0E"/>
                </a:solidFill>
                <a:latin typeface="Times New Roman"/>
                <a:cs typeface="Times New Roman"/>
              </a:rPr>
              <a:t>(</a:t>
            </a:r>
            <a:r>
              <a:rPr dirty="0" sz="1700" spc="19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950" spc="-85" i="1">
                <a:latin typeface="Times New Roman"/>
                <a:cs typeface="Times New Roman"/>
              </a:rPr>
              <a:t>b</a:t>
            </a:r>
            <a:r>
              <a:rPr dirty="0" sz="1950" spc="-295" i="1">
                <a:latin typeface="Times New Roman"/>
                <a:cs typeface="Times New Roman"/>
              </a:rPr>
              <a:t> </a:t>
            </a:r>
            <a:r>
              <a:rPr dirty="0" sz="1950" spc="-105">
                <a:latin typeface="Symbol"/>
                <a:cs typeface="Symbol"/>
              </a:rPr>
              <a:t></a:t>
            </a:r>
            <a:r>
              <a:rPr dirty="0" sz="1950" spc="-300">
                <a:latin typeface="Times New Roman"/>
                <a:cs typeface="Times New Roman"/>
              </a:rPr>
              <a:t> </a:t>
            </a:r>
            <a:r>
              <a:rPr dirty="0" sz="1950" spc="-85" i="1">
                <a:latin typeface="Times New Roman"/>
                <a:cs typeface="Times New Roman"/>
              </a:rPr>
              <a:t>b</a:t>
            </a:r>
            <a:r>
              <a:rPr dirty="0" sz="1950" spc="-185" i="1">
                <a:latin typeface="Times New Roman"/>
                <a:cs typeface="Times New Roman"/>
              </a:rPr>
              <a:t> </a:t>
            </a:r>
            <a:r>
              <a:rPr dirty="0" sz="1950" spc="-105">
                <a:latin typeface="Symbol"/>
                <a:cs typeface="Symbol"/>
              </a:rPr>
              <a:t></a:t>
            </a:r>
            <a:r>
              <a:rPr dirty="0" sz="1950" spc="-18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4</a:t>
            </a:r>
            <a:r>
              <a:rPr dirty="0" sz="1950" spc="-10">
                <a:latin typeface="Symbol"/>
                <a:cs typeface="Symbol"/>
              </a:rPr>
              <a:t></a:t>
            </a:r>
            <a:r>
              <a:rPr dirty="0" sz="1950" spc="-245">
                <a:latin typeface="Times New Roman"/>
                <a:cs typeface="Times New Roman"/>
              </a:rPr>
              <a:t> </a:t>
            </a:r>
            <a:r>
              <a:rPr dirty="0" sz="1950" spc="-85" i="1">
                <a:latin typeface="Times New Roman"/>
                <a:cs typeface="Times New Roman"/>
              </a:rPr>
              <a:t>a</a:t>
            </a:r>
            <a:r>
              <a:rPr dirty="0" sz="1950" spc="-270" i="1">
                <a:latin typeface="Times New Roman"/>
                <a:cs typeface="Times New Roman"/>
              </a:rPr>
              <a:t> </a:t>
            </a:r>
            <a:r>
              <a:rPr dirty="0" sz="1950" spc="-105">
                <a:latin typeface="Symbol"/>
                <a:cs typeface="Symbol"/>
              </a:rPr>
              <a:t></a:t>
            </a:r>
            <a:r>
              <a:rPr dirty="0" sz="1950" spc="-270">
                <a:latin typeface="Times New Roman"/>
                <a:cs typeface="Times New Roman"/>
              </a:rPr>
              <a:t> </a:t>
            </a:r>
            <a:r>
              <a:rPr dirty="0" sz="1950" i="1">
                <a:latin typeface="Times New Roman"/>
                <a:cs typeface="Times New Roman"/>
              </a:rPr>
              <a:t>c</a:t>
            </a:r>
            <a:r>
              <a:rPr dirty="0" sz="1950" spc="229" i="1">
                <a:latin typeface="Times New Roman"/>
                <a:cs typeface="Times New Roman"/>
              </a:rPr>
              <a:t> </a:t>
            </a:r>
            <a:r>
              <a:rPr dirty="0" sz="1700" spc="-50">
                <a:solidFill>
                  <a:srgbClr val="191B0E"/>
                </a:solidFill>
                <a:latin typeface="Times New Roman"/>
                <a:cs typeface="Times New Roman"/>
              </a:rPr>
              <a:t>)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dirty="0" sz="1700" i="1">
                <a:solidFill>
                  <a:srgbClr val="191B0E"/>
                </a:solidFill>
                <a:latin typeface="Times New Roman"/>
                <a:cs typeface="Times New Roman"/>
              </a:rPr>
              <a:t>x</a:t>
            </a:r>
            <a:r>
              <a:rPr dirty="0" sz="1700">
                <a:solidFill>
                  <a:srgbClr val="191B0E"/>
                </a:solidFill>
                <a:latin typeface="Times New Roman"/>
                <a:cs typeface="Times New Roman"/>
              </a:rPr>
              <a:t>1</a:t>
            </a:r>
            <a:r>
              <a:rPr dirty="0" sz="1700" spc="-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191B0E"/>
                </a:solidFill>
                <a:latin typeface="Symbol"/>
                <a:cs typeface="Symbol"/>
              </a:rPr>
              <a:t></a:t>
            </a:r>
            <a:r>
              <a:rPr dirty="0" sz="1700">
                <a:solidFill>
                  <a:srgbClr val="191B0E"/>
                </a:solidFill>
                <a:latin typeface="Times New Roman"/>
                <a:cs typeface="Times New Roman"/>
              </a:rPr>
              <a:t> (–</a:t>
            </a:r>
            <a:r>
              <a:rPr dirty="0" sz="1700" i="1">
                <a:solidFill>
                  <a:srgbClr val="191B0E"/>
                </a:solidFill>
                <a:latin typeface="Times New Roman"/>
                <a:cs typeface="Times New Roman"/>
              </a:rPr>
              <a:t>b </a:t>
            </a:r>
            <a:r>
              <a:rPr dirty="0" sz="1700">
                <a:solidFill>
                  <a:srgbClr val="191B0E"/>
                </a:solidFill>
                <a:latin typeface="Times New Roman"/>
                <a:cs typeface="Times New Roman"/>
              </a:rPr>
              <a:t>+</a:t>
            </a:r>
            <a:r>
              <a:rPr dirty="0" sz="1700" spc="-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700" i="1">
                <a:solidFill>
                  <a:srgbClr val="191B0E"/>
                </a:solidFill>
                <a:latin typeface="Times New Roman"/>
                <a:cs typeface="Times New Roman"/>
              </a:rPr>
              <a:t>d</a:t>
            </a:r>
            <a:r>
              <a:rPr dirty="0" sz="1700">
                <a:solidFill>
                  <a:srgbClr val="191B0E"/>
                </a:solidFill>
                <a:latin typeface="Times New Roman"/>
                <a:cs typeface="Times New Roman"/>
              </a:rPr>
              <a:t>)</a:t>
            </a:r>
            <a:r>
              <a:rPr dirty="0" sz="1700" spc="-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191B0E"/>
                </a:solidFill>
                <a:latin typeface="Times New Roman"/>
                <a:cs typeface="Times New Roman"/>
              </a:rPr>
              <a:t>/</a:t>
            </a:r>
            <a:r>
              <a:rPr dirty="0" sz="1700" spc="-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191B0E"/>
                </a:solidFill>
                <a:latin typeface="Times New Roman"/>
                <a:cs typeface="Times New Roman"/>
              </a:rPr>
              <a:t>(2</a:t>
            </a:r>
            <a:r>
              <a:rPr dirty="0" sz="1700" spc="-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191B0E"/>
                </a:solidFill>
                <a:latin typeface="Times New Roman"/>
                <a:cs typeface="Times New Roman"/>
              </a:rPr>
              <a:t>x </a:t>
            </a:r>
            <a:r>
              <a:rPr dirty="0" sz="1700" spc="-25" i="1">
                <a:solidFill>
                  <a:srgbClr val="191B0E"/>
                </a:solidFill>
                <a:latin typeface="Times New Roman"/>
                <a:cs typeface="Times New Roman"/>
              </a:rPr>
              <a:t>a</a:t>
            </a:r>
            <a:r>
              <a:rPr dirty="0" sz="1700" spc="-25">
                <a:solidFill>
                  <a:srgbClr val="191B0E"/>
                </a:solidFill>
                <a:latin typeface="Times New Roman"/>
                <a:cs typeface="Times New Roman"/>
              </a:rPr>
              <a:t>)</a:t>
            </a:r>
            <a:endParaRPr sz="1700">
              <a:latin typeface="Times New Roman"/>
              <a:cs typeface="Times New Roman"/>
            </a:endParaRPr>
          </a:p>
          <a:p>
            <a:pPr marL="12700" marR="464820">
              <a:lnSpc>
                <a:spcPct val="142400"/>
              </a:lnSpc>
            </a:pPr>
            <a:r>
              <a:rPr dirty="0" sz="1700" i="1">
                <a:solidFill>
                  <a:srgbClr val="191B0E"/>
                </a:solidFill>
                <a:latin typeface="Times New Roman"/>
                <a:cs typeface="Times New Roman"/>
              </a:rPr>
              <a:t>x</a:t>
            </a:r>
            <a:r>
              <a:rPr dirty="0" sz="1700">
                <a:solidFill>
                  <a:srgbClr val="191B0E"/>
                </a:solidFill>
                <a:latin typeface="Times New Roman"/>
                <a:cs typeface="Times New Roman"/>
              </a:rPr>
              <a:t>2</a:t>
            </a:r>
            <a:r>
              <a:rPr dirty="0" sz="1700" spc="-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191B0E"/>
                </a:solidFill>
                <a:latin typeface="Symbol"/>
                <a:cs typeface="Symbol"/>
              </a:rPr>
              <a:t></a:t>
            </a:r>
            <a:r>
              <a:rPr dirty="0" sz="1700" spc="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191B0E"/>
                </a:solidFill>
                <a:latin typeface="Times New Roman"/>
                <a:cs typeface="Times New Roman"/>
              </a:rPr>
              <a:t>(–</a:t>
            </a:r>
            <a:r>
              <a:rPr dirty="0" sz="1700" i="1">
                <a:solidFill>
                  <a:srgbClr val="191B0E"/>
                </a:solidFill>
                <a:latin typeface="Times New Roman"/>
                <a:cs typeface="Times New Roman"/>
              </a:rPr>
              <a:t>b</a:t>
            </a:r>
            <a:r>
              <a:rPr dirty="0" sz="1700" spc="-5" i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191B0E"/>
                </a:solidFill>
                <a:latin typeface="Times New Roman"/>
                <a:cs typeface="Times New Roman"/>
              </a:rPr>
              <a:t>– </a:t>
            </a:r>
            <a:r>
              <a:rPr dirty="0" sz="1700" i="1">
                <a:solidFill>
                  <a:srgbClr val="191B0E"/>
                </a:solidFill>
                <a:latin typeface="Times New Roman"/>
                <a:cs typeface="Times New Roman"/>
              </a:rPr>
              <a:t>d</a:t>
            </a:r>
            <a:r>
              <a:rPr dirty="0" sz="1700">
                <a:solidFill>
                  <a:srgbClr val="191B0E"/>
                </a:solidFill>
                <a:latin typeface="Times New Roman"/>
                <a:cs typeface="Times New Roman"/>
              </a:rPr>
              <a:t>) /</a:t>
            </a:r>
            <a:r>
              <a:rPr dirty="0" sz="1700" spc="-1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191B0E"/>
                </a:solidFill>
                <a:latin typeface="Times New Roman"/>
                <a:cs typeface="Times New Roman"/>
              </a:rPr>
              <a:t>(2 x </a:t>
            </a:r>
            <a:r>
              <a:rPr dirty="0" sz="1700" spc="-25" i="1">
                <a:solidFill>
                  <a:srgbClr val="191B0E"/>
                </a:solidFill>
                <a:latin typeface="Times New Roman"/>
                <a:cs typeface="Times New Roman"/>
              </a:rPr>
              <a:t>a</a:t>
            </a:r>
            <a:r>
              <a:rPr dirty="0" sz="1700" spc="-25">
                <a:solidFill>
                  <a:srgbClr val="191B0E"/>
                </a:solidFill>
                <a:latin typeface="Times New Roman"/>
                <a:cs typeface="Times New Roman"/>
              </a:rPr>
              <a:t>) </a:t>
            </a:r>
            <a:r>
              <a:rPr dirty="0" sz="1700">
                <a:solidFill>
                  <a:srgbClr val="191B0E"/>
                </a:solidFill>
                <a:latin typeface="Times New Roman"/>
                <a:cs typeface="Times New Roman"/>
              </a:rPr>
              <a:t>Print</a:t>
            </a:r>
            <a:r>
              <a:rPr dirty="0" sz="1700" spc="-3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700" i="1">
                <a:solidFill>
                  <a:srgbClr val="191B0E"/>
                </a:solidFill>
                <a:latin typeface="Times New Roman"/>
                <a:cs typeface="Times New Roman"/>
              </a:rPr>
              <a:t>x</a:t>
            </a:r>
            <a:r>
              <a:rPr dirty="0" sz="1700">
                <a:solidFill>
                  <a:srgbClr val="191B0E"/>
                </a:solidFill>
                <a:latin typeface="Times New Roman"/>
                <a:cs typeface="Times New Roman"/>
              </a:rPr>
              <a:t>1,</a:t>
            </a:r>
            <a:r>
              <a:rPr dirty="0" sz="1700" spc="-2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700" spc="-25" i="1">
                <a:solidFill>
                  <a:srgbClr val="191B0E"/>
                </a:solidFill>
                <a:latin typeface="Times New Roman"/>
                <a:cs typeface="Times New Roman"/>
              </a:rPr>
              <a:t>x</a:t>
            </a:r>
            <a:r>
              <a:rPr dirty="0" sz="1700" spc="-25">
                <a:solidFill>
                  <a:srgbClr val="191B0E"/>
                </a:solidFill>
                <a:latin typeface="Times New Roman"/>
                <a:cs typeface="Times New Roman"/>
              </a:rPr>
              <a:t>2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33019" rIns="0" bIns="0" rtlCol="0" vert="horz">
            <a:spAutoFit/>
          </a:bodyPr>
          <a:lstStyle/>
          <a:p>
            <a:pPr marL="1836420">
              <a:lnSpc>
                <a:spcPct val="100000"/>
              </a:lnSpc>
              <a:spcBef>
                <a:spcPts val="95"/>
              </a:spcBef>
            </a:pPr>
            <a:r>
              <a:rPr dirty="0"/>
              <a:t>DECISION</a:t>
            </a:r>
            <a:r>
              <a:rPr dirty="0" spc="180"/>
              <a:t> </a:t>
            </a:r>
            <a:r>
              <a:rPr dirty="0" spc="-10"/>
              <a:t>STRUCTURES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386332" y="2682223"/>
            <a:ext cx="7850505" cy="3402965"/>
          </a:xfrm>
          <a:prstGeom prst="rect">
            <a:avLst/>
          </a:prstGeom>
        </p:spPr>
        <p:txBody>
          <a:bodyPr wrap="square" lIns="0" tIns="104139" rIns="0" bIns="0" rtlCol="0" vert="horz">
            <a:spAutoFit/>
          </a:bodyPr>
          <a:lstStyle/>
          <a:p>
            <a:pPr marL="339725" indent="-327025">
              <a:lnSpc>
                <a:spcPct val="100000"/>
              </a:lnSpc>
              <a:spcBef>
                <a:spcPts val="819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The</a:t>
            </a:r>
            <a:r>
              <a:rPr dirty="0" sz="2400" spc="-3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20">
                <a:solidFill>
                  <a:srgbClr val="191B0E"/>
                </a:solidFill>
                <a:latin typeface="Times New Roman"/>
                <a:cs typeface="Times New Roman"/>
              </a:rPr>
              <a:t>expression</a:t>
            </a:r>
            <a:r>
              <a:rPr dirty="0" sz="2400" spc="-14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A&gt;B</a:t>
            </a:r>
            <a:r>
              <a:rPr dirty="0" sz="2400" spc="-3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is</a:t>
            </a:r>
            <a:r>
              <a:rPr dirty="0" sz="2400" spc="-2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a</a:t>
            </a:r>
            <a:r>
              <a:rPr dirty="0" sz="2400" spc="-2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logical</a:t>
            </a:r>
            <a:r>
              <a:rPr dirty="0" sz="2400" spc="-2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expression</a:t>
            </a:r>
            <a:endParaRPr sz="2400">
              <a:latin typeface="Times New Roman"/>
              <a:cs typeface="Times New Roman"/>
            </a:endParaRPr>
          </a:p>
          <a:p>
            <a:pPr marL="339725" indent="-327025">
              <a:lnSpc>
                <a:spcPct val="100000"/>
              </a:lnSpc>
              <a:spcBef>
                <a:spcPts val="720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it</a:t>
            </a:r>
            <a:r>
              <a:rPr dirty="0" sz="2400" spc="-7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describes</a:t>
            </a:r>
            <a:r>
              <a:rPr dirty="0" sz="24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a</a:t>
            </a:r>
            <a:r>
              <a:rPr dirty="0" sz="2400" spc="-7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condition</a:t>
            </a:r>
            <a:r>
              <a:rPr dirty="0" sz="2400" spc="-6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we</a:t>
            </a:r>
            <a:r>
              <a:rPr dirty="0" sz="24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want</a:t>
            </a:r>
            <a:r>
              <a:rPr dirty="0" sz="24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to</a:t>
            </a:r>
            <a:r>
              <a:rPr dirty="0" sz="24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20">
                <a:solidFill>
                  <a:srgbClr val="191B0E"/>
                </a:solidFill>
                <a:latin typeface="Times New Roman"/>
                <a:cs typeface="Times New Roman"/>
              </a:rPr>
              <a:t>test</a:t>
            </a:r>
            <a:endParaRPr sz="2400">
              <a:latin typeface="Times New Roman"/>
              <a:cs typeface="Times New Roman"/>
            </a:endParaRPr>
          </a:p>
          <a:p>
            <a:pPr marL="339725" marR="173990" indent="-327660">
              <a:lnSpc>
                <a:spcPts val="2500"/>
              </a:lnSpc>
              <a:spcBef>
                <a:spcPts val="1120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if</a:t>
            </a:r>
            <a:r>
              <a:rPr dirty="0" sz="2400" spc="-15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A&gt;B</a:t>
            </a:r>
            <a:r>
              <a:rPr dirty="0" sz="2400" spc="-10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is</a:t>
            </a:r>
            <a:r>
              <a:rPr dirty="0" sz="2400" spc="-4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true</a:t>
            </a:r>
            <a:r>
              <a:rPr dirty="0" sz="2400" spc="-5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191B0E"/>
                </a:solidFill>
                <a:latin typeface="Times New Roman"/>
                <a:cs typeface="Times New Roman"/>
              </a:rPr>
              <a:t>(if</a:t>
            </a:r>
            <a:r>
              <a:rPr dirty="0" sz="2400" spc="-14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20" b="1">
                <a:solidFill>
                  <a:srgbClr val="191B0E"/>
                </a:solidFill>
                <a:latin typeface="Times New Roman"/>
                <a:cs typeface="Times New Roman"/>
              </a:rPr>
              <a:t>A</a:t>
            </a:r>
            <a:r>
              <a:rPr dirty="0" sz="2400" spc="-14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is</a:t>
            </a:r>
            <a:r>
              <a:rPr dirty="0" sz="2400" spc="-4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191B0E"/>
                </a:solidFill>
                <a:latin typeface="Times New Roman"/>
                <a:cs typeface="Times New Roman"/>
              </a:rPr>
              <a:t>greater</a:t>
            </a:r>
            <a:r>
              <a:rPr dirty="0" sz="2400" spc="-8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than</a:t>
            </a:r>
            <a:r>
              <a:rPr dirty="0" sz="2400" spc="-3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B)</a:t>
            </a:r>
            <a:r>
              <a:rPr dirty="0" sz="2400" spc="-2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we</a:t>
            </a:r>
            <a:r>
              <a:rPr dirty="0" sz="2400" spc="-4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take</a:t>
            </a:r>
            <a:r>
              <a:rPr dirty="0" sz="2400" spc="-4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the</a:t>
            </a:r>
            <a:r>
              <a:rPr dirty="0" sz="2400" spc="-4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action</a:t>
            </a:r>
            <a:r>
              <a:rPr dirty="0" sz="2400" spc="-4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191B0E"/>
                </a:solidFill>
                <a:latin typeface="Times New Roman"/>
                <a:cs typeface="Times New Roman"/>
              </a:rPr>
              <a:t>on </a:t>
            </a:r>
            <a:r>
              <a:rPr dirty="0" sz="2400" spc="-20">
                <a:solidFill>
                  <a:srgbClr val="191B0E"/>
                </a:solidFill>
                <a:latin typeface="Times New Roman"/>
                <a:cs typeface="Times New Roman"/>
              </a:rPr>
              <a:t>left</a:t>
            </a:r>
            <a:endParaRPr sz="2400">
              <a:latin typeface="Times New Roman"/>
              <a:cs typeface="Times New Roman"/>
            </a:endParaRPr>
          </a:p>
          <a:p>
            <a:pPr marL="339725" indent="-327025">
              <a:lnSpc>
                <a:spcPct val="100000"/>
              </a:lnSpc>
              <a:spcBef>
                <a:spcPts val="695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print</a:t>
            </a:r>
            <a:r>
              <a:rPr dirty="0" sz="2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the</a:t>
            </a:r>
            <a:r>
              <a:rPr dirty="0" sz="2400" spc="-4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value</a:t>
            </a:r>
            <a:r>
              <a:rPr dirty="0" sz="2400" spc="-4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20">
                <a:solidFill>
                  <a:srgbClr val="191B0E"/>
                </a:solidFill>
                <a:latin typeface="Times New Roman"/>
                <a:cs typeface="Times New Roman"/>
              </a:rPr>
              <a:t>of</a:t>
            </a:r>
            <a:r>
              <a:rPr dirty="0" sz="2400" spc="-13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50">
                <a:solidFill>
                  <a:srgbClr val="191B0E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339725" marR="5080" indent="-327660">
              <a:lnSpc>
                <a:spcPts val="2500"/>
              </a:lnSpc>
              <a:spcBef>
                <a:spcPts val="1120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if</a:t>
            </a:r>
            <a:r>
              <a:rPr dirty="0" sz="2400" spc="-15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A&gt;B</a:t>
            </a:r>
            <a:r>
              <a:rPr dirty="0" sz="2400" spc="-10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is</a:t>
            </a:r>
            <a:r>
              <a:rPr dirty="0" sz="2400" spc="-4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false</a:t>
            </a:r>
            <a:r>
              <a:rPr dirty="0" sz="2400" spc="-4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191B0E"/>
                </a:solidFill>
                <a:latin typeface="Times New Roman"/>
                <a:cs typeface="Times New Roman"/>
              </a:rPr>
              <a:t>(if</a:t>
            </a:r>
            <a:r>
              <a:rPr dirty="0" sz="2400" spc="-14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20" b="1">
                <a:solidFill>
                  <a:srgbClr val="191B0E"/>
                </a:solidFill>
                <a:latin typeface="Times New Roman"/>
                <a:cs typeface="Times New Roman"/>
              </a:rPr>
              <a:t>A</a:t>
            </a:r>
            <a:r>
              <a:rPr dirty="0" sz="2400" spc="-14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is</a:t>
            </a:r>
            <a:r>
              <a:rPr dirty="0" sz="2400" spc="-4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not</a:t>
            </a:r>
            <a:r>
              <a:rPr dirty="0" sz="2400" spc="-3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191B0E"/>
                </a:solidFill>
                <a:latin typeface="Times New Roman"/>
                <a:cs typeface="Times New Roman"/>
              </a:rPr>
              <a:t>greater</a:t>
            </a:r>
            <a:r>
              <a:rPr dirty="0" sz="2400" spc="-8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than</a:t>
            </a:r>
            <a:r>
              <a:rPr dirty="0" sz="2400" spc="-4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B)</a:t>
            </a:r>
            <a:r>
              <a:rPr dirty="0" sz="2400" spc="-2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we</a:t>
            </a:r>
            <a:r>
              <a:rPr dirty="0" sz="2400" spc="-4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take</a:t>
            </a:r>
            <a:r>
              <a:rPr dirty="0" sz="2400" spc="-4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the</a:t>
            </a:r>
            <a:r>
              <a:rPr dirty="0" sz="2400" spc="-4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action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on</a:t>
            </a:r>
            <a:r>
              <a:rPr dirty="0" sz="2400" spc="-2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right</a:t>
            </a:r>
            <a:endParaRPr sz="2400">
              <a:latin typeface="Times New Roman"/>
              <a:cs typeface="Times New Roman"/>
            </a:endParaRPr>
          </a:p>
          <a:p>
            <a:pPr marL="339725" indent="-327025">
              <a:lnSpc>
                <a:spcPct val="100000"/>
              </a:lnSpc>
              <a:spcBef>
                <a:spcPts val="695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print</a:t>
            </a:r>
            <a:r>
              <a:rPr dirty="0" sz="2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the</a:t>
            </a:r>
            <a:r>
              <a:rPr dirty="0" sz="2400" spc="-5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value</a:t>
            </a:r>
            <a:r>
              <a:rPr dirty="0" sz="2400" spc="-5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of</a:t>
            </a:r>
            <a:r>
              <a:rPr dirty="0" sz="2400" spc="-4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50">
                <a:solidFill>
                  <a:srgbClr val="191B0E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33019" rIns="0" bIns="0" rtlCol="0" vert="horz">
            <a:spAutoFit/>
          </a:bodyPr>
          <a:lstStyle/>
          <a:p>
            <a:pPr marL="1836420">
              <a:lnSpc>
                <a:spcPct val="100000"/>
              </a:lnSpc>
              <a:spcBef>
                <a:spcPts val="95"/>
              </a:spcBef>
            </a:pPr>
            <a:r>
              <a:rPr dirty="0"/>
              <a:t>DECISION</a:t>
            </a:r>
            <a:r>
              <a:rPr dirty="0" spc="180"/>
              <a:t> </a:t>
            </a:r>
            <a:r>
              <a:rPr dirty="0" spc="-10"/>
              <a:t>STRUCTURES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390284" y="3342899"/>
            <a:ext cx="1566545" cy="952500"/>
            <a:chOff x="4390284" y="3342899"/>
            <a:chExt cx="1566545" cy="952500"/>
          </a:xfrm>
        </p:grpSpPr>
        <p:sp>
          <p:nvSpPr>
            <p:cNvPr id="4" name="object 4" descr=""/>
            <p:cNvSpPr/>
            <p:nvPr/>
          </p:nvSpPr>
          <p:spPr>
            <a:xfrm>
              <a:off x="4394412" y="3347026"/>
              <a:ext cx="1558290" cy="944244"/>
            </a:xfrm>
            <a:custGeom>
              <a:avLst/>
              <a:gdLst/>
              <a:ahLst/>
              <a:cxnLst/>
              <a:rect l="l" t="t" r="r" b="b"/>
              <a:pathLst>
                <a:path w="1558289" h="944245">
                  <a:moveTo>
                    <a:pt x="779144" y="0"/>
                  </a:moveTo>
                  <a:lnTo>
                    <a:pt x="0" y="472080"/>
                  </a:lnTo>
                  <a:lnTo>
                    <a:pt x="779144" y="944162"/>
                  </a:lnTo>
                  <a:lnTo>
                    <a:pt x="1558288" y="472080"/>
                  </a:lnTo>
                  <a:lnTo>
                    <a:pt x="779144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394412" y="3347026"/>
              <a:ext cx="1558290" cy="944244"/>
            </a:xfrm>
            <a:custGeom>
              <a:avLst/>
              <a:gdLst/>
              <a:ahLst/>
              <a:cxnLst/>
              <a:rect l="l" t="t" r="r" b="b"/>
              <a:pathLst>
                <a:path w="1558289" h="944245">
                  <a:moveTo>
                    <a:pt x="0" y="472080"/>
                  </a:moveTo>
                  <a:lnTo>
                    <a:pt x="779144" y="0"/>
                  </a:lnTo>
                  <a:lnTo>
                    <a:pt x="1558289" y="472080"/>
                  </a:lnTo>
                  <a:lnTo>
                    <a:pt x="779144" y="944161"/>
                  </a:lnTo>
                  <a:lnTo>
                    <a:pt x="0" y="472080"/>
                  </a:lnTo>
                  <a:close/>
                </a:path>
              </a:pathLst>
            </a:custGeom>
            <a:ln w="81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4992447" y="3611528"/>
            <a:ext cx="360045" cy="47815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 indent="100330">
              <a:lnSpc>
                <a:spcPct val="103400"/>
              </a:lnSpc>
              <a:spcBef>
                <a:spcPts val="60"/>
              </a:spcBef>
            </a:pPr>
            <a:r>
              <a:rPr dirty="0" sz="1450" spc="-25">
                <a:latin typeface="Franklin Gothic Medium"/>
                <a:cs typeface="Franklin Gothic Medium"/>
              </a:rPr>
              <a:t>is A&gt;B</a:t>
            </a:r>
            <a:endParaRPr sz="1450">
              <a:latin typeface="Franklin Gothic Medium"/>
              <a:cs typeface="Franklin Gothic Medium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3599936" y="3814979"/>
            <a:ext cx="3915410" cy="1188720"/>
            <a:chOff x="3599936" y="3814979"/>
            <a:chExt cx="3915410" cy="1188720"/>
          </a:xfrm>
        </p:grpSpPr>
        <p:sp>
          <p:nvSpPr>
            <p:cNvPr id="8" name="object 8" descr=""/>
            <p:cNvSpPr/>
            <p:nvPr/>
          </p:nvSpPr>
          <p:spPr>
            <a:xfrm>
              <a:off x="5952700" y="3819107"/>
              <a:ext cx="779145" cy="0"/>
            </a:xfrm>
            <a:custGeom>
              <a:avLst/>
              <a:gdLst/>
              <a:ahLst/>
              <a:cxnLst/>
              <a:rect l="l" t="t" r="r" b="b"/>
              <a:pathLst>
                <a:path w="779145" h="0">
                  <a:moveTo>
                    <a:pt x="0" y="0"/>
                  </a:moveTo>
                  <a:lnTo>
                    <a:pt x="779144" y="0"/>
                  </a:lnTo>
                </a:path>
              </a:pathLst>
            </a:custGeom>
            <a:ln w="81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699383" y="3819107"/>
              <a:ext cx="65405" cy="708660"/>
            </a:xfrm>
            <a:custGeom>
              <a:avLst/>
              <a:gdLst/>
              <a:ahLst/>
              <a:cxnLst/>
              <a:rect l="l" t="t" r="r" b="b"/>
              <a:pathLst>
                <a:path w="65404" h="708660">
                  <a:moveTo>
                    <a:pt x="28406" y="643210"/>
                  </a:moveTo>
                  <a:lnTo>
                    <a:pt x="0" y="643210"/>
                  </a:lnTo>
                  <a:lnTo>
                    <a:pt x="32463" y="708121"/>
                  </a:lnTo>
                  <a:lnTo>
                    <a:pt x="59517" y="654029"/>
                  </a:lnTo>
                  <a:lnTo>
                    <a:pt x="28406" y="654029"/>
                  </a:lnTo>
                  <a:lnTo>
                    <a:pt x="28406" y="643210"/>
                  </a:lnTo>
                  <a:close/>
                </a:path>
                <a:path w="65404" h="708660">
                  <a:moveTo>
                    <a:pt x="36521" y="0"/>
                  </a:moveTo>
                  <a:lnTo>
                    <a:pt x="28404" y="0"/>
                  </a:lnTo>
                  <a:lnTo>
                    <a:pt x="28406" y="654029"/>
                  </a:lnTo>
                  <a:lnTo>
                    <a:pt x="36521" y="654029"/>
                  </a:lnTo>
                  <a:lnTo>
                    <a:pt x="36521" y="0"/>
                  </a:lnTo>
                  <a:close/>
                </a:path>
                <a:path w="65404" h="708660">
                  <a:moveTo>
                    <a:pt x="64928" y="643210"/>
                  </a:moveTo>
                  <a:lnTo>
                    <a:pt x="36521" y="643210"/>
                  </a:lnTo>
                  <a:lnTo>
                    <a:pt x="36521" y="654029"/>
                  </a:lnTo>
                  <a:lnTo>
                    <a:pt x="59517" y="654029"/>
                  </a:lnTo>
                  <a:lnTo>
                    <a:pt x="64928" y="6432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632400" y="3819107"/>
              <a:ext cx="779145" cy="0"/>
            </a:xfrm>
            <a:custGeom>
              <a:avLst/>
              <a:gdLst/>
              <a:ahLst/>
              <a:cxnLst/>
              <a:rect l="l" t="t" r="r" b="b"/>
              <a:pathLst>
                <a:path w="779145" h="0">
                  <a:moveTo>
                    <a:pt x="0" y="0"/>
                  </a:moveTo>
                  <a:lnTo>
                    <a:pt x="779144" y="0"/>
                  </a:lnTo>
                </a:path>
              </a:pathLst>
            </a:custGeom>
            <a:ln w="81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599936" y="3819107"/>
              <a:ext cx="65405" cy="708660"/>
            </a:xfrm>
            <a:custGeom>
              <a:avLst/>
              <a:gdLst/>
              <a:ahLst/>
              <a:cxnLst/>
              <a:rect l="l" t="t" r="r" b="b"/>
              <a:pathLst>
                <a:path w="65404" h="708660">
                  <a:moveTo>
                    <a:pt x="28406" y="643210"/>
                  </a:moveTo>
                  <a:lnTo>
                    <a:pt x="0" y="643210"/>
                  </a:lnTo>
                  <a:lnTo>
                    <a:pt x="32463" y="708121"/>
                  </a:lnTo>
                  <a:lnTo>
                    <a:pt x="59517" y="654029"/>
                  </a:lnTo>
                  <a:lnTo>
                    <a:pt x="28406" y="654029"/>
                  </a:lnTo>
                  <a:lnTo>
                    <a:pt x="28406" y="643210"/>
                  </a:lnTo>
                  <a:close/>
                </a:path>
                <a:path w="65404" h="708660">
                  <a:moveTo>
                    <a:pt x="36521" y="0"/>
                  </a:moveTo>
                  <a:lnTo>
                    <a:pt x="28404" y="0"/>
                  </a:lnTo>
                  <a:lnTo>
                    <a:pt x="28406" y="654029"/>
                  </a:lnTo>
                  <a:lnTo>
                    <a:pt x="36522" y="654029"/>
                  </a:lnTo>
                  <a:lnTo>
                    <a:pt x="36521" y="0"/>
                  </a:lnTo>
                  <a:close/>
                </a:path>
                <a:path w="65404" h="708660">
                  <a:moveTo>
                    <a:pt x="64928" y="643210"/>
                  </a:moveTo>
                  <a:lnTo>
                    <a:pt x="36522" y="643210"/>
                  </a:lnTo>
                  <a:lnTo>
                    <a:pt x="36522" y="654029"/>
                  </a:lnTo>
                  <a:lnTo>
                    <a:pt x="59517" y="654029"/>
                  </a:lnTo>
                  <a:lnTo>
                    <a:pt x="64928" y="6432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952700" y="4527228"/>
              <a:ext cx="1558290" cy="472440"/>
            </a:xfrm>
            <a:custGeom>
              <a:avLst/>
              <a:gdLst/>
              <a:ahLst/>
              <a:cxnLst/>
              <a:rect l="l" t="t" r="r" b="b"/>
              <a:pathLst>
                <a:path w="1558290" h="472439">
                  <a:moveTo>
                    <a:pt x="1298574" y="0"/>
                  </a:moveTo>
                  <a:lnTo>
                    <a:pt x="259714" y="0"/>
                  </a:lnTo>
                  <a:lnTo>
                    <a:pt x="0" y="236040"/>
                  </a:lnTo>
                  <a:lnTo>
                    <a:pt x="259714" y="472081"/>
                  </a:lnTo>
                  <a:lnTo>
                    <a:pt x="1298574" y="472081"/>
                  </a:lnTo>
                  <a:lnTo>
                    <a:pt x="1350916" y="467286"/>
                  </a:lnTo>
                  <a:lnTo>
                    <a:pt x="1399668" y="453532"/>
                  </a:lnTo>
                  <a:lnTo>
                    <a:pt x="1443784" y="431769"/>
                  </a:lnTo>
                  <a:lnTo>
                    <a:pt x="1482221" y="402947"/>
                  </a:lnTo>
                  <a:lnTo>
                    <a:pt x="1513935" y="368013"/>
                  </a:lnTo>
                  <a:lnTo>
                    <a:pt x="1537880" y="327918"/>
                  </a:lnTo>
                  <a:lnTo>
                    <a:pt x="1553013" y="283611"/>
                  </a:lnTo>
                  <a:lnTo>
                    <a:pt x="1558289" y="236040"/>
                  </a:lnTo>
                  <a:lnTo>
                    <a:pt x="1553013" y="188470"/>
                  </a:lnTo>
                  <a:lnTo>
                    <a:pt x="1537880" y="144163"/>
                  </a:lnTo>
                  <a:lnTo>
                    <a:pt x="1513935" y="104068"/>
                  </a:lnTo>
                  <a:lnTo>
                    <a:pt x="1482221" y="69134"/>
                  </a:lnTo>
                  <a:lnTo>
                    <a:pt x="1443784" y="40312"/>
                  </a:lnTo>
                  <a:lnTo>
                    <a:pt x="1399668" y="18549"/>
                  </a:lnTo>
                  <a:lnTo>
                    <a:pt x="1350916" y="4795"/>
                  </a:lnTo>
                  <a:lnTo>
                    <a:pt x="1298574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952700" y="4527228"/>
              <a:ext cx="1558290" cy="472440"/>
            </a:xfrm>
            <a:custGeom>
              <a:avLst/>
              <a:gdLst/>
              <a:ahLst/>
              <a:cxnLst/>
              <a:rect l="l" t="t" r="r" b="b"/>
              <a:pathLst>
                <a:path w="1558290" h="472439">
                  <a:moveTo>
                    <a:pt x="0" y="236040"/>
                  </a:moveTo>
                  <a:lnTo>
                    <a:pt x="259714" y="0"/>
                  </a:lnTo>
                  <a:lnTo>
                    <a:pt x="1298574" y="0"/>
                  </a:lnTo>
                  <a:lnTo>
                    <a:pt x="1350916" y="4795"/>
                  </a:lnTo>
                  <a:lnTo>
                    <a:pt x="1399667" y="18549"/>
                  </a:lnTo>
                  <a:lnTo>
                    <a:pt x="1443783" y="40312"/>
                  </a:lnTo>
                  <a:lnTo>
                    <a:pt x="1482220" y="69134"/>
                  </a:lnTo>
                  <a:lnTo>
                    <a:pt x="1513934" y="104068"/>
                  </a:lnTo>
                  <a:lnTo>
                    <a:pt x="1537880" y="144162"/>
                  </a:lnTo>
                  <a:lnTo>
                    <a:pt x="1553013" y="188470"/>
                  </a:lnTo>
                  <a:lnTo>
                    <a:pt x="1558289" y="236040"/>
                  </a:lnTo>
                  <a:lnTo>
                    <a:pt x="1553013" y="283610"/>
                  </a:lnTo>
                  <a:lnTo>
                    <a:pt x="1537880" y="327918"/>
                  </a:lnTo>
                  <a:lnTo>
                    <a:pt x="1513934" y="368012"/>
                  </a:lnTo>
                  <a:lnTo>
                    <a:pt x="1482220" y="402946"/>
                  </a:lnTo>
                  <a:lnTo>
                    <a:pt x="1443783" y="431768"/>
                  </a:lnTo>
                  <a:lnTo>
                    <a:pt x="1399667" y="453531"/>
                  </a:lnTo>
                  <a:lnTo>
                    <a:pt x="1350916" y="467285"/>
                  </a:lnTo>
                  <a:lnTo>
                    <a:pt x="1298574" y="472080"/>
                  </a:lnTo>
                  <a:lnTo>
                    <a:pt x="259714" y="472080"/>
                  </a:lnTo>
                  <a:lnTo>
                    <a:pt x="0" y="236040"/>
                  </a:lnTo>
                  <a:close/>
                </a:path>
              </a:pathLst>
            </a:custGeom>
            <a:ln w="81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6443876" y="4553359"/>
            <a:ext cx="574040" cy="24955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>
                <a:latin typeface="Franklin Gothic Medium"/>
                <a:cs typeface="Franklin Gothic Medium"/>
              </a:rPr>
              <a:t>Print</a:t>
            </a:r>
            <a:r>
              <a:rPr dirty="0" sz="1450" spc="75">
                <a:latin typeface="Franklin Gothic Medium"/>
                <a:cs typeface="Franklin Gothic Medium"/>
              </a:rPr>
              <a:t> </a:t>
            </a:r>
            <a:r>
              <a:rPr dirty="0" sz="1450" spc="-50">
                <a:latin typeface="Franklin Gothic Medium"/>
                <a:cs typeface="Franklin Gothic Medium"/>
              </a:rPr>
              <a:t>B</a:t>
            </a:r>
            <a:endParaRPr sz="1450">
              <a:latin typeface="Franklin Gothic Medium"/>
              <a:cs typeface="Franklin Gothic Medium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2831994" y="4516545"/>
            <a:ext cx="1566545" cy="480695"/>
            <a:chOff x="2831994" y="4516545"/>
            <a:chExt cx="1566545" cy="480695"/>
          </a:xfrm>
        </p:grpSpPr>
        <p:sp>
          <p:nvSpPr>
            <p:cNvPr id="16" name="object 16" descr=""/>
            <p:cNvSpPr/>
            <p:nvPr/>
          </p:nvSpPr>
          <p:spPr>
            <a:xfrm>
              <a:off x="2836122" y="4520673"/>
              <a:ext cx="1558290" cy="472440"/>
            </a:xfrm>
            <a:custGeom>
              <a:avLst/>
              <a:gdLst/>
              <a:ahLst/>
              <a:cxnLst/>
              <a:rect l="l" t="t" r="r" b="b"/>
              <a:pathLst>
                <a:path w="1558289" h="472439">
                  <a:moveTo>
                    <a:pt x="1298575" y="0"/>
                  </a:moveTo>
                  <a:lnTo>
                    <a:pt x="259714" y="0"/>
                  </a:lnTo>
                  <a:lnTo>
                    <a:pt x="0" y="236039"/>
                  </a:lnTo>
                  <a:lnTo>
                    <a:pt x="259714" y="472080"/>
                  </a:lnTo>
                  <a:lnTo>
                    <a:pt x="1298575" y="472080"/>
                  </a:lnTo>
                  <a:lnTo>
                    <a:pt x="1350916" y="467285"/>
                  </a:lnTo>
                  <a:lnTo>
                    <a:pt x="1399667" y="453531"/>
                  </a:lnTo>
                  <a:lnTo>
                    <a:pt x="1443783" y="431768"/>
                  </a:lnTo>
                  <a:lnTo>
                    <a:pt x="1482221" y="402945"/>
                  </a:lnTo>
                  <a:lnTo>
                    <a:pt x="1513934" y="368012"/>
                  </a:lnTo>
                  <a:lnTo>
                    <a:pt x="1537880" y="327917"/>
                  </a:lnTo>
                  <a:lnTo>
                    <a:pt x="1553013" y="283610"/>
                  </a:lnTo>
                  <a:lnTo>
                    <a:pt x="1558290" y="236039"/>
                  </a:lnTo>
                  <a:lnTo>
                    <a:pt x="1553013" y="188469"/>
                  </a:lnTo>
                  <a:lnTo>
                    <a:pt x="1537880" y="144162"/>
                  </a:lnTo>
                  <a:lnTo>
                    <a:pt x="1513934" y="104067"/>
                  </a:lnTo>
                  <a:lnTo>
                    <a:pt x="1482221" y="69134"/>
                  </a:lnTo>
                  <a:lnTo>
                    <a:pt x="1443783" y="40311"/>
                  </a:lnTo>
                  <a:lnTo>
                    <a:pt x="1399667" y="18549"/>
                  </a:lnTo>
                  <a:lnTo>
                    <a:pt x="1350916" y="4795"/>
                  </a:lnTo>
                  <a:lnTo>
                    <a:pt x="1298575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836122" y="4520673"/>
              <a:ext cx="1558290" cy="472440"/>
            </a:xfrm>
            <a:custGeom>
              <a:avLst/>
              <a:gdLst/>
              <a:ahLst/>
              <a:cxnLst/>
              <a:rect l="l" t="t" r="r" b="b"/>
              <a:pathLst>
                <a:path w="1558289" h="472439">
                  <a:moveTo>
                    <a:pt x="0" y="236040"/>
                  </a:moveTo>
                  <a:lnTo>
                    <a:pt x="259714" y="0"/>
                  </a:lnTo>
                  <a:lnTo>
                    <a:pt x="1298574" y="0"/>
                  </a:lnTo>
                  <a:lnTo>
                    <a:pt x="1350916" y="4795"/>
                  </a:lnTo>
                  <a:lnTo>
                    <a:pt x="1399667" y="18549"/>
                  </a:lnTo>
                  <a:lnTo>
                    <a:pt x="1443783" y="40312"/>
                  </a:lnTo>
                  <a:lnTo>
                    <a:pt x="1482220" y="69134"/>
                  </a:lnTo>
                  <a:lnTo>
                    <a:pt x="1513934" y="104068"/>
                  </a:lnTo>
                  <a:lnTo>
                    <a:pt x="1537880" y="144162"/>
                  </a:lnTo>
                  <a:lnTo>
                    <a:pt x="1553013" y="188470"/>
                  </a:lnTo>
                  <a:lnTo>
                    <a:pt x="1558289" y="236040"/>
                  </a:lnTo>
                  <a:lnTo>
                    <a:pt x="1553013" y="283610"/>
                  </a:lnTo>
                  <a:lnTo>
                    <a:pt x="1537880" y="327918"/>
                  </a:lnTo>
                  <a:lnTo>
                    <a:pt x="1513934" y="368012"/>
                  </a:lnTo>
                  <a:lnTo>
                    <a:pt x="1482220" y="402946"/>
                  </a:lnTo>
                  <a:lnTo>
                    <a:pt x="1443783" y="431768"/>
                  </a:lnTo>
                  <a:lnTo>
                    <a:pt x="1399667" y="453531"/>
                  </a:lnTo>
                  <a:lnTo>
                    <a:pt x="1350916" y="467285"/>
                  </a:lnTo>
                  <a:lnTo>
                    <a:pt x="1298574" y="472080"/>
                  </a:lnTo>
                  <a:lnTo>
                    <a:pt x="259714" y="472080"/>
                  </a:lnTo>
                  <a:lnTo>
                    <a:pt x="0" y="236040"/>
                  </a:lnTo>
                  <a:close/>
                </a:path>
              </a:pathLst>
            </a:custGeom>
            <a:ln w="81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3334058" y="4547263"/>
            <a:ext cx="560705" cy="24955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>
                <a:latin typeface="Franklin Gothic Medium"/>
                <a:cs typeface="Franklin Gothic Medium"/>
              </a:rPr>
              <a:t>Print</a:t>
            </a:r>
            <a:r>
              <a:rPr dirty="0" sz="1450" spc="75">
                <a:latin typeface="Franklin Gothic Medium"/>
                <a:cs typeface="Franklin Gothic Medium"/>
              </a:rPr>
              <a:t> </a:t>
            </a:r>
            <a:r>
              <a:rPr dirty="0" sz="1450" spc="-50">
                <a:latin typeface="Franklin Gothic Medium"/>
                <a:cs typeface="Franklin Gothic Medium"/>
              </a:rPr>
              <a:t>A</a:t>
            </a:r>
            <a:endParaRPr sz="1450">
              <a:latin typeface="Franklin Gothic Medium"/>
              <a:cs typeface="Franklin Gothic Medium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3611209" y="2992967"/>
            <a:ext cx="3124835" cy="2596515"/>
            <a:chOff x="3611209" y="2992967"/>
            <a:chExt cx="3124835" cy="2596515"/>
          </a:xfrm>
        </p:grpSpPr>
        <p:sp>
          <p:nvSpPr>
            <p:cNvPr id="20" name="object 20" descr=""/>
            <p:cNvSpPr/>
            <p:nvPr/>
          </p:nvSpPr>
          <p:spPr>
            <a:xfrm>
              <a:off x="5141093" y="2992967"/>
              <a:ext cx="65405" cy="354330"/>
            </a:xfrm>
            <a:custGeom>
              <a:avLst/>
              <a:gdLst/>
              <a:ahLst/>
              <a:cxnLst/>
              <a:rect l="l" t="t" r="r" b="b"/>
              <a:pathLst>
                <a:path w="65404" h="354329">
                  <a:moveTo>
                    <a:pt x="28406" y="289148"/>
                  </a:moveTo>
                  <a:lnTo>
                    <a:pt x="0" y="289148"/>
                  </a:lnTo>
                  <a:lnTo>
                    <a:pt x="32463" y="354059"/>
                  </a:lnTo>
                  <a:lnTo>
                    <a:pt x="59517" y="299967"/>
                  </a:lnTo>
                  <a:lnTo>
                    <a:pt x="28406" y="299967"/>
                  </a:lnTo>
                  <a:lnTo>
                    <a:pt x="28406" y="289148"/>
                  </a:lnTo>
                  <a:close/>
                </a:path>
                <a:path w="65404" h="354329">
                  <a:moveTo>
                    <a:pt x="36521" y="0"/>
                  </a:moveTo>
                  <a:lnTo>
                    <a:pt x="28404" y="0"/>
                  </a:lnTo>
                  <a:lnTo>
                    <a:pt x="28406" y="299967"/>
                  </a:lnTo>
                  <a:lnTo>
                    <a:pt x="36521" y="299967"/>
                  </a:lnTo>
                  <a:lnTo>
                    <a:pt x="36521" y="0"/>
                  </a:lnTo>
                  <a:close/>
                </a:path>
                <a:path w="65404" h="354329">
                  <a:moveTo>
                    <a:pt x="64928" y="289148"/>
                  </a:moveTo>
                  <a:lnTo>
                    <a:pt x="36521" y="289148"/>
                  </a:lnTo>
                  <a:lnTo>
                    <a:pt x="36521" y="299967"/>
                  </a:lnTo>
                  <a:lnTo>
                    <a:pt x="59517" y="299967"/>
                  </a:lnTo>
                  <a:lnTo>
                    <a:pt x="64928" y="2891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615267" y="4999310"/>
              <a:ext cx="0" cy="236220"/>
            </a:xfrm>
            <a:custGeom>
              <a:avLst/>
              <a:gdLst/>
              <a:ahLst/>
              <a:cxnLst/>
              <a:rect l="l" t="t" r="r" b="b"/>
              <a:pathLst>
                <a:path w="0" h="236220">
                  <a:moveTo>
                    <a:pt x="0" y="0"/>
                  </a:moveTo>
                  <a:lnTo>
                    <a:pt x="0" y="236040"/>
                  </a:lnTo>
                </a:path>
              </a:pathLst>
            </a:custGeom>
            <a:ln w="81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615267" y="5235350"/>
              <a:ext cx="3116580" cy="0"/>
            </a:xfrm>
            <a:custGeom>
              <a:avLst/>
              <a:gdLst/>
              <a:ahLst/>
              <a:cxnLst/>
              <a:rect l="l" t="t" r="r" b="b"/>
              <a:pathLst>
                <a:path w="3116579" h="0">
                  <a:moveTo>
                    <a:pt x="0" y="0"/>
                  </a:moveTo>
                  <a:lnTo>
                    <a:pt x="3116579" y="0"/>
                  </a:lnTo>
                </a:path>
              </a:pathLst>
            </a:custGeom>
            <a:ln w="81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731845" y="4999309"/>
              <a:ext cx="0" cy="236220"/>
            </a:xfrm>
            <a:custGeom>
              <a:avLst/>
              <a:gdLst/>
              <a:ahLst/>
              <a:cxnLst/>
              <a:rect l="l" t="t" r="r" b="b"/>
              <a:pathLst>
                <a:path w="0" h="236220">
                  <a:moveTo>
                    <a:pt x="0" y="236040"/>
                  </a:moveTo>
                  <a:lnTo>
                    <a:pt x="0" y="0"/>
                  </a:lnTo>
                </a:path>
              </a:pathLst>
            </a:custGeom>
            <a:ln w="81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011235" y="5235350"/>
              <a:ext cx="65405" cy="354330"/>
            </a:xfrm>
            <a:custGeom>
              <a:avLst/>
              <a:gdLst/>
              <a:ahLst/>
              <a:cxnLst/>
              <a:rect l="l" t="t" r="r" b="b"/>
              <a:pathLst>
                <a:path w="65404" h="354329">
                  <a:moveTo>
                    <a:pt x="28406" y="289149"/>
                  </a:moveTo>
                  <a:lnTo>
                    <a:pt x="0" y="289149"/>
                  </a:lnTo>
                  <a:lnTo>
                    <a:pt x="32463" y="354060"/>
                  </a:lnTo>
                  <a:lnTo>
                    <a:pt x="59517" y="299968"/>
                  </a:lnTo>
                  <a:lnTo>
                    <a:pt x="28406" y="299968"/>
                  </a:lnTo>
                  <a:lnTo>
                    <a:pt x="28406" y="289149"/>
                  </a:lnTo>
                  <a:close/>
                </a:path>
                <a:path w="65404" h="354329">
                  <a:moveTo>
                    <a:pt x="36521" y="0"/>
                  </a:moveTo>
                  <a:lnTo>
                    <a:pt x="28404" y="0"/>
                  </a:lnTo>
                  <a:lnTo>
                    <a:pt x="28406" y="299968"/>
                  </a:lnTo>
                  <a:lnTo>
                    <a:pt x="36521" y="299968"/>
                  </a:lnTo>
                  <a:lnTo>
                    <a:pt x="36521" y="0"/>
                  </a:lnTo>
                  <a:close/>
                </a:path>
                <a:path w="65404" h="354329">
                  <a:moveTo>
                    <a:pt x="64928" y="289149"/>
                  </a:moveTo>
                  <a:lnTo>
                    <a:pt x="36521" y="289149"/>
                  </a:lnTo>
                  <a:lnTo>
                    <a:pt x="36521" y="299968"/>
                  </a:lnTo>
                  <a:lnTo>
                    <a:pt x="59517" y="299968"/>
                  </a:lnTo>
                  <a:lnTo>
                    <a:pt x="64928" y="2891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3485409" y="3465047"/>
            <a:ext cx="779145" cy="354330"/>
          </a:xfrm>
          <a:prstGeom prst="rect">
            <a:avLst/>
          </a:prstGeom>
          <a:solidFill>
            <a:srgbClr val="CCFFFF"/>
          </a:solidFill>
        </p:spPr>
        <p:txBody>
          <a:bodyPr wrap="square" lIns="0" tIns="425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dirty="0" sz="1450" spc="-50">
                <a:latin typeface="Franklin Gothic Medium"/>
                <a:cs typeface="Franklin Gothic Medium"/>
              </a:rPr>
              <a:t>Y</a:t>
            </a:r>
            <a:endParaRPr sz="1450">
              <a:latin typeface="Franklin Gothic Medium"/>
              <a:cs typeface="Franklin Gothic Medium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6342273" y="3465047"/>
            <a:ext cx="779145" cy="354330"/>
          </a:xfrm>
          <a:prstGeom prst="rect">
            <a:avLst/>
          </a:prstGeom>
          <a:solidFill>
            <a:srgbClr val="CCFFFF"/>
          </a:solidFill>
        </p:spPr>
        <p:txBody>
          <a:bodyPr wrap="square" lIns="0" tIns="425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dirty="0" sz="1450" spc="-50">
                <a:latin typeface="Franklin Gothic Medium"/>
                <a:cs typeface="Franklin Gothic Medium"/>
              </a:rPr>
              <a:t>N</a:t>
            </a:r>
            <a:endParaRPr sz="145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33019" rIns="0" bIns="0" rtlCol="0" vert="horz">
            <a:spAutoFit/>
          </a:bodyPr>
          <a:lstStyle/>
          <a:p>
            <a:pPr marL="661670">
              <a:lnSpc>
                <a:spcPct val="100000"/>
              </a:lnSpc>
              <a:spcBef>
                <a:spcPts val="95"/>
              </a:spcBef>
            </a:pPr>
            <a:r>
              <a:rPr dirty="0"/>
              <a:t>IF–THEN–ELSE</a:t>
            </a:r>
            <a:r>
              <a:rPr dirty="0" spc="350"/>
              <a:t> </a:t>
            </a:r>
            <a:r>
              <a:rPr dirty="0" spc="-10"/>
              <a:t>STRUCTURE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386332" y="2679175"/>
            <a:ext cx="3547745" cy="2847975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339725" indent="-327025">
              <a:lnSpc>
                <a:spcPct val="100000"/>
              </a:lnSpc>
              <a:spcBef>
                <a:spcPts val="940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The</a:t>
            </a:r>
            <a:r>
              <a:rPr dirty="0" sz="2400" spc="-4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structure</a:t>
            </a:r>
            <a:r>
              <a:rPr dirty="0" sz="2400" spc="-4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is</a:t>
            </a:r>
            <a:r>
              <a:rPr dirty="0" sz="2400" spc="-4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as</a:t>
            </a:r>
            <a:r>
              <a:rPr dirty="0" sz="2400" spc="-4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follows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  <a:tabLst>
                <a:tab pos="1671955" algn="l"/>
              </a:tabLst>
            </a:pP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If</a:t>
            </a:r>
            <a:r>
              <a:rPr dirty="0" sz="2400" spc="-3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191B0E"/>
                </a:solidFill>
                <a:latin typeface="Times New Roman"/>
                <a:cs typeface="Times New Roman"/>
              </a:rPr>
              <a:t>condition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	</a:t>
            </a:r>
            <a:r>
              <a:rPr dirty="0" sz="2400" spc="-20" b="1">
                <a:solidFill>
                  <a:srgbClr val="191B0E"/>
                </a:solidFill>
                <a:latin typeface="Times New Roman"/>
                <a:cs typeface="Times New Roman"/>
              </a:rPr>
              <a:t>then</a:t>
            </a:r>
            <a:endParaRPr sz="2400">
              <a:latin typeface="Times New Roman"/>
              <a:cs typeface="Times New Roman"/>
            </a:endParaRPr>
          </a:p>
          <a:p>
            <a:pPr marL="339725" marR="735965" indent="451484">
              <a:lnSpc>
                <a:spcPct val="128299"/>
              </a:lnSpc>
            </a:pP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true</a:t>
            </a:r>
            <a:r>
              <a:rPr dirty="0" sz="2400" spc="-5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191B0E"/>
                </a:solidFill>
                <a:latin typeface="Times New Roman"/>
                <a:cs typeface="Times New Roman"/>
              </a:rPr>
              <a:t>alternative </a:t>
            </a:r>
            <a:r>
              <a:rPr dirty="0" sz="2400" spc="-20" b="1">
                <a:solidFill>
                  <a:srgbClr val="191B0E"/>
                </a:solidFill>
                <a:latin typeface="Times New Roman"/>
                <a:cs typeface="Times New Roman"/>
              </a:rPr>
              <a:t>else</a:t>
            </a:r>
            <a:endParaRPr sz="2400">
              <a:latin typeface="Times New Roman"/>
              <a:cs typeface="Times New Roman"/>
            </a:endParaRPr>
          </a:p>
          <a:p>
            <a:pPr marL="791210">
              <a:lnSpc>
                <a:spcPct val="100000"/>
              </a:lnSpc>
              <a:spcBef>
                <a:spcPts val="815"/>
              </a:spcBef>
            </a:pP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false</a:t>
            </a:r>
            <a:r>
              <a:rPr dirty="0" sz="2400" spc="-8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191B0E"/>
                </a:solidFill>
                <a:latin typeface="Times New Roman"/>
                <a:cs typeface="Times New Roman"/>
              </a:rPr>
              <a:t>alternative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2400" spc="-10" b="1">
                <a:solidFill>
                  <a:srgbClr val="191B0E"/>
                </a:solidFill>
                <a:latin typeface="Times New Roman"/>
                <a:cs typeface="Times New Roman"/>
              </a:rPr>
              <a:t>endif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33019" rIns="0" bIns="0" rtlCol="0" vert="horz">
            <a:spAutoFit/>
          </a:bodyPr>
          <a:lstStyle/>
          <a:p>
            <a:pPr marL="661670">
              <a:lnSpc>
                <a:spcPct val="100000"/>
              </a:lnSpc>
              <a:spcBef>
                <a:spcPts val="95"/>
              </a:spcBef>
            </a:pPr>
            <a:r>
              <a:rPr dirty="0"/>
              <a:t>IF–THEN–ELSE</a:t>
            </a:r>
            <a:r>
              <a:rPr dirty="0" spc="350"/>
              <a:t> </a:t>
            </a:r>
            <a:r>
              <a:rPr dirty="0" spc="-10"/>
              <a:t>STRUCTURE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386332" y="2682223"/>
            <a:ext cx="5861685" cy="939800"/>
          </a:xfrm>
          <a:prstGeom prst="rect">
            <a:avLst/>
          </a:prstGeom>
        </p:spPr>
        <p:txBody>
          <a:bodyPr wrap="square" lIns="0" tIns="104139" rIns="0" bIns="0" rtlCol="0" vert="horz">
            <a:spAutoFit/>
          </a:bodyPr>
          <a:lstStyle/>
          <a:p>
            <a:pPr marL="339725" indent="-327025">
              <a:lnSpc>
                <a:spcPct val="100000"/>
              </a:lnSpc>
              <a:spcBef>
                <a:spcPts val="819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The</a:t>
            </a:r>
            <a:r>
              <a:rPr dirty="0" sz="2400" spc="-5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algorithm</a:t>
            </a:r>
            <a:r>
              <a:rPr dirty="0" sz="2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for</a:t>
            </a:r>
            <a:r>
              <a:rPr dirty="0" sz="2400" spc="-4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the</a:t>
            </a:r>
            <a:r>
              <a:rPr dirty="0" sz="2400" spc="-5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flowchart</a:t>
            </a:r>
            <a:r>
              <a:rPr dirty="0" sz="2400" spc="-4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is</a:t>
            </a:r>
            <a:r>
              <a:rPr dirty="0" sz="2400" spc="-5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as</a:t>
            </a:r>
            <a:r>
              <a:rPr dirty="0" sz="2400" spc="-5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follows: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2400" spc="-20" b="1">
                <a:solidFill>
                  <a:srgbClr val="191B0E"/>
                </a:solidFill>
                <a:latin typeface="Times New Roman"/>
                <a:cs typeface="Times New Roman"/>
              </a:rPr>
              <a:t>If</a:t>
            </a:r>
            <a:r>
              <a:rPr dirty="0" sz="2400" spc="-13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A&gt;B</a:t>
            </a:r>
            <a:r>
              <a:rPr dirty="0" sz="2400" spc="-2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20" b="1">
                <a:solidFill>
                  <a:srgbClr val="191B0E"/>
                </a:solidFill>
                <a:latin typeface="Times New Roman"/>
                <a:cs typeface="Times New Roman"/>
              </a:rPr>
              <a:t>then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386332" y="3608815"/>
            <a:ext cx="1289685" cy="1830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27025">
              <a:lnSpc>
                <a:spcPct val="121700"/>
              </a:lnSpc>
              <a:spcBef>
                <a:spcPts val="100"/>
              </a:spcBef>
            </a:pPr>
            <a:r>
              <a:rPr dirty="0" sz="2400" spc="-20" b="1">
                <a:solidFill>
                  <a:srgbClr val="191B0E"/>
                </a:solidFill>
                <a:latin typeface="Times New Roman"/>
                <a:cs typeface="Times New Roman"/>
              </a:rPr>
              <a:t>print</a:t>
            </a:r>
            <a:r>
              <a:rPr dirty="0" sz="2400" spc="-9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50" b="1">
                <a:solidFill>
                  <a:srgbClr val="191B0E"/>
                </a:solidFill>
                <a:latin typeface="Times New Roman"/>
                <a:cs typeface="Times New Roman"/>
              </a:rPr>
              <a:t>A </a:t>
            </a:r>
            <a:r>
              <a:rPr dirty="0" sz="2400" spc="-20" b="1">
                <a:solidFill>
                  <a:srgbClr val="191B0E"/>
                </a:solidFill>
                <a:latin typeface="Times New Roman"/>
                <a:cs typeface="Times New Roman"/>
              </a:rPr>
              <a:t>else</a:t>
            </a:r>
            <a:endParaRPr sz="2400">
              <a:latin typeface="Times New Roman"/>
              <a:cs typeface="Times New Roman"/>
            </a:endParaRPr>
          </a:p>
          <a:p>
            <a:pPr marL="12700" marR="5080" indent="327025">
              <a:lnSpc>
                <a:spcPct val="125000"/>
              </a:lnSpc>
            </a:pP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print</a:t>
            </a:r>
            <a:r>
              <a:rPr dirty="0" sz="2400" spc="-6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50" b="1">
                <a:solidFill>
                  <a:srgbClr val="191B0E"/>
                </a:solidFill>
                <a:latin typeface="Times New Roman"/>
                <a:cs typeface="Times New Roman"/>
              </a:rPr>
              <a:t>B </a:t>
            </a:r>
            <a:r>
              <a:rPr dirty="0" sz="2400" spc="-10" b="1">
                <a:solidFill>
                  <a:srgbClr val="191B0E"/>
                </a:solidFill>
                <a:latin typeface="Times New Roman"/>
                <a:cs typeface="Times New Roman"/>
              </a:rPr>
              <a:t>endif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035145" y="3602544"/>
            <a:ext cx="1566545" cy="952500"/>
            <a:chOff x="6035145" y="3602544"/>
            <a:chExt cx="1566545" cy="952500"/>
          </a:xfrm>
        </p:grpSpPr>
        <p:sp>
          <p:nvSpPr>
            <p:cNvPr id="6" name="object 6" descr=""/>
            <p:cNvSpPr/>
            <p:nvPr/>
          </p:nvSpPr>
          <p:spPr>
            <a:xfrm>
              <a:off x="6039273" y="3606671"/>
              <a:ext cx="1558290" cy="944244"/>
            </a:xfrm>
            <a:custGeom>
              <a:avLst/>
              <a:gdLst/>
              <a:ahLst/>
              <a:cxnLst/>
              <a:rect l="l" t="t" r="r" b="b"/>
              <a:pathLst>
                <a:path w="1558290" h="944245">
                  <a:moveTo>
                    <a:pt x="779144" y="0"/>
                  </a:moveTo>
                  <a:lnTo>
                    <a:pt x="0" y="472080"/>
                  </a:lnTo>
                  <a:lnTo>
                    <a:pt x="779144" y="944161"/>
                  </a:lnTo>
                  <a:lnTo>
                    <a:pt x="1558289" y="472080"/>
                  </a:lnTo>
                  <a:lnTo>
                    <a:pt x="779144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039273" y="3606671"/>
              <a:ext cx="1558290" cy="944244"/>
            </a:xfrm>
            <a:custGeom>
              <a:avLst/>
              <a:gdLst/>
              <a:ahLst/>
              <a:cxnLst/>
              <a:rect l="l" t="t" r="r" b="b"/>
              <a:pathLst>
                <a:path w="1558290" h="944245">
                  <a:moveTo>
                    <a:pt x="0" y="472080"/>
                  </a:moveTo>
                  <a:lnTo>
                    <a:pt x="779144" y="0"/>
                  </a:lnTo>
                  <a:lnTo>
                    <a:pt x="1558289" y="472080"/>
                  </a:lnTo>
                  <a:lnTo>
                    <a:pt x="779144" y="944161"/>
                  </a:lnTo>
                  <a:lnTo>
                    <a:pt x="0" y="472080"/>
                  </a:lnTo>
                  <a:close/>
                </a:path>
              </a:pathLst>
            </a:custGeom>
            <a:ln w="81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637308" y="3870607"/>
            <a:ext cx="360045" cy="47815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 indent="100330">
              <a:lnSpc>
                <a:spcPct val="103400"/>
              </a:lnSpc>
              <a:spcBef>
                <a:spcPts val="60"/>
              </a:spcBef>
            </a:pPr>
            <a:r>
              <a:rPr dirty="0" sz="1450" spc="-25">
                <a:latin typeface="Franklin Gothic Medium"/>
                <a:cs typeface="Franklin Gothic Medium"/>
              </a:rPr>
              <a:t>is A&gt;B</a:t>
            </a:r>
            <a:endParaRPr sz="1450">
              <a:latin typeface="Franklin Gothic Medium"/>
              <a:cs typeface="Franklin Gothic Medium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5244797" y="4074624"/>
            <a:ext cx="3915410" cy="1188720"/>
            <a:chOff x="5244797" y="4074624"/>
            <a:chExt cx="3915410" cy="1188720"/>
          </a:xfrm>
        </p:grpSpPr>
        <p:sp>
          <p:nvSpPr>
            <p:cNvPr id="10" name="object 10" descr=""/>
            <p:cNvSpPr/>
            <p:nvPr/>
          </p:nvSpPr>
          <p:spPr>
            <a:xfrm>
              <a:off x="7597562" y="4078752"/>
              <a:ext cx="779145" cy="0"/>
            </a:xfrm>
            <a:custGeom>
              <a:avLst/>
              <a:gdLst/>
              <a:ahLst/>
              <a:cxnLst/>
              <a:rect l="l" t="t" r="r" b="b"/>
              <a:pathLst>
                <a:path w="779145" h="0">
                  <a:moveTo>
                    <a:pt x="0" y="0"/>
                  </a:moveTo>
                  <a:lnTo>
                    <a:pt x="779144" y="0"/>
                  </a:lnTo>
                </a:path>
              </a:pathLst>
            </a:custGeom>
            <a:ln w="81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344244" y="4078752"/>
              <a:ext cx="65405" cy="708660"/>
            </a:xfrm>
            <a:custGeom>
              <a:avLst/>
              <a:gdLst/>
              <a:ahLst/>
              <a:cxnLst/>
              <a:rect l="l" t="t" r="r" b="b"/>
              <a:pathLst>
                <a:path w="65404" h="708660">
                  <a:moveTo>
                    <a:pt x="28407" y="643210"/>
                  </a:moveTo>
                  <a:lnTo>
                    <a:pt x="0" y="643210"/>
                  </a:lnTo>
                  <a:lnTo>
                    <a:pt x="32465" y="708121"/>
                  </a:lnTo>
                  <a:lnTo>
                    <a:pt x="59518" y="654028"/>
                  </a:lnTo>
                  <a:lnTo>
                    <a:pt x="28407" y="654028"/>
                  </a:lnTo>
                  <a:lnTo>
                    <a:pt x="28407" y="643210"/>
                  </a:lnTo>
                  <a:close/>
                </a:path>
                <a:path w="65404" h="708660">
                  <a:moveTo>
                    <a:pt x="36522" y="0"/>
                  </a:moveTo>
                  <a:lnTo>
                    <a:pt x="28406" y="0"/>
                  </a:lnTo>
                  <a:lnTo>
                    <a:pt x="28407" y="654028"/>
                  </a:lnTo>
                  <a:lnTo>
                    <a:pt x="36522" y="654028"/>
                  </a:lnTo>
                  <a:lnTo>
                    <a:pt x="36522" y="0"/>
                  </a:lnTo>
                  <a:close/>
                </a:path>
                <a:path w="65404" h="708660">
                  <a:moveTo>
                    <a:pt x="64928" y="643210"/>
                  </a:moveTo>
                  <a:lnTo>
                    <a:pt x="36522" y="643210"/>
                  </a:lnTo>
                  <a:lnTo>
                    <a:pt x="36522" y="654028"/>
                  </a:lnTo>
                  <a:lnTo>
                    <a:pt x="59518" y="654028"/>
                  </a:lnTo>
                  <a:lnTo>
                    <a:pt x="64928" y="6432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277261" y="4078752"/>
              <a:ext cx="779145" cy="0"/>
            </a:xfrm>
            <a:custGeom>
              <a:avLst/>
              <a:gdLst/>
              <a:ahLst/>
              <a:cxnLst/>
              <a:rect l="l" t="t" r="r" b="b"/>
              <a:pathLst>
                <a:path w="779145" h="0">
                  <a:moveTo>
                    <a:pt x="0" y="0"/>
                  </a:moveTo>
                  <a:lnTo>
                    <a:pt x="779144" y="0"/>
                  </a:lnTo>
                </a:path>
              </a:pathLst>
            </a:custGeom>
            <a:ln w="81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244797" y="4078752"/>
              <a:ext cx="65405" cy="708660"/>
            </a:xfrm>
            <a:custGeom>
              <a:avLst/>
              <a:gdLst/>
              <a:ahLst/>
              <a:cxnLst/>
              <a:rect l="l" t="t" r="r" b="b"/>
              <a:pathLst>
                <a:path w="65404" h="708660">
                  <a:moveTo>
                    <a:pt x="28407" y="643210"/>
                  </a:moveTo>
                  <a:lnTo>
                    <a:pt x="0" y="643210"/>
                  </a:lnTo>
                  <a:lnTo>
                    <a:pt x="32465" y="708121"/>
                  </a:lnTo>
                  <a:lnTo>
                    <a:pt x="59518" y="654028"/>
                  </a:lnTo>
                  <a:lnTo>
                    <a:pt x="28407" y="654028"/>
                  </a:lnTo>
                  <a:lnTo>
                    <a:pt x="28407" y="643210"/>
                  </a:lnTo>
                  <a:close/>
                </a:path>
                <a:path w="65404" h="708660">
                  <a:moveTo>
                    <a:pt x="36522" y="0"/>
                  </a:moveTo>
                  <a:lnTo>
                    <a:pt x="28406" y="0"/>
                  </a:lnTo>
                  <a:lnTo>
                    <a:pt x="28407" y="654028"/>
                  </a:lnTo>
                  <a:lnTo>
                    <a:pt x="36522" y="654028"/>
                  </a:lnTo>
                  <a:lnTo>
                    <a:pt x="36522" y="0"/>
                  </a:lnTo>
                  <a:close/>
                </a:path>
                <a:path w="65404" h="708660">
                  <a:moveTo>
                    <a:pt x="64928" y="643210"/>
                  </a:moveTo>
                  <a:lnTo>
                    <a:pt x="36522" y="643210"/>
                  </a:lnTo>
                  <a:lnTo>
                    <a:pt x="36522" y="654028"/>
                  </a:lnTo>
                  <a:lnTo>
                    <a:pt x="59518" y="654028"/>
                  </a:lnTo>
                  <a:lnTo>
                    <a:pt x="64928" y="6432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597562" y="4786873"/>
              <a:ext cx="1558290" cy="472440"/>
            </a:xfrm>
            <a:custGeom>
              <a:avLst/>
              <a:gdLst/>
              <a:ahLst/>
              <a:cxnLst/>
              <a:rect l="l" t="t" r="r" b="b"/>
              <a:pathLst>
                <a:path w="1558290" h="472439">
                  <a:moveTo>
                    <a:pt x="1298575" y="0"/>
                  </a:moveTo>
                  <a:lnTo>
                    <a:pt x="259715" y="0"/>
                  </a:lnTo>
                  <a:lnTo>
                    <a:pt x="0" y="236039"/>
                  </a:lnTo>
                  <a:lnTo>
                    <a:pt x="259715" y="472080"/>
                  </a:lnTo>
                  <a:lnTo>
                    <a:pt x="1298575" y="472080"/>
                  </a:lnTo>
                  <a:lnTo>
                    <a:pt x="1350916" y="467285"/>
                  </a:lnTo>
                  <a:lnTo>
                    <a:pt x="1399667" y="453531"/>
                  </a:lnTo>
                  <a:lnTo>
                    <a:pt x="1443783" y="431768"/>
                  </a:lnTo>
                  <a:lnTo>
                    <a:pt x="1482221" y="402945"/>
                  </a:lnTo>
                  <a:lnTo>
                    <a:pt x="1513934" y="368012"/>
                  </a:lnTo>
                  <a:lnTo>
                    <a:pt x="1537880" y="327917"/>
                  </a:lnTo>
                  <a:lnTo>
                    <a:pt x="1553013" y="283610"/>
                  </a:lnTo>
                  <a:lnTo>
                    <a:pt x="1558290" y="236039"/>
                  </a:lnTo>
                  <a:lnTo>
                    <a:pt x="1553013" y="188469"/>
                  </a:lnTo>
                  <a:lnTo>
                    <a:pt x="1537880" y="144162"/>
                  </a:lnTo>
                  <a:lnTo>
                    <a:pt x="1513934" y="104067"/>
                  </a:lnTo>
                  <a:lnTo>
                    <a:pt x="1482221" y="69134"/>
                  </a:lnTo>
                  <a:lnTo>
                    <a:pt x="1443783" y="40312"/>
                  </a:lnTo>
                  <a:lnTo>
                    <a:pt x="1399667" y="18549"/>
                  </a:lnTo>
                  <a:lnTo>
                    <a:pt x="1350916" y="4795"/>
                  </a:lnTo>
                  <a:lnTo>
                    <a:pt x="1298575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597562" y="4786873"/>
              <a:ext cx="1558290" cy="472440"/>
            </a:xfrm>
            <a:custGeom>
              <a:avLst/>
              <a:gdLst/>
              <a:ahLst/>
              <a:cxnLst/>
              <a:rect l="l" t="t" r="r" b="b"/>
              <a:pathLst>
                <a:path w="1558290" h="472439">
                  <a:moveTo>
                    <a:pt x="0" y="236040"/>
                  </a:moveTo>
                  <a:lnTo>
                    <a:pt x="259714" y="0"/>
                  </a:lnTo>
                  <a:lnTo>
                    <a:pt x="1298574" y="0"/>
                  </a:lnTo>
                  <a:lnTo>
                    <a:pt x="1350916" y="4795"/>
                  </a:lnTo>
                  <a:lnTo>
                    <a:pt x="1399667" y="18549"/>
                  </a:lnTo>
                  <a:lnTo>
                    <a:pt x="1443783" y="40312"/>
                  </a:lnTo>
                  <a:lnTo>
                    <a:pt x="1482220" y="69134"/>
                  </a:lnTo>
                  <a:lnTo>
                    <a:pt x="1513934" y="104068"/>
                  </a:lnTo>
                  <a:lnTo>
                    <a:pt x="1537880" y="144162"/>
                  </a:lnTo>
                  <a:lnTo>
                    <a:pt x="1553013" y="188470"/>
                  </a:lnTo>
                  <a:lnTo>
                    <a:pt x="1558289" y="236040"/>
                  </a:lnTo>
                  <a:lnTo>
                    <a:pt x="1553013" y="283610"/>
                  </a:lnTo>
                  <a:lnTo>
                    <a:pt x="1537880" y="327918"/>
                  </a:lnTo>
                  <a:lnTo>
                    <a:pt x="1513934" y="368012"/>
                  </a:lnTo>
                  <a:lnTo>
                    <a:pt x="1482220" y="402946"/>
                  </a:lnTo>
                  <a:lnTo>
                    <a:pt x="1443783" y="431768"/>
                  </a:lnTo>
                  <a:lnTo>
                    <a:pt x="1399667" y="453531"/>
                  </a:lnTo>
                  <a:lnTo>
                    <a:pt x="1350916" y="467285"/>
                  </a:lnTo>
                  <a:lnTo>
                    <a:pt x="1298574" y="472080"/>
                  </a:lnTo>
                  <a:lnTo>
                    <a:pt x="259714" y="472080"/>
                  </a:lnTo>
                  <a:lnTo>
                    <a:pt x="0" y="236040"/>
                  </a:lnTo>
                  <a:close/>
                </a:path>
              </a:pathLst>
            </a:custGeom>
            <a:ln w="81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8088736" y="4815487"/>
            <a:ext cx="574040" cy="24955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>
                <a:latin typeface="Franklin Gothic Medium"/>
                <a:cs typeface="Franklin Gothic Medium"/>
              </a:rPr>
              <a:t>Print</a:t>
            </a:r>
            <a:r>
              <a:rPr dirty="0" sz="1450" spc="75">
                <a:latin typeface="Franklin Gothic Medium"/>
                <a:cs typeface="Franklin Gothic Medium"/>
              </a:rPr>
              <a:t> </a:t>
            </a:r>
            <a:r>
              <a:rPr dirty="0" sz="1450" spc="-50">
                <a:latin typeface="Franklin Gothic Medium"/>
                <a:cs typeface="Franklin Gothic Medium"/>
              </a:rPr>
              <a:t>B</a:t>
            </a:r>
            <a:endParaRPr sz="1450">
              <a:latin typeface="Franklin Gothic Medium"/>
              <a:cs typeface="Franklin Gothic Medium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4476855" y="4776189"/>
            <a:ext cx="1566545" cy="480695"/>
            <a:chOff x="4476855" y="4776189"/>
            <a:chExt cx="1566545" cy="480695"/>
          </a:xfrm>
        </p:grpSpPr>
        <p:sp>
          <p:nvSpPr>
            <p:cNvPr id="18" name="object 18" descr=""/>
            <p:cNvSpPr/>
            <p:nvPr/>
          </p:nvSpPr>
          <p:spPr>
            <a:xfrm>
              <a:off x="4480982" y="4780316"/>
              <a:ext cx="1558290" cy="472440"/>
            </a:xfrm>
            <a:custGeom>
              <a:avLst/>
              <a:gdLst/>
              <a:ahLst/>
              <a:cxnLst/>
              <a:rect l="l" t="t" r="r" b="b"/>
              <a:pathLst>
                <a:path w="1558289" h="472439">
                  <a:moveTo>
                    <a:pt x="1298575" y="0"/>
                  </a:moveTo>
                  <a:lnTo>
                    <a:pt x="259714" y="0"/>
                  </a:lnTo>
                  <a:lnTo>
                    <a:pt x="0" y="236040"/>
                  </a:lnTo>
                  <a:lnTo>
                    <a:pt x="259714" y="472080"/>
                  </a:lnTo>
                  <a:lnTo>
                    <a:pt x="1298575" y="472080"/>
                  </a:lnTo>
                  <a:lnTo>
                    <a:pt x="1350916" y="467285"/>
                  </a:lnTo>
                  <a:lnTo>
                    <a:pt x="1399667" y="453531"/>
                  </a:lnTo>
                  <a:lnTo>
                    <a:pt x="1443783" y="431768"/>
                  </a:lnTo>
                  <a:lnTo>
                    <a:pt x="1482221" y="402946"/>
                  </a:lnTo>
                  <a:lnTo>
                    <a:pt x="1513934" y="368013"/>
                  </a:lnTo>
                  <a:lnTo>
                    <a:pt x="1537880" y="327918"/>
                  </a:lnTo>
                  <a:lnTo>
                    <a:pt x="1553013" y="283611"/>
                  </a:lnTo>
                  <a:lnTo>
                    <a:pt x="1558289" y="236040"/>
                  </a:lnTo>
                  <a:lnTo>
                    <a:pt x="1553013" y="188470"/>
                  </a:lnTo>
                  <a:lnTo>
                    <a:pt x="1537880" y="144163"/>
                  </a:lnTo>
                  <a:lnTo>
                    <a:pt x="1513934" y="104068"/>
                  </a:lnTo>
                  <a:lnTo>
                    <a:pt x="1482221" y="69134"/>
                  </a:lnTo>
                  <a:lnTo>
                    <a:pt x="1443783" y="40312"/>
                  </a:lnTo>
                  <a:lnTo>
                    <a:pt x="1399667" y="18549"/>
                  </a:lnTo>
                  <a:lnTo>
                    <a:pt x="1350916" y="4795"/>
                  </a:lnTo>
                  <a:lnTo>
                    <a:pt x="1298575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480982" y="4780316"/>
              <a:ext cx="1558290" cy="472440"/>
            </a:xfrm>
            <a:custGeom>
              <a:avLst/>
              <a:gdLst/>
              <a:ahLst/>
              <a:cxnLst/>
              <a:rect l="l" t="t" r="r" b="b"/>
              <a:pathLst>
                <a:path w="1558289" h="472439">
                  <a:moveTo>
                    <a:pt x="0" y="236040"/>
                  </a:moveTo>
                  <a:lnTo>
                    <a:pt x="259714" y="0"/>
                  </a:lnTo>
                  <a:lnTo>
                    <a:pt x="1298574" y="0"/>
                  </a:lnTo>
                  <a:lnTo>
                    <a:pt x="1350916" y="4795"/>
                  </a:lnTo>
                  <a:lnTo>
                    <a:pt x="1399667" y="18549"/>
                  </a:lnTo>
                  <a:lnTo>
                    <a:pt x="1443783" y="40312"/>
                  </a:lnTo>
                  <a:lnTo>
                    <a:pt x="1482220" y="69134"/>
                  </a:lnTo>
                  <a:lnTo>
                    <a:pt x="1513934" y="104068"/>
                  </a:lnTo>
                  <a:lnTo>
                    <a:pt x="1537880" y="144162"/>
                  </a:lnTo>
                  <a:lnTo>
                    <a:pt x="1553013" y="188470"/>
                  </a:lnTo>
                  <a:lnTo>
                    <a:pt x="1558289" y="236040"/>
                  </a:lnTo>
                  <a:lnTo>
                    <a:pt x="1553013" y="283610"/>
                  </a:lnTo>
                  <a:lnTo>
                    <a:pt x="1537880" y="327918"/>
                  </a:lnTo>
                  <a:lnTo>
                    <a:pt x="1513934" y="368012"/>
                  </a:lnTo>
                  <a:lnTo>
                    <a:pt x="1482220" y="402946"/>
                  </a:lnTo>
                  <a:lnTo>
                    <a:pt x="1443783" y="431768"/>
                  </a:lnTo>
                  <a:lnTo>
                    <a:pt x="1399667" y="453531"/>
                  </a:lnTo>
                  <a:lnTo>
                    <a:pt x="1350916" y="467285"/>
                  </a:lnTo>
                  <a:lnTo>
                    <a:pt x="1298574" y="472080"/>
                  </a:lnTo>
                  <a:lnTo>
                    <a:pt x="259714" y="472080"/>
                  </a:lnTo>
                  <a:lnTo>
                    <a:pt x="0" y="236040"/>
                  </a:lnTo>
                  <a:close/>
                </a:path>
              </a:pathLst>
            </a:custGeom>
            <a:ln w="81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4978920" y="4806343"/>
            <a:ext cx="560705" cy="24955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>
                <a:latin typeface="Franklin Gothic Medium"/>
                <a:cs typeface="Franklin Gothic Medium"/>
              </a:rPr>
              <a:t>Print</a:t>
            </a:r>
            <a:r>
              <a:rPr dirty="0" sz="1450" spc="75">
                <a:latin typeface="Franklin Gothic Medium"/>
                <a:cs typeface="Franklin Gothic Medium"/>
              </a:rPr>
              <a:t> </a:t>
            </a:r>
            <a:r>
              <a:rPr dirty="0" sz="1450" spc="-50">
                <a:latin typeface="Franklin Gothic Medium"/>
                <a:cs typeface="Franklin Gothic Medium"/>
              </a:rPr>
              <a:t>A</a:t>
            </a:r>
            <a:endParaRPr sz="1450">
              <a:latin typeface="Franklin Gothic Medium"/>
              <a:cs typeface="Franklin Gothic Medium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5256069" y="3252611"/>
            <a:ext cx="3124835" cy="2596515"/>
            <a:chOff x="5256069" y="3252611"/>
            <a:chExt cx="3124835" cy="2596515"/>
          </a:xfrm>
        </p:grpSpPr>
        <p:sp>
          <p:nvSpPr>
            <p:cNvPr id="22" name="object 22" descr=""/>
            <p:cNvSpPr/>
            <p:nvPr/>
          </p:nvSpPr>
          <p:spPr>
            <a:xfrm>
              <a:off x="6785954" y="3252611"/>
              <a:ext cx="65405" cy="354330"/>
            </a:xfrm>
            <a:custGeom>
              <a:avLst/>
              <a:gdLst/>
              <a:ahLst/>
              <a:cxnLst/>
              <a:rect l="l" t="t" r="r" b="b"/>
              <a:pathLst>
                <a:path w="65404" h="354329">
                  <a:moveTo>
                    <a:pt x="28407" y="289149"/>
                  </a:moveTo>
                  <a:lnTo>
                    <a:pt x="0" y="289149"/>
                  </a:lnTo>
                  <a:lnTo>
                    <a:pt x="32465" y="354060"/>
                  </a:lnTo>
                  <a:lnTo>
                    <a:pt x="59518" y="299967"/>
                  </a:lnTo>
                  <a:lnTo>
                    <a:pt x="28407" y="299967"/>
                  </a:lnTo>
                  <a:lnTo>
                    <a:pt x="28407" y="289149"/>
                  </a:lnTo>
                  <a:close/>
                </a:path>
                <a:path w="65404" h="354329">
                  <a:moveTo>
                    <a:pt x="36522" y="0"/>
                  </a:moveTo>
                  <a:lnTo>
                    <a:pt x="28406" y="0"/>
                  </a:lnTo>
                  <a:lnTo>
                    <a:pt x="28407" y="299967"/>
                  </a:lnTo>
                  <a:lnTo>
                    <a:pt x="36522" y="299967"/>
                  </a:lnTo>
                  <a:lnTo>
                    <a:pt x="36522" y="0"/>
                  </a:lnTo>
                  <a:close/>
                </a:path>
                <a:path w="65404" h="354329">
                  <a:moveTo>
                    <a:pt x="64928" y="289149"/>
                  </a:moveTo>
                  <a:lnTo>
                    <a:pt x="36522" y="289149"/>
                  </a:lnTo>
                  <a:lnTo>
                    <a:pt x="36522" y="299967"/>
                  </a:lnTo>
                  <a:lnTo>
                    <a:pt x="59518" y="299967"/>
                  </a:lnTo>
                  <a:lnTo>
                    <a:pt x="64928" y="2891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260127" y="5258954"/>
              <a:ext cx="0" cy="236220"/>
            </a:xfrm>
            <a:custGeom>
              <a:avLst/>
              <a:gdLst/>
              <a:ahLst/>
              <a:cxnLst/>
              <a:rect l="l" t="t" r="r" b="b"/>
              <a:pathLst>
                <a:path w="0" h="236220">
                  <a:moveTo>
                    <a:pt x="0" y="0"/>
                  </a:moveTo>
                  <a:lnTo>
                    <a:pt x="0" y="236040"/>
                  </a:lnTo>
                </a:path>
              </a:pathLst>
            </a:custGeom>
            <a:ln w="81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260127" y="5494995"/>
              <a:ext cx="3116580" cy="0"/>
            </a:xfrm>
            <a:custGeom>
              <a:avLst/>
              <a:gdLst/>
              <a:ahLst/>
              <a:cxnLst/>
              <a:rect l="l" t="t" r="r" b="b"/>
              <a:pathLst>
                <a:path w="3116579" h="0">
                  <a:moveTo>
                    <a:pt x="0" y="0"/>
                  </a:moveTo>
                  <a:lnTo>
                    <a:pt x="3116579" y="0"/>
                  </a:lnTo>
                </a:path>
              </a:pathLst>
            </a:custGeom>
            <a:ln w="81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8376707" y="5258954"/>
              <a:ext cx="0" cy="236220"/>
            </a:xfrm>
            <a:custGeom>
              <a:avLst/>
              <a:gdLst/>
              <a:ahLst/>
              <a:cxnLst/>
              <a:rect l="l" t="t" r="r" b="b"/>
              <a:pathLst>
                <a:path w="0" h="236220">
                  <a:moveTo>
                    <a:pt x="0" y="236040"/>
                  </a:moveTo>
                  <a:lnTo>
                    <a:pt x="0" y="0"/>
                  </a:lnTo>
                </a:path>
              </a:pathLst>
            </a:custGeom>
            <a:ln w="81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656096" y="5494995"/>
              <a:ext cx="65405" cy="354330"/>
            </a:xfrm>
            <a:custGeom>
              <a:avLst/>
              <a:gdLst/>
              <a:ahLst/>
              <a:cxnLst/>
              <a:rect l="l" t="t" r="r" b="b"/>
              <a:pathLst>
                <a:path w="65404" h="354329">
                  <a:moveTo>
                    <a:pt x="28406" y="289148"/>
                  </a:moveTo>
                  <a:lnTo>
                    <a:pt x="0" y="289148"/>
                  </a:lnTo>
                  <a:lnTo>
                    <a:pt x="32465" y="354060"/>
                  </a:lnTo>
                  <a:lnTo>
                    <a:pt x="59517" y="299967"/>
                  </a:lnTo>
                  <a:lnTo>
                    <a:pt x="28406" y="299967"/>
                  </a:lnTo>
                  <a:lnTo>
                    <a:pt x="28406" y="289148"/>
                  </a:lnTo>
                  <a:close/>
                </a:path>
                <a:path w="65404" h="354329">
                  <a:moveTo>
                    <a:pt x="36521" y="0"/>
                  </a:moveTo>
                  <a:lnTo>
                    <a:pt x="28406" y="0"/>
                  </a:lnTo>
                  <a:lnTo>
                    <a:pt x="28406" y="299967"/>
                  </a:lnTo>
                  <a:lnTo>
                    <a:pt x="36522" y="299967"/>
                  </a:lnTo>
                  <a:lnTo>
                    <a:pt x="36521" y="0"/>
                  </a:lnTo>
                  <a:close/>
                </a:path>
                <a:path w="65404" h="354329">
                  <a:moveTo>
                    <a:pt x="64928" y="289148"/>
                  </a:moveTo>
                  <a:lnTo>
                    <a:pt x="36522" y="289148"/>
                  </a:lnTo>
                  <a:lnTo>
                    <a:pt x="36522" y="299967"/>
                  </a:lnTo>
                  <a:lnTo>
                    <a:pt x="59517" y="299967"/>
                  </a:lnTo>
                  <a:lnTo>
                    <a:pt x="64928" y="2891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5130270" y="3724691"/>
            <a:ext cx="779145" cy="354330"/>
          </a:xfrm>
          <a:prstGeom prst="rect">
            <a:avLst/>
          </a:prstGeom>
          <a:solidFill>
            <a:srgbClr val="CCFFFF"/>
          </a:solidFill>
        </p:spPr>
        <p:txBody>
          <a:bodyPr wrap="square" lIns="0" tIns="419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30"/>
              </a:spcBef>
            </a:pPr>
            <a:r>
              <a:rPr dirty="0" sz="1450" spc="-50">
                <a:latin typeface="Franklin Gothic Medium"/>
                <a:cs typeface="Franklin Gothic Medium"/>
              </a:rPr>
              <a:t>Y</a:t>
            </a:r>
            <a:endParaRPr sz="1450">
              <a:latin typeface="Franklin Gothic Medium"/>
              <a:cs typeface="Franklin Gothic Medium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7987135" y="3724691"/>
            <a:ext cx="779145" cy="354330"/>
          </a:xfrm>
          <a:prstGeom prst="rect">
            <a:avLst/>
          </a:prstGeom>
          <a:solidFill>
            <a:srgbClr val="CCFFFF"/>
          </a:solidFill>
        </p:spPr>
        <p:txBody>
          <a:bodyPr wrap="square" lIns="0" tIns="419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30"/>
              </a:spcBef>
            </a:pPr>
            <a:r>
              <a:rPr dirty="0" sz="1450" spc="-50">
                <a:latin typeface="Franklin Gothic Medium"/>
                <a:cs typeface="Franklin Gothic Medium"/>
              </a:rPr>
              <a:t>N</a:t>
            </a:r>
            <a:endParaRPr sz="145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794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Relational</a:t>
            </a:r>
            <a:r>
              <a:rPr dirty="0" spc="165"/>
              <a:t> </a:t>
            </a:r>
            <a:r>
              <a:rPr dirty="0" spc="-10"/>
              <a:t>Operators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666419" y="2680582"/>
          <a:ext cx="9437370" cy="3098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05835"/>
                <a:gridCol w="5843270"/>
              </a:tblGrid>
              <a:tr h="389255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00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Relational</a:t>
                      </a:r>
                      <a:r>
                        <a:rPr dirty="0" sz="2000" spc="165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Operators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4132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dirty="0" sz="2400" spc="-1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Operator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93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dirty="0" sz="2400" spc="-1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Description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93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700" spc="-5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&gt;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03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70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Greater</a:t>
                      </a:r>
                      <a:r>
                        <a:rPr dirty="0" sz="1700" spc="-7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2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than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03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3797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700" spc="-5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&lt;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70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Less</a:t>
                      </a:r>
                      <a:r>
                        <a:rPr dirty="0" sz="1700" spc="-2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 than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dirty="0" sz="1700" spc="-5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66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dirty="0" sz="170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Equal</a:t>
                      </a:r>
                      <a:r>
                        <a:rPr dirty="0" sz="1700" spc="-4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25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66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650" spc="-50">
                          <a:solidFill>
                            <a:srgbClr val="000080"/>
                          </a:solidFill>
                          <a:latin typeface="Symbol"/>
                          <a:cs typeface="Symbol"/>
                        </a:rPr>
                        <a:t></a:t>
                      </a:r>
                      <a:endParaRPr sz="1650">
                        <a:latin typeface="Symbol"/>
                        <a:cs typeface="Symbol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70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Greater</a:t>
                      </a:r>
                      <a:r>
                        <a:rPr dirty="0" sz="1700" spc="-55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dirty="0" sz="1700" spc="-25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700" spc="-5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equal</a:t>
                      </a:r>
                      <a:r>
                        <a:rPr dirty="0" sz="1700" spc="-3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25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03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3797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50" spc="-50">
                          <a:solidFill>
                            <a:srgbClr val="000080"/>
                          </a:solidFill>
                          <a:latin typeface="Symbol"/>
                          <a:cs typeface="Symbol"/>
                        </a:rPr>
                        <a:t></a:t>
                      </a:r>
                      <a:endParaRPr sz="1650">
                        <a:latin typeface="Symbol"/>
                        <a:cs typeface="Symbol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170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Less</a:t>
                      </a:r>
                      <a:r>
                        <a:rPr dirty="0" sz="1700" spc="-25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dirty="0" sz="1700" spc="-15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700" spc="-45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equal</a:t>
                      </a:r>
                      <a:r>
                        <a:rPr dirty="0" sz="1700" spc="-2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25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6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50" spc="-50">
                          <a:solidFill>
                            <a:srgbClr val="000080"/>
                          </a:solidFill>
                          <a:latin typeface="Symbol"/>
                          <a:cs typeface="Symbol"/>
                        </a:rPr>
                        <a:t></a:t>
                      </a:r>
                      <a:endParaRPr sz="1650">
                        <a:latin typeface="Symbol"/>
                        <a:cs typeface="Symbol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70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dirty="0" sz="1700" spc="-15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equal</a:t>
                      </a:r>
                      <a:r>
                        <a:rPr dirty="0" sz="1700" spc="-15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25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7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33019" rIns="0" bIns="0" rtlCol="0" vert="horz">
            <a:spAutoFit/>
          </a:bodyPr>
          <a:lstStyle/>
          <a:p>
            <a:pPr marL="6616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130"/>
              <a:t> </a:t>
            </a:r>
            <a:r>
              <a:rPr dirty="0" spc="-50"/>
              <a:t>5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41633" y="2212931"/>
            <a:ext cx="8797925" cy="110490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339725" marR="5080" indent="-327660">
              <a:lnSpc>
                <a:spcPct val="80000"/>
              </a:lnSpc>
              <a:spcBef>
                <a:spcPts val="675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Write</a:t>
            </a:r>
            <a:r>
              <a:rPr dirty="0" sz="2400" spc="-8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an</a:t>
            </a:r>
            <a:r>
              <a:rPr dirty="0" sz="2400" spc="-8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algorithm</a:t>
            </a:r>
            <a:r>
              <a:rPr dirty="0" sz="2400" spc="-9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that</a:t>
            </a:r>
            <a:r>
              <a:rPr dirty="0" sz="2400" spc="-7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reads</a:t>
            </a:r>
            <a:r>
              <a:rPr dirty="0" sz="2400" spc="-8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two</a:t>
            </a:r>
            <a:r>
              <a:rPr dirty="0" sz="2400" spc="-8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values,</a:t>
            </a:r>
            <a:r>
              <a:rPr dirty="0" sz="2400" spc="-7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determines</a:t>
            </a:r>
            <a:r>
              <a:rPr dirty="0" sz="2400" spc="-8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the</a:t>
            </a:r>
            <a:r>
              <a:rPr dirty="0" sz="2400" spc="-8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largest</a:t>
            </a:r>
            <a:r>
              <a:rPr dirty="0" sz="2400" spc="-8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value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and</a:t>
            </a:r>
            <a:r>
              <a:rPr dirty="0" sz="2400" spc="-7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prints</a:t>
            </a:r>
            <a:r>
              <a:rPr dirty="0" sz="2400" spc="-7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the</a:t>
            </a:r>
            <a:r>
              <a:rPr dirty="0" sz="2400" spc="-7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largest</a:t>
            </a:r>
            <a:r>
              <a:rPr dirty="0" sz="24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value</a:t>
            </a:r>
            <a:r>
              <a:rPr dirty="0" sz="2400" spc="-7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with</a:t>
            </a:r>
            <a:r>
              <a:rPr dirty="0" sz="2400" spc="-7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an</a:t>
            </a:r>
            <a:r>
              <a:rPr dirty="0" sz="2400" spc="-7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identifying</a:t>
            </a:r>
            <a:r>
              <a:rPr dirty="0" sz="2400" spc="-7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message.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2400" spc="-10" b="1">
                <a:solidFill>
                  <a:srgbClr val="191B0E"/>
                </a:solidFill>
                <a:latin typeface="Times New Roman"/>
                <a:cs typeface="Times New Roman"/>
              </a:rPr>
              <a:t>ALGORITHM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241633" y="3288775"/>
            <a:ext cx="876300" cy="86677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Step</a:t>
            </a:r>
            <a:r>
              <a:rPr dirty="0" sz="2400" spc="-4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191B0E"/>
                </a:solidFill>
                <a:latin typeface="Times New Roman"/>
                <a:cs typeface="Times New Roman"/>
              </a:rPr>
              <a:t>1: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Step</a:t>
            </a:r>
            <a:r>
              <a:rPr dirty="0" sz="2400" spc="-4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191B0E"/>
                </a:solidFill>
                <a:latin typeface="Times New Roman"/>
                <a:cs typeface="Times New Roman"/>
              </a:rPr>
              <a:t>2: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241633" y="5858338"/>
            <a:ext cx="8763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Step</a:t>
            </a:r>
            <a:r>
              <a:rPr dirty="0" sz="2400" spc="-4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191B0E"/>
                </a:solidFill>
                <a:latin typeface="Times New Roman"/>
                <a:cs typeface="Times New Roman"/>
              </a:rPr>
              <a:t>3: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799923" y="3288775"/>
            <a:ext cx="4175125" cy="296100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Input</a:t>
            </a:r>
            <a:r>
              <a:rPr dirty="0" sz="2400" spc="-10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55">
                <a:solidFill>
                  <a:srgbClr val="191B0E"/>
                </a:solidFill>
                <a:latin typeface="Times New Roman"/>
                <a:cs typeface="Times New Roman"/>
              </a:rPr>
              <a:t>VALUE1,</a:t>
            </a:r>
            <a:r>
              <a:rPr dirty="0" sz="2400" spc="-9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VALUE2</a:t>
            </a:r>
            <a:endParaRPr sz="2400">
              <a:latin typeface="Times New Roman"/>
              <a:cs typeface="Times New Roman"/>
            </a:endParaRPr>
          </a:p>
          <a:p>
            <a:pPr marL="791210" marR="494030" indent="-779145">
              <a:lnSpc>
                <a:spcPct val="114199"/>
              </a:lnSpc>
              <a:spcBef>
                <a:spcPts val="25"/>
              </a:spcBef>
            </a:pP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if</a:t>
            </a:r>
            <a:r>
              <a:rPr dirty="0" sz="2400" spc="-45">
                <a:solidFill>
                  <a:srgbClr val="191B0E"/>
                </a:solidFill>
                <a:latin typeface="Times New Roman"/>
                <a:cs typeface="Times New Roman"/>
              </a:rPr>
              <a:t> (VALUE1</a:t>
            </a:r>
            <a:r>
              <a:rPr dirty="0" sz="2400" spc="-5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&gt;</a:t>
            </a:r>
            <a:r>
              <a:rPr dirty="0" sz="2400" spc="-9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55">
                <a:solidFill>
                  <a:srgbClr val="191B0E"/>
                </a:solidFill>
                <a:latin typeface="Times New Roman"/>
                <a:cs typeface="Times New Roman"/>
              </a:rPr>
              <a:t>VALUE2) </a:t>
            </a:r>
            <a:r>
              <a:rPr dirty="0" sz="2400" spc="-20">
                <a:solidFill>
                  <a:srgbClr val="191B0E"/>
                </a:solidFill>
                <a:latin typeface="Times New Roman"/>
                <a:cs typeface="Times New Roman"/>
              </a:rPr>
              <a:t>then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MAX</a:t>
            </a:r>
            <a:r>
              <a:rPr dirty="0" sz="2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Symbol"/>
                <a:cs typeface="Symbol"/>
              </a:rPr>
              <a:t></a:t>
            </a:r>
            <a:r>
              <a:rPr dirty="0" sz="2400" spc="-10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VALUE1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2400" spc="-20">
                <a:solidFill>
                  <a:srgbClr val="191B0E"/>
                </a:solidFill>
                <a:latin typeface="Times New Roman"/>
                <a:cs typeface="Times New Roman"/>
              </a:rPr>
              <a:t>else</a:t>
            </a:r>
            <a:endParaRPr sz="2400">
              <a:latin typeface="Times New Roman"/>
              <a:cs typeface="Times New Roman"/>
            </a:endParaRPr>
          </a:p>
          <a:p>
            <a:pPr marL="791210">
              <a:lnSpc>
                <a:spcPct val="100000"/>
              </a:lnSpc>
              <a:spcBef>
                <a:spcPts val="434"/>
              </a:spcBef>
            </a:pP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MAX</a:t>
            </a:r>
            <a:r>
              <a:rPr dirty="0" sz="2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Symbol"/>
                <a:cs typeface="Symbol"/>
              </a:rPr>
              <a:t></a:t>
            </a:r>
            <a:r>
              <a:rPr dirty="0" sz="2400" spc="-10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VALUE2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endif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Print</a:t>
            </a:r>
            <a:r>
              <a:rPr dirty="0" sz="24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“The</a:t>
            </a:r>
            <a:r>
              <a:rPr dirty="0" sz="2400" spc="-7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largest</a:t>
            </a:r>
            <a:r>
              <a:rPr dirty="0" sz="24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value</a:t>
            </a:r>
            <a:r>
              <a:rPr dirty="0" sz="2400" spc="-7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is”,</a:t>
            </a:r>
            <a:r>
              <a:rPr dirty="0" sz="24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191B0E"/>
                </a:solidFill>
                <a:latin typeface="Times New Roman"/>
                <a:cs typeface="Times New Roman"/>
              </a:rPr>
              <a:t>MAX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33019" rIns="0" bIns="0" rtlCol="0" vert="horz">
            <a:spAutoFit/>
          </a:bodyPr>
          <a:lstStyle/>
          <a:p>
            <a:pPr marL="6616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130"/>
              <a:t> </a:t>
            </a:r>
            <a:r>
              <a:rPr dirty="0" spc="-50"/>
              <a:t>5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3201727" y="5343218"/>
            <a:ext cx="4257675" cy="584835"/>
            <a:chOff x="3201727" y="5343218"/>
            <a:chExt cx="4257675" cy="584835"/>
          </a:xfrm>
        </p:grpSpPr>
        <p:sp>
          <p:nvSpPr>
            <p:cNvPr id="4" name="object 4" descr=""/>
            <p:cNvSpPr/>
            <p:nvPr/>
          </p:nvSpPr>
          <p:spPr>
            <a:xfrm>
              <a:off x="3205854" y="5347346"/>
              <a:ext cx="4249420" cy="576580"/>
            </a:xfrm>
            <a:custGeom>
              <a:avLst/>
              <a:gdLst/>
              <a:ahLst/>
              <a:cxnLst/>
              <a:rect l="l" t="t" r="r" b="b"/>
              <a:pathLst>
                <a:path w="4249420" h="576579">
                  <a:moveTo>
                    <a:pt x="3541021" y="0"/>
                  </a:moveTo>
                  <a:lnTo>
                    <a:pt x="708205" y="0"/>
                  </a:lnTo>
                  <a:lnTo>
                    <a:pt x="0" y="288043"/>
                  </a:lnTo>
                  <a:lnTo>
                    <a:pt x="708205" y="576085"/>
                  </a:lnTo>
                  <a:lnTo>
                    <a:pt x="3541021" y="576085"/>
                  </a:lnTo>
                  <a:lnTo>
                    <a:pt x="3605482" y="574908"/>
                  </a:lnTo>
                  <a:lnTo>
                    <a:pt x="3668322" y="571445"/>
                  </a:lnTo>
                  <a:lnTo>
                    <a:pt x="3729290" y="565796"/>
                  </a:lnTo>
                  <a:lnTo>
                    <a:pt x="3788137" y="558065"/>
                  </a:lnTo>
                  <a:lnTo>
                    <a:pt x="3844612" y="548352"/>
                  </a:lnTo>
                  <a:lnTo>
                    <a:pt x="3898465" y="536759"/>
                  </a:lnTo>
                  <a:lnTo>
                    <a:pt x="3949448" y="523389"/>
                  </a:lnTo>
                  <a:lnTo>
                    <a:pt x="3997308" y="508342"/>
                  </a:lnTo>
                  <a:lnTo>
                    <a:pt x="4041797" y="491720"/>
                  </a:lnTo>
                  <a:lnTo>
                    <a:pt x="4082665" y="473625"/>
                  </a:lnTo>
                  <a:lnTo>
                    <a:pt x="4119660" y="454159"/>
                  </a:lnTo>
                  <a:lnTo>
                    <a:pt x="4152535" y="433424"/>
                  </a:lnTo>
                  <a:lnTo>
                    <a:pt x="4204918" y="388550"/>
                  </a:lnTo>
                  <a:lnTo>
                    <a:pt x="4237815" y="339819"/>
                  </a:lnTo>
                  <a:lnTo>
                    <a:pt x="4249225" y="288043"/>
                  </a:lnTo>
                  <a:lnTo>
                    <a:pt x="4246331" y="261825"/>
                  </a:lnTo>
                  <a:lnTo>
                    <a:pt x="4223927" y="211470"/>
                  </a:lnTo>
                  <a:lnTo>
                    <a:pt x="4181037" y="164566"/>
                  </a:lnTo>
                  <a:lnTo>
                    <a:pt x="4119660" y="121927"/>
                  </a:lnTo>
                  <a:lnTo>
                    <a:pt x="4082665" y="102461"/>
                  </a:lnTo>
                  <a:lnTo>
                    <a:pt x="4041797" y="84366"/>
                  </a:lnTo>
                  <a:lnTo>
                    <a:pt x="3997308" y="67744"/>
                  </a:lnTo>
                  <a:lnTo>
                    <a:pt x="3949448" y="52697"/>
                  </a:lnTo>
                  <a:lnTo>
                    <a:pt x="3898465" y="39326"/>
                  </a:lnTo>
                  <a:lnTo>
                    <a:pt x="3844612" y="27733"/>
                  </a:lnTo>
                  <a:lnTo>
                    <a:pt x="3788137" y="18020"/>
                  </a:lnTo>
                  <a:lnTo>
                    <a:pt x="3729290" y="10289"/>
                  </a:lnTo>
                  <a:lnTo>
                    <a:pt x="3668322" y="4640"/>
                  </a:lnTo>
                  <a:lnTo>
                    <a:pt x="3605482" y="1177"/>
                  </a:lnTo>
                  <a:lnTo>
                    <a:pt x="3541021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205854" y="5347346"/>
              <a:ext cx="4249420" cy="576580"/>
            </a:xfrm>
            <a:custGeom>
              <a:avLst/>
              <a:gdLst/>
              <a:ahLst/>
              <a:cxnLst/>
              <a:rect l="l" t="t" r="r" b="b"/>
              <a:pathLst>
                <a:path w="4249420" h="576579">
                  <a:moveTo>
                    <a:pt x="0" y="288043"/>
                  </a:moveTo>
                  <a:lnTo>
                    <a:pt x="708204" y="0"/>
                  </a:lnTo>
                  <a:lnTo>
                    <a:pt x="3541021" y="0"/>
                  </a:lnTo>
                  <a:lnTo>
                    <a:pt x="3605482" y="1177"/>
                  </a:lnTo>
                  <a:lnTo>
                    <a:pt x="3668321" y="4640"/>
                  </a:lnTo>
                  <a:lnTo>
                    <a:pt x="3729290" y="10289"/>
                  </a:lnTo>
                  <a:lnTo>
                    <a:pt x="3788136" y="18020"/>
                  </a:lnTo>
                  <a:lnTo>
                    <a:pt x="3844612" y="27733"/>
                  </a:lnTo>
                  <a:lnTo>
                    <a:pt x="3898465" y="39326"/>
                  </a:lnTo>
                  <a:lnTo>
                    <a:pt x="3949447" y="52697"/>
                  </a:lnTo>
                  <a:lnTo>
                    <a:pt x="3997308" y="67744"/>
                  </a:lnTo>
                  <a:lnTo>
                    <a:pt x="4041797" y="84365"/>
                  </a:lnTo>
                  <a:lnTo>
                    <a:pt x="4082665" y="102460"/>
                  </a:lnTo>
                  <a:lnTo>
                    <a:pt x="4119660" y="121926"/>
                  </a:lnTo>
                  <a:lnTo>
                    <a:pt x="4152535" y="142662"/>
                  </a:lnTo>
                  <a:lnTo>
                    <a:pt x="4204918" y="187535"/>
                  </a:lnTo>
                  <a:lnTo>
                    <a:pt x="4237815" y="236266"/>
                  </a:lnTo>
                  <a:lnTo>
                    <a:pt x="4249225" y="288043"/>
                  </a:lnTo>
                  <a:lnTo>
                    <a:pt x="4246331" y="314260"/>
                  </a:lnTo>
                  <a:lnTo>
                    <a:pt x="4223928" y="364616"/>
                  </a:lnTo>
                  <a:lnTo>
                    <a:pt x="4181037" y="411520"/>
                  </a:lnTo>
                  <a:lnTo>
                    <a:pt x="4119660" y="454159"/>
                  </a:lnTo>
                  <a:lnTo>
                    <a:pt x="4082665" y="473625"/>
                  </a:lnTo>
                  <a:lnTo>
                    <a:pt x="4041797" y="491720"/>
                  </a:lnTo>
                  <a:lnTo>
                    <a:pt x="3997308" y="508342"/>
                  </a:lnTo>
                  <a:lnTo>
                    <a:pt x="3949447" y="523389"/>
                  </a:lnTo>
                  <a:lnTo>
                    <a:pt x="3898465" y="536759"/>
                  </a:lnTo>
                  <a:lnTo>
                    <a:pt x="3844612" y="548352"/>
                  </a:lnTo>
                  <a:lnTo>
                    <a:pt x="3788136" y="558065"/>
                  </a:lnTo>
                  <a:lnTo>
                    <a:pt x="3729290" y="565796"/>
                  </a:lnTo>
                  <a:lnTo>
                    <a:pt x="3668321" y="571445"/>
                  </a:lnTo>
                  <a:lnTo>
                    <a:pt x="3605482" y="574908"/>
                  </a:lnTo>
                  <a:lnTo>
                    <a:pt x="3541021" y="576086"/>
                  </a:lnTo>
                  <a:lnTo>
                    <a:pt x="708204" y="576086"/>
                  </a:lnTo>
                  <a:lnTo>
                    <a:pt x="0" y="288043"/>
                  </a:lnTo>
                  <a:close/>
                </a:path>
              </a:pathLst>
            </a:custGeom>
            <a:ln w="81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4460573" y="5374413"/>
            <a:ext cx="1741170" cy="3816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1150" spc="-10">
                <a:latin typeface="Franklin Gothic Medium"/>
                <a:cs typeface="Franklin Gothic Medium"/>
              </a:rPr>
              <a:t>Print</a:t>
            </a:r>
            <a:endParaRPr sz="1150">
              <a:latin typeface="Franklin Gothic Medium"/>
              <a:cs typeface="Franklin Gothic Medium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50" i="1">
                <a:latin typeface="Franklin Gothic Medium"/>
                <a:cs typeface="Franklin Gothic Medium"/>
              </a:rPr>
              <a:t>“The</a:t>
            </a:r>
            <a:r>
              <a:rPr dirty="0" sz="1150" spc="65" i="1">
                <a:latin typeface="Franklin Gothic Medium"/>
                <a:cs typeface="Franklin Gothic Medium"/>
              </a:rPr>
              <a:t> </a:t>
            </a:r>
            <a:r>
              <a:rPr dirty="0" sz="1150" i="1">
                <a:latin typeface="Franklin Gothic Medium"/>
                <a:cs typeface="Franklin Gothic Medium"/>
              </a:rPr>
              <a:t>largest</a:t>
            </a:r>
            <a:r>
              <a:rPr dirty="0" sz="1150" spc="65" i="1">
                <a:latin typeface="Franklin Gothic Medium"/>
                <a:cs typeface="Franklin Gothic Medium"/>
              </a:rPr>
              <a:t> </a:t>
            </a:r>
            <a:r>
              <a:rPr dirty="0" sz="1150" i="1">
                <a:latin typeface="Franklin Gothic Medium"/>
                <a:cs typeface="Franklin Gothic Medium"/>
              </a:rPr>
              <a:t>value</a:t>
            </a:r>
            <a:r>
              <a:rPr dirty="0" sz="1150" spc="65" i="1">
                <a:latin typeface="Franklin Gothic Medium"/>
                <a:cs typeface="Franklin Gothic Medium"/>
              </a:rPr>
              <a:t> </a:t>
            </a:r>
            <a:r>
              <a:rPr dirty="0" sz="1150" i="1">
                <a:latin typeface="Franklin Gothic Medium"/>
                <a:cs typeface="Franklin Gothic Medium"/>
              </a:rPr>
              <a:t>is”,</a:t>
            </a:r>
            <a:r>
              <a:rPr dirty="0" sz="1150" spc="70" i="1">
                <a:latin typeface="Franklin Gothic Medium"/>
                <a:cs typeface="Franklin Gothic Medium"/>
              </a:rPr>
              <a:t> </a:t>
            </a:r>
            <a:r>
              <a:rPr dirty="0" sz="1150" spc="-25" i="1">
                <a:latin typeface="Franklin Gothic Medium"/>
                <a:cs typeface="Franklin Gothic Medium"/>
              </a:rPr>
              <a:t>MAX</a:t>
            </a:r>
            <a:endParaRPr sz="1150">
              <a:latin typeface="Franklin Gothic Medium"/>
              <a:cs typeface="Franklin Gothic Medium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4729355" y="6149199"/>
            <a:ext cx="1296035" cy="418465"/>
            <a:chOff x="4729355" y="6149199"/>
            <a:chExt cx="1296035" cy="418465"/>
          </a:xfrm>
        </p:grpSpPr>
        <p:sp>
          <p:nvSpPr>
            <p:cNvPr id="8" name="object 8" descr=""/>
            <p:cNvSpPr/>
            <p:nvPr/>
          </p:nvSpPr>
          <p:spPr>
            <a:xfrm>
              <a:off x="4733483" y="6153326"/>
              <a:ext cx="1287780" cy="410209"/>
            </a:xfrm>
            <a:custGeom>
              <a:avLst/>
              <a:gdLst/>
              <a:ahLst/>
              <a:cxnLst/>
              <a:rect l="l" t="t" r="r" b="b"/>
              <a:pathLst>
                <a:path w="1287779" h="410209">
                  <a:moveTo>
                    <a:pt x="1080580" y="0"/>
                  </a:moveTo>
                  <a:lnTo>
                    <a:pt x="207173" y="0"/>
                  </a:lnTo>
                  <a:lnTo>
                    <a:pt x="159671" y="5410"/>
                  </a:lnTo>
                  <a:lnTo>
                    <a:pt x="116064" y="20823"/>
                  </a:lnTo>
                  <a:lnTo>
                    <a:pt x="77597" y="45008"/>
                  </a:lnTo>
                  <a:lnTo>
                    <a:pt x="45514" y="76736"/>
                  </a:lnTo>
                  <a:lnTo>
                    <a:pt x="21057" y="114776"/>
                  </a:lnTo>
                  <a:lnTo>
                    <a:pt x="5471" y="157899"/>
                  </a:lnTo>
                  <a:lnTo>
                    <a:pt x="0" y="204876"/>
                  </a:lnTo>
                  <a:lnTo>
                    <a:pt x="5471" y="251852"/>
                  </a:lnTo>
                  <a:lnTo>
                    <a:pt x="21057" y="294975"/>
                  </a:lnTo>
                  <a:lnTo>
                    <a:pt x="45514" y="333015"/>
                  </a:lnTo>
                  <a:lnTo>
                    <a:pt x="77597" y="364743"/>
                  </a:lnTo>
                  <a:lnTo>
                    <a:pt x="116064" y="388928"/>
                  </a:lnTo>
                  <a:lnTo>
                    <a:pt x="159671" y="404341"/>
                  </a:lnTo>
                  <a:lnTo>
                    <a:pt x="207173" y="409752"/>
                  </a:lnTo>
                  <a:lnTo>
                    <a:pt x="1080580" y="409752"/>
                  </a:lnTo>
                  <a:lnTo>
                    <a:pt x="1128083" y="404341"/>
                  </a:lnTo>
                  <a:lnTo>
                    <a:pt x="1171690" y="388928"/>
                  </a:lnTo>
                  <a:lnTo>
                    <a:pt x="1210157" y="364743"/>
                  </a:lnTo>
                  <a:lnTo>
                    <a:pt x="1242240" y="333015"/>
                  </a:lnTo>
                  <a:lnTo>
                    <a:pt x="1266697" y="294975"/>
                  </a:lnTo>
                  <a:lnTo>
                    <a:pt x="1282282" y="251852"/>
                  </a:lnTo>
                  <a:lnTo>
                    <a:pt x="1287754" y="204876"/>
                  </a:lnTo>
                  <a:lnTo>
                    <a:pt x="1282282" y="157899"/>
                  </a:lnTo>
                  <a:lnTo>
                    <a:pt x="1266697" y="114776"/>
                  </a:lnTo>
                  <a:lnTo>
                    <a:pt x="1242240" y="76736"/>
                  </a:lnTo>
                  <a:lnTo>
                    <a:pt x="1210157" y="45008"/>
                  </a:lnTo>
                  <a:lnTo>
                    <a:pt x="1171690" y="20823"/>
                  </a:lnTo>
                  <a:lnTo>
                    <a:pt x="1128083" y="5410"/>
                  </a:lnTo>
                  <a:lnTo>
                    <a:pt x="108058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733483" y="6153326"/>
              <a:ext cx="1287780" cy="410209"/>
            </a:xfrm>
            <a:custGeom>
              <a:avLst/>
              <a:gdLst/>
              <a:ahLst/>
              <a:cxnLst/>
              <a:rect l="l" t="t" r="r" b="b"/>
              <a:pathLst>
                <a:path w="1287779" h="410209">
                  <a:moveTo>
                    <a:pt x="207173" y="0"/>
                  </a:moveTo>
                  <a:lnTo>
                    <a:pt x="1080580" y="0"/>
                  </a:lnTo>
                  <a:lnTo>
                    <a:pt x="1128083" y="5410"/>
                  </a:lnTo>
                  <a:lnTo>
                    <a:pt x="1171689" y="20823"/>
                  </a:lnTo>
                  <a:lnTo>
                    <a:pt x="1210156" y="45008"/>
                  </a:lnTo>
                  <a:lnTo>
                    <a:pt x="1242239" y="76736"/>
                  </a:lnTo>
                  <a:lnTo>
                    <a:pt x="1266696" y="114776"/>
                  </a:lnTo>
                  <a:lnTo>
                    <a:pt x="1282281" y="157899"/>
                  </a:lnTo>
                  <a:lnTo>
                    <a:pt x="1287753" y="204875"/>
                  </a:lnTo>
                  <a:lnTo>
                    <a:pt x="1282281" y="251852"/>
                  </a:lnTo>
                  <a:lnTo>
                    <a:pt x="1266696" y="294975"/>
                  </a:lnTo>
                  <a:lnTo>
                    <a:pt x="1242239" y="333015"/>
                  </a:lnTo>
                  <a:lnTo>
                    <a:pt x="1210156" y="364742"/>
                  </a:lnTo>
                  <a:lnTo>
                    <a:pt x="1171689" y="388928"/>
                  </a:lnTo>
                  <a:lnTo>
                    <a:pt x="1128083" y="404340"/>
                  </a:lnTo>
                  <a:lnTo>
                    <a:pt x="1080580" y="409751"/>
                  </a:lnTo>
                  <a:lnTo>
                    <a:pt x="207173" y="409751"/>
                  </a:lnTo>
                  <a:lnTo>
                    <a:pt x="159670" y="404340"/>
                  </a:lnTo>
                  <a:lnTo>
                    <a:pt x="116063" y="388928"/>
                  </a:lnTo>
                  <a:lnTo>
                    <a:pt x="77596" y="364742"/>
                  </a:lnTo>
                  <a:lnTo>
                    <a:pt x="45513" y="333015"/>
                  </a:lnTo>
                  <a:lnTo>
                    <a:pt x="21057" y="294975"/>
                  </a:lnTo>
                  <a:lnTo>
                    <a:pt x="5471" y="251852"/>
                  </a:lnTo>
                  <a:lnTo>
                    <a:pt x="0" y="204875"/>
                  </a:lnTo>
                  <a:lnTo>
                    <a:pt x="5471" y="157899"/>
                  </a:lnTo>
                  <a:lnTo>
                    <a:pt x="21057" y="114776"/>
                  </a:lnTo>
                  <a:lnTo>
                    <a:pt x="45513" y="76736"/>
                  </a:lnTo>
                  <a:lnTo>
                    <a:pt x="77596" y="45008"/>
                  </a:lnTo>
                  <a:lnTo>
                    <a:pt x="116063" y="20823"/>
                  </a:lnTo>
                  <a:lnTo>
                    <a:pt x="159670" y="5410"/>
                  </a:lnTo>
                  <a:lnTo>
                    <a:pt x="207173" y="0"/>
                  </a:lnTo>
                  <a:close/>
                </a:path>
              </a:pathLst>
            </a:custGeom>
            <a:ln w="81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5197983" y="6240045"/>
            <a:ext cx="359410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-20">
                <a:latin typeface="Franklin Gothic Medium"/>
                <a:cs typeface="Franklin Gothic Medium"/>
              </a:rPr>
              <a:t>STOP</a:t>
            </a:r>
            <a:endParaRPr sz="1150">
              <a:latin typeface="Franklin Gothic Medium"/>
              <a:cs typeface="Franklin Gothic Medium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5352111" y="5037666"/>
            <a:ext cx="76200" cy="1129665"/>
            <a:chOff x="5352111" y="5037666"/>
            <a:chExt cx="76200" cy="1129665"/>
          </a:xfrm>
        </p:grpSpPr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52111" y="5919375"/>
              <a:ext cx="64928" cy="247473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5362932" y="5037666"/>
              <a:ext cx="65405" cy="296545"/>
            </a:xfrm>
            <a:custGeom>
              <a:avLst/>
              <a:gdLst/>
              <a:ahLst/>
              <a:cxnLst/>
              <a:rect l="l" t="t" r="r" b="b"/>
              <a:pathLst>
                <a:path w="65404" h="296545">
                  <a:moveTo>
                    <a:pt x="28406" y="231245"/>
                  </a:moveTo>
                  <a:lnTo>
                    <a:pt x="0" y="231245"/>
                  </a:lnTo>
                  <a:lnTo>
                    <a:pt x="32463" y="296156"/>
                  </a:lnTo>
                  <a:lnTo>
                    <a:pt x="59517" y="242064"/>
                  </a:lnTo>
                  <a:lnTo>
                    <a:pt x="28406" y="242064"/>
                  </a:lnTo>
                  <a:lnTo>
                    <a:pt x="28406" y="231245"/>
                  </a:lnTo>
                  <a:close/>
                </a:path>
                <a:path w="65404" h="296545">
                  <a:moveTo>
                    <a:pt x="36521" y="0"/>
                  </a:moveTo>
                  <a:lnTo>
                    <a:pt x="28404" y="0"/>
                  </a:lnTo>
                  <a:lnTo>
                    <a:pt x="28406" y="242064"/>
                  </a:lnTo>
                  <a:lnTo>
                    <a:pt x="36521" y="242064"/>
                  </a:lnTo>
                  <a:lnTo>
                    <a:pt x="36521" y="0"/>
                  </a:lnTo>
                  <a:close/>
                </a:path>
                <a:path w="65404" h="296545">
                  <a:moveTo>
                    <a:pt x="64928" y="231245"/>
                  </a:moveTo>
                  <a:lnTo>
                    <a:pt x="36521" y="231245"/>
                  </a:lnTo>
                  <a:lnTo>
                    <a:pt x="36521" y="242064"/>
                  </a:lnTo>
                  <a:lnTo>
                    <a:pt x="59517" y="242064"/>
                  </a:lnTo>
                  <a:lnTo>
                    <a:pt x="64928" y="2312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 descr=""/>
          <p:cNvGrpSpPr/>
          <p:nvPr/>
        </p:nvGrpSpPr>
        <p:grpSpPr>
          <a:xfrm>
            <a:off x="3845604" y="2080083"/>
            <a:ext cx="3339465" cy="2362835"/>
            <a:chOff x="3845604" y="2080083"/>
            <a:chExt cx="3339465" cy="2362835"/>
          </a:xfrm>
        </p:grpSpPr>
        <p:sp>
          <p:nvSpPr>
            <p:cNvPr id="15" name="object 15" descr=""/>
            <p:cNvSpPr/>
            <p:nvPr/>
          </p:nvSpPr>
          <p:spPr>
            <a:xfrm>
              <a:off x="4751519" y="3451401"/>
              <a:ext cx="1634489" cy="904875"/>
            </a:xfrm>
            <a:custGeom>
              <a:avLst/>
              <a:gdLst/>
              <a:ahLst/>
              <a:cxnLst/>
              <a:rect l="l" t="t" r="r" b="b"/>
              <a:pathLst>
                <a:path w="1634489" h="904875">
                  <a:moveTo>
                    <a:pt x="817020" y="0"/>
                  </a:moveTo>
                  <a:lnTo>
                    <a:pt x="0" y="452349"/>
                  </a:lnTo>
                  <a:lnTo>
                    <a:pt x="817020" y="904699"/>
                  </a:lnTo>
                  <a:lnTo>
                    <a:pt x="1634040" y="452349"/>
                  </a:lnTo>
                  <a:lnTo>
                    <a:pt x="81702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751519" y="3451401"/>
              <a:ext cx="1634489" cy="904875"/>
            </a:xfrm>
            <a:custGeom>
              <a:avLst/>
              <a:gdLst/>
              <a:ahLst/>
              <a:cxnLst/>
              <a:rect l="l" t="t" r="r" b="b"/>
              <a:pathLst>
                <a:path w="1634489" h="904875">
                  <a:moveTo>
                    <a:pt x="0" y="452349"/>
                  </a:moveTo>
                  <a:lnTo>
                    <a:pt x="817020" y="0"/>
                  </a:lnTo>
                  <a:lnTo>
                    <a:pt x="1634040" y="452349"/>
                  </a:lnTo>
                  <a:lnTo>
                    <a:pt x="817020" y="904699"/>
                  </a:lnTo>
                  <a:lnTo>
                    <a:pt x="0" y="452349"/>
                  </a:lnTo>
                  <a:close/>
                </a:path>
              </a:pathLst>
            </a:custGeom>
            <a:ln w="81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295381" y="3847630"/>
              <a:ext cx="774065" cy="0"/>
            </a:xfrm>
            <a:custGeom>
              <a:avLst/>
              <a:gdLst/>
              <a:ahLst/>
              <a:cxnLst/>
              <a:rect l="l" t="t" r="r" b="b"/>
              <a:pathLst>
                <a:path w="774065" h="0">
                  <a:moveTo>
                    <a:pt x="0" y="0"/>
                  </a:moveTo>
                  <a:lnTo>
                    <a:pt x="773734" y="0"/>
                  </a:lnTo>
                </a:path>
              </a:pathLst>
            </a:custGeom>
            <a:ln w="81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036652" y="3847630"/>
              <a:ext cx="65405" cy="595630"/>
            </a:xfrm>
            <a:custGeom>
              <a:avLst/>
              <a:gdLst/>
              <a:ahLst/>
              <a:cxnLst/>
              <a:rect l="l" t="t" r="r" b="b"/>
              <a:pathLst>
                <a:path w="65404" h="595629">
                  <a:moveTo>
                    <a:pt x="28406" y="530106"/>
                  </a:moveTo>
                  <a:lnTo>
                    <a:pt x="0" y="530106"/>
                  </a:lnTo>
                  <a:lnTo>
                    <a:pt x="32463" y="595017"/>
                  </a:lnTo>
                  <a:lnTo>
                    <a:pt x="59517" y="540926"/>
                  </a:lnTo>
                  <a:lnTo>
                    <a:pt x="28406" y="540926"/>
                  </a:lnTo>
                  <a:lnTo>
                    <a:pt x="28406" y="530106"/>
                  </a:lnTo>
                  <a:close/>
                </a:path>
                <a:path w="65404" h="595629">
                  <a:moveTo>
                    <a:pt x="36521" y="0"/>
                  </a:moveTo>
                  <a:lnTo>
                    <a:pt x="28404" y="0"/>
                  </a:lnTo>
                  <a:lnTo>
                    <a:pt x="28406" y="540926"/>
                  </a:lnTo>
                  <a:lnTo>
                    <a:pt x="36522" y="540926"/>
                  </a:lnTo>
                  <a:lnTo>
                    <a:pt x="36521" y="0"/>
                  </a:lnTo>
                  <a:close/>
                </a:path>
                <a:path w="65404" h="595629">
                  <a:moveTo>
                    <a:pt x="64928" y="530106"/>
                  </a:moveTo>
                  <a:lnTo>
                    <a:pt x="36522" y="530106"/>
                  </a:lnTo>
                  <a:lnTo>
                    <a:pt x="36522" y="540926"/>
                  </a:lnTo>
                  <a:lnTo>
                    <a:pt x="59517" y="540926"/>
                  </a:lnTo>
                  <a:lnTo>
                    <a:pt x="64928" y="5301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995821" y="3847630"/>
              <a:ext cx="772160" cy="0"/>
            </a:xfrm>
            <a:custGeom>
              <a:avLst/>
              <a:gdLst/>
              <a:ahLst/>
              <a:cxnLst/>
              <a:rect l="l" t="t" r="r" b="b"/>
              <a:pathLst>
                <a:path w="772160" h="0">
                  <a:moveTo>
                    <a:pt x="0" y="0"/>
                  </a:moveTo>
                  <a:lnTo>
                    <a:pt x="771930" y="0"/>
                  </a:lnTo>
                </a:path>
              </a:pathLst>
            </a:custGeom>
            <a:ln w="81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963357" y="3847630"/>
              <a:ext cx="65405" cy="595630"/>
            </a:xfrm>
            <a:custGeom>
              <a:avLst/>
              <a:gdLst/>
              <a:ahLst/>
              <a:cxnLst/>
              <a:rect l="l" t="t" r="r" b="b"/>
              <a:pathLst>
                <a:path w="65404" h="595629">
                  <a:moveTo>
                    <a:pt x="28406" y="530106"/>
                  </a:moveTo>
                  <a:lnTo>
                    <a:pt x="0" y="530106"/>
                  </a:lnTo>
                  <a:lnTo>
                    <a:pt x="32465" y="595017"/>
                  </a:lnTo>
                  <a:lnTo>
                    <a:pt x="59517" y="540926"/>
                  </a:lnTo>
                  <a:lnTo>
                    <a:pt x="28406" y="540926"/>
                  </a:lnTo>
                  <a:lnTo>
                    <a:pt x="28406" y="530106"/>
                  </a:lnTo>
                  <a:close/>
                </a:path>
                <a:path w="65404" h="595629">
                  <a:moveTo>
                    <a:pt x="36521" y="0"/>
                  </a:moveTo>
                  <a:lnTo>
                    <a:pt x="28406" y="0"/>
                  </a:lnTo>
                  <a:lnTo>
                    <a:pt x="28406" y="540926"/>
                  </a:lnTo>
                  <a:lnTo>
                    <a:pt x="36522" y="540926"/>
                  </a:lnTo>
                  <a:lnTo>
                    <a:pt x="36521" y="0"/>
                  </a:lnTo>
                  <a:close/>
                </a:path>
                <a:path w="65404" h="595629">
                  <a:moveTo>
                    <a:pt x="64928" y="530106"/>
                  </a:moveTo>
                  <a:lnTo>
                    <a:pt x="36522" y="530106"/>
                  </a:lnTo>
                  <a:lnTo>
                    <a:pt x="36522" y="540926"/>
                  </a:lnTo>
                  <a:lnTo>
                    <a:pt x="59517" y="540926"/>
                  </a:lnTo>
                  <a:lnTo>
                    <a:pt x="64928" y="5301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901215" y="2084210"/>
              <a:ext cx="1287780" cy="396240"/>
            </a:xfrm>
            <a:custGeom>
              <a:avLst/>
              <a:gdLst/>
              <a:ahLst/>
              <a:cxnLst/>
              <a:rect l="l" t="t" r="r" b="b"/>
              <a:pathLst>
                <a:path w="1287779" h="396239">
                  <a:moveTo>
                    <a:pt x="1080580" y="0"/>
                  </a:moveTo>
                  <a:lnTo>
                    <a:pt x="207173" y="0"/>
                  </a:lnTo>
                  <a:lnTo>
                    <a:pt x="159671" y="5232"/>
                  </a:lnTo>
                  <a:lnTo>
                    <a:pt x="116064" y="20136"/>
                  </a:lnTo>
                  <a:lnTo>
                    <a:pt x="77597" y="43523"/>
                  </a:lnTo>
                  <a:lnTo>
                    <a:pt x="45514" y="74204"/>
                  </a:lnTo>
                  <a:lnTo>
                    <a:pt x="21057" y="110989"/>
                  </a:lnTo>
                  <a:lnTo>
                    <a:pt x="5471" y="152689"/>
                  </a:lnTo>
                  <a:lnTo>
                    <a:pt x="0" y="198114"/>
                  </a:lnTo>
                  <a:lnTo>
                    <a:pt x="5471" y="243540"/>
                  </a:lnTo>
                  <a:lnTo>
                    <a:pt x="21057" y="285240"/>
                  </a:lnTo>
                  <a:lnTo>
                    <a:pt x="45514" y="322025"/>
                  </a:lnTo>
                  <a:lnTo>
                    <a:pt x="77597" y="352705"/>
                  </a:lnTo>
                  <a:lnTo>
                    <a:pt x="116064" y="376092"/>
                  </a:lnTo>
                  <a:lnTo>
                    <a:pt x="159671" y="390996"/>
                  </a:lnTo>
                  <a:lnTo>
                    <a:pt x="207173" y="396228"/>
                  </a:lnTo>
                  <a:lnTo>
                    <a:pt x="1080580" y="396228"/>
                  </a:lnTo>
                  <a:lnTo>
                    <a:pt x="1128083" y="390996"/>
                  </a:lnTo>
                  <a:lnTo>
                    <a:pt x="1171690" y="376092"/>
                  </a:lnTo>
                  <a:lnTo>
                    <a:pt x="1210157" y="352705"/>
                  </a:lnTo>
                  <a:lnTo>
                    <a:pt x="1242240" y="322025"/>
                  </a:lnTo>
                  <a:lnTo>
                    <a:pt x="1266697" y="285240"/>
                  </a:lnTo>
                  <a:lnTo>
                    <a:pt x="1282282" y="243540"/>
                  </a:lnTo>
                  <a:lnTo>
                    <a:pt x="1287754" y="198114"/>
                  </a:lnTo>
                  <a:lnTo>
                    <a:pt x="1282282" y="152689"/>
                  </a:lnTo>
                  <a:lnTo>
                    <a:pt x="1266697" y="110989"/>
                  </a:lnTo>
                  <a:lnTo>
                    <a:pt x="1242240" y="74204"/>
                  </a:lnTo>
                  <a:lnTo>
                    <a:pt x="1210157" y="43523"/>
                  </a:lnTo>
                  <a:lnTo>
                    <a:pt x="1171690" y="20136"/>
                  </a:lnTo>
                  <a:lnTo>
                    <a:pt x="1128083" y="5232"/>
                  </a:lnTo>
                  <a:lnTo>
                    <a:pt x="108058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901215" y="2084210"/>
              <a:ext cx="1287780" cy="396240"/>
            </a:xfrm>
            <a:custGeom>
              <a:avLst/>
              <a:gdLst/>
              <a:ahLst/>
              <a:cxnLst/>
              <a:rect l="l" t="t" r="r" b="b"/>
              <a:pathLst>
                <a:path w="1287779" h="396239">
                  <a:moveTo>
                    <a:pt x="207173" y="0"/>
                  </a:moveTo>
                  <a:lnTo>
                    <a:pt x="1080580" y="0"/>
                  </a:lnTo>
                  <a:lnTo>
                    <a:pt x="1128083" y="5232"/>
                  </a:lnTo>
                  <a:lnTo>
                    <a:pt x="1171689" y="20136"/>
                  </a:lnTo>
                  <a:lnTo>
                    <a:pt x="1210156" y="43523"/>
                  </a:lnTo>
                  <a:lnTo>
                    <a:pt x="1242239" y="74203"/>
                  </a:lnTo>
                  <a:lnTo>
                    <a:pt x="1266696" y="110988"/>
                  </a:lnTo>
                  <a:lnTo>
                    <a:pt x="1282281" y="152688"/>
                  </a:lnTo>
                  <a:lnTo>
                    <a:pt x="1287753" y="198114"/>
                  </a:lnTo>
                  <a:lnTo>
                    <a:pt x="1282281" y="243540"/>
                  </a:lnTo>
                  <a:lnTo>
                    <a:pt x="1266696" y="285240"/>
                  </a:lnTo>
                  <a:lnTo>
                    <a:pt x="1242239" y="322024"/>
                  </a:lnTo>
                  <a:lnTo>
                    <a:pt x="1210156" y="352705"/>
                  </a:lnTo>
                  <a:lnTo>
                    <a:pt x="1171689" y="376092"/>
                  </a:lnTo>
                  <a:lnTo>
                    <a:pt x="1128083" y="390996"/>
                  </a:lnTo>
                  <a:lnTo>
                    <a:pt x="1080580" y="396228"/>
                  </a:lnTo>
                  <a:lnTo>
                    <a:pt x="207173" y="396228"/>
                  </a:lnTo>
                  <a:lnTo>
                    <a:pt x="159670" y="390996"/>
                  </a:lnTo>
                  <a:lnTo>
                    <a:pt x="116063" y="376092"/>
                  </a:lnTo>
                  <a:lnTo>
                    <a:pt x="77596" y="352705"/>
                  </a:lnTo>
                  <a:lnTo>
                    <a:pt x="45513" y="322024"/>
                  </a:lnTo>
                  <a:lnTo>
                    <a:pt x="21057" y="285240"/>
                  </a:lnTo>
                  <a:lnTo>
                    <a:pt x="5471" y="243540"/>
                  </a:lnTo>
                  <a:lnTo>
                    <a:pt x="0" y="198114"/>
                  </a:lnTo>
                  <a:lnTo>
                    <a:pt x="5471" y="152688"/>
                  </a:lnTo>
                  <a:lnTo>
                    <a:pt x="21057" y="110988"/>
                  </a:lnTo>
                  <a:lnTo>
                    <a:pt x="45513" y="74203"/>
                  </a:lnTo>
                  <a:lnTo>
                    <a:pt x="77596" y="43523"/>
                  </a:lnTo>
                  <a:lnTo>
                    <a:pt x="116063" y="20136"/>
                  </a:lnTo>
                  <a:lnTo>
                    <a:pt x="159670" y="5232"/>
                  </a:lnTo>
                  <a:lnTo>
                    <a:pt x="207173" y="0"/>
                  </a:lnTo>
                  <a:close/>
                </a:path>
              </a:pathLst>
            </a:custGeom>
            <a:ln w="81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12629" y="2480439"/>
              <a:ext cx="64928" cy="247474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3849731" y="2752255"/>
              <a:ext cx="3331210" cy="471170"/>
            </a:xfrm>
            <a:custGeom>
              <a:avLst/>
              <a:gdLst/>
              <a:ahLst/>
              <a:cxnLst/>
              <a:rect l="l" t="t" r="r" b="b"/>
              <a:pathLst>
                <a:path w="3331209" h="471169">
                  <a:moveTo>
                    <a:pt x="3331204" y="0"/>
                  </a:moveTo>
                  <a:lnTo>
                    <a:pt x="666240" y="0"/>
                  </a:lnTo>
                  <a:lnTo>
                    <a:pt x="0" y="470604"/>
                  </a:lnTo>
                  <a:lnTo>
                    <a:pt x="2664964" y="470604"/>
                  </a:lnTo>
                  <a:lnTo>
                    <a:pt x="3331204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849731" y="2752255"/>
              <a:ext cx="3331210" cy="471170"/>
            </a:xfrm>
            <a:custGeom>
              <a:avLst/>
              <a:gdLst/>
              <a:ahLst/>
              <a:cxnLst/>
              <a:rect l="l" t="t" r="r" b="b"/>
              <a:pathLst>
                <a:path w="3331209" h="471169">
                  <a:moveTo>
                    <a:pt x="0" y="470605"/>
                  </a:moveTo>
                  <a:lnTo>
                    <a:pt x="666240" y="0"/>
                  </a:lnTo>
                  <a:lnTo>
                    <a:pt x="3331204" y="0"/>
                  </a:lnTo>
                  <a:lnTo>
                    <a:pt x="2664963" y="470605"/>
                  </a:lnTo>
                  <a:lnTo>
                    <a:pt x="0" y="470605"/>
                  </a:lnTo>
                  <a:close/>
                </a:path>
              </a:pathLst>
            </a:custGeom>
            <a:ln w="81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4184445" y="3576093"/>
            <a:ext cx="103505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-50">
                <a:latin typeface="Franklin Gothic Medium"/>
                <a:cs typeface="Franklin Gothic Medium"/>
              </a:rPr>
              <a:t>Y</a:t>
            </a:r>
            <a:endParaRPr sz="1150">
              <a:latin typeface="Franklin Gothic Medium"/>
              <a:cs typeface="Franklin Gothic Medium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6746560" y="3576093"/>
            <a:ext cx="125730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-50">
                <a:latin typeface="Franklin Gothic Medium"/>
                <a:cs typeface="Franklin Gothic Medium"/>
              </a:rPr>
              <a:t>N</a:t>
            </a:r>
            <a:endParaRPr sz="1150">
              <a:latin typeface="Franklin Gothic Medium"/>
              <a:cs typeface="Franklin Gothic Medium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4991536" y="2170965"/>
            <a:ext cx="1048385" cy="9912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48260">
              <a:lnSpc>
                <a:spcPct val="100000"/>
              </a:lnSpc>
              <a:spcBef>
                <a:spcPts val="125"/>
              </a:spcBef>
            </a:pPr>
            <a:r>
              <a:rPr dirty="0" sz="1150" spc="-10">
                <a:latin typeface="Franklin Gothic Medium"/>
                <a:cs typeface="Franklin Gothic Medium"/>
              </a:rPr>
              <a:t>START</a:t>
            </a:r>
            <a:endParaRPr sz="115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</a:pPr>
            <a:endParaRPr sz="115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1150">
              <a:latin typeface="Franklin Gothic Medium"/>
              <a:cs typeface="Franklin Gothic Medium"/>
            </a:endParaRPr>
          </a:p>
          <a:p>
            <a:pPr marL="12700" marR="5080" indent="346075">
              <a:lnSpc>
                <a:spcPct val="100899"/>
              </a:lnSpc>
            </a:pPr>
            <a:r>
              <a:rPr dirty="0" sz="1150" spc="-10">
                <a:latin typeface="Franklin Gothic Medium"/>
                <a:cs typeface="Franklin Gothic Medium"/>
              </a:rPr>
              <a:t>Input VALUE1,VALUE2</a:t>
            </a:r>
            <a:endParaRPr sz="1150">
              <a:latin typeface="Franklin Gothic Medium"/>
              <a:cs typeface="Franklin Gothic Medium"/>
            </a:endParaRPr>
          </a:p>
        </p:txBody>
      </p:sp>
      <p:graphicFrame>
        <p:nvGraphicFramePr>
          <p:cNvPr id="29" name="object 29" descr=""/>
          <p:cNvGraphicFramePr>
            <a:graphicFrameLocks noGrp="1"/>
          </p:cNvGraphicFramePr>
          <p:nvPr/>
        </p:nvGraphicFramePr>
        <p:xfrm>
          <a:off x="3005208" y="4438590"/>
          <a:ext cx="5106035" cy="588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8375"/>
                <a:gridCol w="962660"/>
                <a:gridCol w="1157605"/>
                <a:gridCol w="970280"/>
                <a:gridCol w="961389"/>
              </a:tblGrid>
              <a:tr h="297180">
                <a:tc gridSpan="2"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150">
                          <a:latin typeface="Franklin Gothic Medium"/>
                          <a:cs typeface="Franklin Gothic Medium"/>
                        </a:rPr>
                        <a:t>MAX</a:t>
                      </a:r>
                      <a:r>
                        <a:rPr dirty="0" sz="1150" spc="-2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1500">
                          <a:latin typeface="Symbol"/>
                          <a:cs typeface="Symbol"/>
                        </a:rPr>
                        <a:t></a:t>
                      </a:r>
                      <a:r>
                        <a:rPr dirty="0" sz="15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50" spc="-10">
                          <a:latin typeface="Franklin Gothic Medium"/>
                          <a:cs typeface="Franklin Gothic Medium"/>
                        </a:rPr>
                        <a:t>VALUE1</a:t>
                      </a:r>
                      <a:endParaRPr sz="11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336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150">
                          <a:latin typeface="Franklin Gothic Medium"/>
                          <a:cs typeface="Franklin Gothic Medium"/>
                        </a:rPr>
                        <a:t>MAX</a:t>
                      </a:r>
                      <a:r>
                        <a:rPr dirty="0" sz="1150" spc="-2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1500">
                          <a:latin typeface="Symbol"/>
                          <a:cs typeface="Symbol"/>
                        </a:rPr>
                        <a:t></a:t>
                      </a:r>
                      <a:r>
                        <a:rPr dirty="0" sz="15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50" spc="-10">
                          <a:latin typeface="Franklin Gothic Medium"/>
                          <a:cs typeface="Franklin Gothic Medium"/>
                        </a:rPr>
                        <a:t>VALUE2</a:t>
                      </a:r>
                      <a:endParaRPr sz="11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457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08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pic>
        <p:nvPicPr>
          <p:cNvPr id="30" name="object 3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90986" y="3222859"/>
            <a:ext cx="64928" cy="247474"/>
          </a:xfrm>
          <a:prstGeom prst="rect">
            <a:avLst/>
          </a:prstGeom>
        </p:spPr>
      </p:pic>
      <p:sp>
        <p:nvSpPr>
          <p:cNvPr id="31" name="object 31" descr=""/>
          <p:cNvSpPr txBox="1"/>
          <p:nvPr/>
        </p:nvSpPr>
        <p:spPr>
          <a:xfrm>
            <a:off x="5154543" y="3668671"/>
            <a:ext cx="877569" cy="300355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12700" marR="5080" indent="386080">
              <a:lnSpc>
                <a:spcPct val="108200"/>
              </a:lnSpc>
              <a:spcBef>
                <a:spcPts val="45"/>
              </a:spcBef>
            </a:pPr>
            <a:r>
              <a:rPr dirty="0" sz="850" spc="-25">
                <a:latin typeface="Franklin Gothic Medium"/>
                <a:cs typeface="Franklin Gothic Medium"/>
              </a:rPr>
              <a:t>is</a:t>
            </a:r>
            <a:r>
              <a:rPr dirty="0" sz="850" spc="-10">
                <a:latin typeface="Franklin Gothic Medium"/>
                <a:cs typeface="Franklin Gothic Medium"/>
              </a:rPr>
              <a:t> VALUE1&gt;VALUE2</a:t>
            </a:r>
            <a:endParaRPr sz="85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33019" rIns="0" bIns="0" rtlCol="0" vert="horz">
            <a:spAutoFit/>
          </a:bodyPr>
          <a:lstStyle/>
          <a:p>
            <a:pPr marL="3291204">
              <a:lnSpc>
                <a:spcPct val="100000"/>
              </a:lnSpc>
              <a:spcBef>
                <a:spcPts val="95"/>
              </a:spcBef>
            </a:pPr>
            <a:r>
              <a:rPr dirty="0"/>
              <a:t>NESTED</a:t>
            </a:r>
            <a:r>
              <a:rPr dirty="0" spc="114"/>
              <a:t> </a:t>
            </a:r>
            <a:r>
              <a:rPr dirty="0" spc="-25"/>
              <a:t>IFS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386332" y="2730991"/>
            <a:ext cx="7727315" cy="86677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339725" indent="-327025">
              <a:lnSpc>
                <a:spcPct val="100000"/>
              </a:lnSpc>
              <a:spcBef>
                <a:spcPts val="530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One</a:t>
            </a:r>
            <a:r>
              <a:rPr dirty="0" sz="2400" spc="-7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of</a:t>
            </a:r>
            <a:r>
              <a:rPr dirty="0" sz="2400" spc="-7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the</a:t>
            </a:r>
            <a:r>
              <a:rPr dirty="0" sz="2400" spc="-7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alternatives</a:t>
            </a:r>
            <a:r>
              <a:rPr dirty="0" sz="2400" spc="-7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within</a:t>
            </a:r>
            <a:r>
              <a:rPr dirty="0" sz="2400" spc="-7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an</a:t>
            </a:r>
            <a:r>
              <a:rPr dirty="0" sz="2400" spc="-7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IF–THEN–ELSE</a:t>
            </a:r>
            <a:r>
              <a:rPr dirty="0" sz="2400" spc="-7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statement</a:t>
            </a:r>
            <a:endParaRPr sz="2400">
              <a:latin typeface="Times New Roman"/>
              <a:cs typeface="Times New Roman"/>
            </a:endParaRPr>
          </a:p>
          <a:p>
            <a:pPr marL="464184">
              <a:lnSpc>
                <a:spcPct val="100000"/>
              </a:lnSpc>
              <a:spcBef>
                <a:spcPts val="434"/>
              </a:spcBef>
              <a:tabLst>
                <a:tab pos="791210" algn="l"/>
              </a:tabLst>
            </a:pPr>
            <a:r>
              <a:rPr dirty="0" sz="2400" spc="-50">
                <a:solidFill>
                  <a:srgbClr val="191B0E"/>
                </a:solidFill>
                <a:latin typeface="Franklin Gothic Medium"/>
                <a:cs typeface="Franklin Gothic Medium"/>
              </a:rPr>
              <a:t>–</a:t>
            </a:r>
            <a:r>
              <a:rPr dirty="0" sz="2400">
                <a:solidFill>
                  <a:srgbClr val="191B0E"/>
                </a:solidFill>
                <a:latin typeface="Franklin Gothic Medium"/>
                <a:cs typeface="Franklin Gothic Medium"/>
              </a:rPr>
              <a:t>	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may</a:t>
            </a:r>
            <a:r>
              <a:rPr dirty="0" sz="2400" spc="-8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involve</a:t>
            </a:r>
            <a:r>
              <a:rPr dirty="0" sz="2400" spc="-9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further</a:t>
            </a:r>
            <a:r>
              <a:rPr dirty="0" sz="2400" spc="-8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IF–THEN–ELSE</a:t>
            </a:r>
            <a:r>
              <a:rPr dirty="0" sz="2400" spc="-8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statement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33019" rIns="0" bIns="0" rtlCol="0" vert="horz">
            <a:spAutoFit/>
          </a:bodyPr>
          <a:lstStyle/>
          <a:p>
            <a:pPr marL="3596004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130"/>
              <a:t> </a:t>
            </a:r>
            <a:r>
              <a:rPr dirty="0" spc="-50"/>
              <a:t>6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386332" y="2785954"/>
            <a:ext cx="7471409" cy="73596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339725" marR="5080" indent="-327660">
              <a:lnSpc>
                <a:spcPts val="2710"/>
              </a:lnSpc>
              <a:spcBef>
                <a:spcPts val="330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Write</a:t>
            </a:r>
            <a:r>
              <a:rPr dirty="0" sz="2400" spc="-8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an</a:t>
            </a:r>
            <a:r>
              <a:rPr dirty="0" sz="2400" spc="-7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algorithm</a:t>
            </a:r>
            <a:r>
              <a:rPr dirty="0" sz="2400" spc="-8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that</a:t>
            </a:r>
            <a:r>
              <a:rPr dirty="0" sz="2400" spc="-7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reads</a:t>
            </a:r>
            <a:r>
              <a:rPr dirty="0" sz="2400" spc="-7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three</a:t>
            </a:r>
            <a:r>
              <a:rPr dirty="0" sz="2400" spc="-8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numbers</a:t>
            </a:r>
            <a:r>
              <a:rPr dirty="0" sz="2400" spc="-7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and</a:t>
            </a:r>
            <a:r>
              <a:rPr dirty="0" sz="2400" spc="-7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prints</a:t>
            </a:r>
            <a:r>
              <a:rPr dirty="0" sz="2400" spc="-7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191B0E"/>
                </a:solidFill>
                <a:latin typeface="Times New Roman"/>
                <a:cs typeface="Times New Roman"/>
              </a:rPr>
              <a:t>the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value</a:t>
            </a:r>
            <a:r>
              <a:rPr dirty="0" sz="2400" spc="-7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of</a:t>
            </a:r>
            <a:r>
              <a:rPr dirty="0" sz="2400" spc="-5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the</a:t>
            </a:r>
            <a:r>
              <a:rPr dirty="0" sz="2400" spc="-7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largest</a:t>
            </a:r>
            <a:r>
              <a:rPr dirty="0" sz="2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number.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55911" y="1191387"/>
            <a:ext cx="2179320" cy="5892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130"/>
              <a:t> </a:t>
            </a:r>
            <a:r>
              <a:rPr dirty="0" spc="-50"/>
              <a:t>6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03652" y="1763257"/>
            <a:ext cx="2494280" cy="665480"/>
          </a:xfrm>
          <a:prstGeom prst="rect">
            <a:avLst/>
          </a:prstGeom>
        </p:spPr>
        <p:txBody>
          <a:bodyPr wrap="square" lIns="0" tIns="1041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  <a:tabLst>
                <a:tab pos="1570355" algn="l"/>
              </a:tabLst>
            </a:pPr>
            <a:r>
              <a:rPr dirty="0" sz="1500" b="1">
                <a:solidFill>
                  <a:srgbClr val="191B0E"/>
                </a:solidFill>
                <a:latin typeface="Times New Roman"/>
                <a:cs typeface="Times New Roman"/>
              </a:rPr>
              <a:t>Step</a:t>
            </a:r>
            <a:r>
              <a:rPr dirty="0" sz="1500" spc="3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500" b="1">
                <a:solidFill>
                  <a:srgbClr val="191B0E"/>
                </a:solidFill>
                <a:latin typeface="Times New Roman"/>
                <a:cs typeface="Times New Roman"/>
              </a:rPr>
              <a:t>1:</a:t>
            </a:r>
            <a:r>
              <a:rPr dirty="0" sz="1500" spc="42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191B0E"/>
                </a:solidFill>
                <a:latin typeface="Times New Roman"/>
                <a:cs typeface="Times New Roman"/>
              </a:rPr>
              <a:t>Input</a:t>
            </a:r>
            <a:r>
              <a:rPr dirty="0" sz="1500">
                <a:solidFill>
                  <a:srgbClr val="191B0E"/>
                </a:solidFill>
                <a:latin typeface="Times New Roman"/>
                <a:cs typeface="Times New Roman"/>
              </a:rPr>
              <a:t>	N1,</a:t>
            </a:r>
            <a:r>
              <a:rPr dirty="0" sz="1500" spc="3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91B0E"/>
                </a:solidFill>
                <a:latin typeface="Times New Roman"/>
                <a:cs typeface="Times New Roman"/>
              </a:rPr>
              <a:t>N2,</a:t>
            </a:r>
            <a:r>
              <a:rPr dirty="0" sz="1500" spc="3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500" spc="-25">
                <a:solidFill>
                  <a:srgbClr val="191B0E"/>
                </a:solidFill>
                <a:latin typeface="Times New Roman"/>
                <a:cs typeface="Times New Roman"/>
              </a:rPr>
              <a:t>N3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500" b="1">
                <a:solidFill>
                  <a:srgbClr val="191B0E"/>
                </a:solidFill>
                <a:latin typeface="Times New Roman"/>
                <a:cs typeface="Times New Roman"/>
              </a:rPr>
              <a:t>Step</a:t>
            </a:r>
            <a:r>
              <a:rPr dirty="0" sz="1500" spc="4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500" b="1">
                <a:solidFill>
                  <a:srgbClr val="191B0E"/>
                </a:solidFill>
                <a:latin typeface="Times New Roman"/>
                <a:cs typeface="Times New Roman"/>
              </a:rPr>
              <a:t>2:</a:t>
            </a:r>
            <a:r>
              <a:rPr dirty="0" sz="1500" spc="44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91B0E"/>
                </a:solidFill>
                <a:latin typeface="Times New Roman"/>
                <a:cs typeface="Times New Roman"/>
              </a:rPr>
              <a:t>if</a:t>
            </a:r>
            <a:r>
              <a:rPr dirty="0" sz="1500" spc="4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91B0E"/>
                </a:solidFill>
                <a:latin typeface="Times New Roman"/>
                <a:cs typeface="Times New Roman"/>
              </a:rPr>
              <a:t>(N1&gt;N2)</a:t>
            </a:r>
            <a:r>
              <a:rPr dirty="0" sz="1500" spc="4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500" spc="-20">
                <a:solidFill>
                  <a:srgbClr val="191B0E"/>
                </a:solidFill>
                <a:latin typeface="Times New Roman"/>
                <a:cs typeface="Times New Roman"/>
              </a:rPr>
              <a:t>then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820232" y="2796591"/>
            <a:ext cx="142367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191B0E"/>
                </a:solidFill>
                <a:latin typeface="Times New Roman"/>
                <a:cs typeface="Times New Roman"/>
              </a:rPr>
              <a:t>[N1&gt;N2,</a:t>
            </a:r>
            <a:r>
              <a:rPr dirty="0" sz="1500" spc="7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191B0E"/>
                </a:solidFill>
                <a:latin typeface="Times New Roman"/>
                <a:cs typeface="Times New Roman"/>
              </a:rPr>
              <a:t>N1&gt;N3]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820232" y="3430576"/>
            <a:ext cx="10877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191B0E"/>
                </a:solidFill>
                <a:latin typeface="Times New Roman"/>
                <a:cs typeface="Times New Roman"/>
              </a:rPr>
              <a:t>[N3&gt;N1&gt;N2]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820232" y="4689399"/>
            <a:ext cx="142367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191B0E"/>
                </a:solidFill>
                <a:latin typeface="Times New Roman"/>
                <a:cs typeface="Times New Roman"/>
              </a:rPr>
              <a:t>[N2&gt;N1,</a:t>
            </a:r>
            <a:r>
              <a:rPr dirty="0" sz="1500" spc="7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191B0E"/>
                </a:solidFill>
                <a:latin typeface="Times New Roman"/>
                <a:cs typeface="Times New Roman"/>
              </a:rPr>
              <a:t>N2&gt;N3]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820232" y="5323383"/>
            <a:ext cx="10877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191B0E"/>
                </a:solidFill>
                <a:latin typeface="Times New Roman"/>
                <a:cs typeface="Times New Roman"/>
              </a:rPr>
              <a:t>[N3&gt;N2&gt;N1]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482797" y="2415529"/>
            <a:ext cx="1858010" cy="3796029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353060">
              <a:lnSpc>
                <a:spcPct val="100000"/>
              </a:lnSpc>
              <a:spcBef>
                <a:spcPts val="700"/>
              </a:spcBef>
            </a:pPr>
            <a:r>
              <a:rPr dirty="0" sz="1500">
                <a:solidFill>
                  <a:srgbClr val="191B0E"/>
                </a:solidFill>
                <a:latin typeface="Times New Roman"/>
                <a:cs typeface="Times New Roman"/>
              </a:rPr>
              <a:t>if</a:t>
            </a:r>
            <a:r>
              <a:rPr dirty="0" sz="1500" spc="5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91B0E"/>
                </a:solidFill>
                <a:latin typeface="Times New Roman"/>
                <a:cs typeface="Times New Roman"/>
              </a:rPr>
              <a:t>(N1&gt;N3)</a:t>
            </a:r>
            <a:r>
              <a:rPr dirty="0" sz="1500" spc="5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500" spc="-20">
                <a:solidFill>
                  <a:srgbClr val="191B0E"/>
                </a:solidFill>
                <a:latin typeface="Times New Roman"/>
                <a:cs typeface="Times New Roman"/>
              </a:rPr>
              <a:t>then</a:t>
            </a:r>
            <a:endParaRPr sz="1500">
              <a:latin typeface="Times New Roman"/>
              <a:cs typeface="Times New Roman"/>
            </a:endParaRPr>
          </a:p>
          <a:p>
            <a:pPr marL="840105">
              <a:lnSpc>
                <a:spcPct val="100000"/>
              </a:lnSpc>
              <a:spcBef>
                <a:spcPts val="600"/>
              </a:spcBef>
            </a:pPr>
            <a:r>
              <a:rPr dirty="0" sz="1500">
                <a:solidFill>
                  <a:srgbClr val="191B0E"/>
                </a:solidFill>
                <a:latin typeface="Times New Roman"/>
                <a:cs typeface="Times New Roman"/>
              </a:rPr>
              <a:t>MAX</a:t>
            </a:r>
            <a:r>
              <a:rPr dirty="0" sz="1500" spc="37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91B0E"/>
                </a:solidFill>
                <a:latin typeface="Symbol"/>
                <a:cs typeface="Symbol"/>
              </a:rPr>
              <a:t></a:t>
            </a:r>
            <a:r>
              <a:rPr dirty="0" sz="1400" spc="-1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500" spc="-25">
                <a:solidFill>
                  <a:srgbClr val="191B0E"/>
                </a:solidFill>
                <a:latin typeface="Times New Roman"/>
                <a:cs typeface="Times New Roman"/>
              </a:rPr>
              <a:t>N1</a:t>
            </a:r>
            <a:endParaRPr sz="1500">
              <a:latin typeface="Times New Roman"/>
              <a:cs typeface="Times New Roman"/>
            </a:endParaRPr>
          </a:p>
          <a:p>
            <a:pPr marL="304800">
              <a:lnSpc>
                <a:spcPct val="100000"/>
              </a:lnSpc>
              <a:spcBef>
                <a:spcPts val="695"/>
              </a:spcBef>
            </a:pPr>
            <a:r>
              <a:rPr dirty="0" sz="1500" spc="-20">
                <a:solidFill>
                  <a:srgbClr val="191B0E"/>
                </a:solidFill>
                <a:latin typeface="Times New Roman"/>
                <a:cs typeface="Times New Roman"/>
              </a:rPr>
              <a:t>else</a:t>
            </a:r>
            <a:endParaRPr sz="1500">
              <a:latin typeface="Times New Roman"/>
              <a:cs typeface="Times New Roman"/>
            </a:endParaRPr>
          </a:p>
          <a:p>
            <a:pPr marL="840105">
              <a:lnSpc>
                <a:spcPct val="100000"/>
              </a:lnSpc>
              <a:spcBef>
                <a:spcPts val="695"/>
              </a:spcBef>
            </a:pPr>
            <a:r>
              <a:rPr dirty="0" sz="1500">
                <a:solidFill>
                  <a:srgbClr val="191B0E"/>
                </a:solidFill>
                <a:latin typeface="Times New Roman"/>
                <a:cs typeface="Times New Roman"/>
              </a:rPr>
              <a:t>MAX</a:t>
            </a:r>
            <a:r>
              <a:rPr dirty="0" sz="1500" spc="37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91B0E"/>
                </a:solidFill>
                <a:latin typeface="Symbol"/>
                <a:cs typeface="Symbol"/>
              </a:rPr>
              <a:t></a:t>
            </a:r>
            <a:r>
              <a:rPr dirty="0" sz="1400" spc="-1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500" spc="-25">
                <a:solidFill>
                  <a:srgbClr val="191B0E"/>
                </a:solidFill>
                <a:latin typeface="Times New Roman"/>
                <a:cs typeface="Times New Roman"/>
              </a:rPr>
              <a:t>N3</a:t>
            </a:r>
            <a:endParaRPr sz="1500">
              <a:latin typeface="Times New Roman"/>
              <a:cs typeface="Times New Roman"/>
            </a:endParaRPr>
          </a:p>
          <a:p>
            <a:pPr marL="12700" marR="1195070" indent="243204">
              <a:lnSpc>
                <a:spcPct val="138700"/>
              </a:lnSpc>
            </a:pPr>
            <a:r>
              <a:rPr dirty="0" sz="1500" spc="-10">
                <a:solidFill>
                  <a:srgbClr val="191B0E"/>
                </a:solidFill>
                <a:latin typeface="Times New Roman"/>
                <a:cs typeface="Times New Roman"/>
              </a:rPr>
              <a:t>endif </a:t>
            </a:r>
            <a:r>
              <a:rPr dirty="0" sz="1500" spc="-20">
                <a:solidFill>
                  <a:srgbClr val="191B0E"/>
                </a:solidFill>
                <a:latin typeface="Times New Roman"/>
                <a:cs typeface="Times New Roman"/>
              </a:rPr>
              <a:t>else</a:t>
            </a:r>
            <a:endParaRPr sz="1500">
              <a:latin typeface="Times New Roman"/>
              <a:cs typeface="Times New Roman"/>
            </a:endParaRPr>
          </a:p>
          <a:p>
            <a:pPr marL="304800">
              <a:lnSpc>
                <a:spcPct val="100000"/>
              </a:lnSpc>
              <a:spcBef>
                <a:spcPts val="720"/>
              </a:spcBef>
            </a:pPr>
            <a:r>
              <a:rPr dirty="0" sz="1500">
                <a:solidFill>
                  <a:srgbClr val="191B0E"/>
                </a:solidFill>
                <a:latin typeface="Times New Roman"/>
                <a:cs typeface="Times New Roman"/>
              </a:rPr>
              <a:t>if</a:t>
            </a:r>
            <a:r>
              <a:rPr dirty="0" sz="1500" spc="5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91B0E"/>
                </a:solidFill>
                <a:latin typeface="Times New Roman"/>
                <a:cs typeface="Times New Roman"/>
              </a:rPr>
              <a:t>(N2&gt;N3)</a:t>
            </a:r>
            <a:r>
              <a:rPr dirty="0" sz="1500" spc="5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500" spc="-20">
                <a:solidFill>
                  <a:srgbClr val="191B0E"/>
                </a:solidFill>
                <a:latin typeface="Times New Roman"/>
                <a:cs typeface="Times New Roman"/>
              </a:rPr>
              <a:t>then</a:t>
            </a:r>
            <a:endParaRPr sz="1500">
              <a:latin typeface="Times New Roman"/>
              <a:cs typeface="Times New Roman"/>
            </a:endParaRPr>
          </a:p>
          <a:p>
            <a:pPr marL="840105">
              <a:lnSpc>
                <a:spcPct val="100000"/>
              </a:lnSpc>
              <a:spcBef>
                <a:spcPts val="600"/>
              </a:spcBef>
            </a:pPr>
            <a:r>
              <a:rPr dirty="0" sz="1500">
                <a:solidFill>
                  <a:srgbClr val="191B0E"/>
                </a:solidFill>
                <a:latin typeface="Times New Roman"/>
                <a:cs typeface="Times New Roman"/>
              </a:rPr>
              <a:t>MAX</a:t>
            </a:r>
            <a:r>
              <a:rPr dirty="0" sz="1500" spc="37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91B0E"/>
                </a:solidFill>
                <a:latin typeface="Symbol"/>
                <a:cs typeface="Symbol"/>
              </a:rPr>
              <a:t></a:t>
            </a:r>
            <a:r>
              <a:rPr dirty="0" sz="1400" spc="-1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500" spc="-25">
                <a:solidFill>
                  <a:srgbClr val="191B0E"/>
                </a:solidFill>
                <a:latin typeface="Times New Roman"/>
                <a:cs typeface="Times New Roman"/>
              </a:rPr>
              <a:t>N2</a:t>
            </a:r>
            <a:endParaRPr sz="1500">
              <a:latin typeface="Times New Roman"/>
              <a:cs typeface="Times New Roman"/>
            </a:endParaRPr>
          </a:p>
          <a:p>
            <a:pPr marL="255904">
              <a:lnSpc>
                <a:spcPct val="100000"/>
              </a:lnSpc>
              <a:spcBef>
                <a:spcPts val="695"/>
              </a:spcBef>
            </a:pPr>
            <a:r>
              <a:rPr dirty="0" sz="1500" spc="-20">
                <a:solidFill>
                  <a:srgbClr val="191B0E"/>
                </a:solidFill>
                <a:latin typeface="Times New Roman"/>
                <a:cs typeface="Times New Roman"/>
              </a:rPr>
              <a:t>else</a:t>
            </a:r>
            <a:endParaRPr sz="1500">
              <a:latin typeface="Times New Roman"/>
              <a:cs typeface="Times New Roman"/>
            </a:endParaRPr>
          </a:p>
          <a:p>
            <a:pPr marL="840105">
              <a:lnSpc>
                <a:spcPct val="100000"/>
              </a:lnSpc>
              <a:spcBef>
                <a:spcPts val="695"/>
              </a:spcBef>
            </a:pPr>
            <a:r>
              <a:rPr dirty="0" sz="1500">
                <a:solidFill>
                  <a:srgbClr val="191B0E"/>
                </a:solidFill>
                <a:latin typeface="Times New Roman"/>
                <a:cs typeface="Times New Roman"/>
              </a:rPr>
              <a:t>MAX</a:t>
            </a:r>
            <a:r>
              <a:rPr dirty="0" sz="1500" spc="-1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91B0E"/>
                </a:solidFill>
                <a:latin typeface="Symbol"/>
                <a:cs typeface="Symbol"/>
              </a:rPr>
              <a:t></a:t>
            </a:r>
            <a:r>
              <a:rPr dirty="0" sz="1400" spc="-1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500" spc="-25">
                <a:solidFill>
                  <a:srgbClr val="191B0E"/>
                </a:solidFill>
                <a:latin typeface="Times New Roman"/>
                <a:cs typeface="Times New Roman"/>
              </a:rPr>
              <a:t>N3</a:t>
            </a:r>
            <a:endParaRPr sz="1500">
              <a:latin typeface="Times New Roman"/>
              <a:cs typeface="Times New Roman"/>
            </a:endParaRPr>
          </a:p>
          <a:p>
            <a:pPr marL="12700" marR="1243330" indent="194310">
              <a:lnSpc>
                <a:spcPct val="138700"/>
              </a:lnSpc>
            </a:pPr>
            <a:r>
              <a:rPr dirty="0" sz="1500" spc="-10">
                <a:solidFill>
                  <a:srgbClr val="191B0E"/>
                </a:solidFill>
                <a:latin typeface="Times New Roman"/>
                <a:cs typeface="Times New Roman"/>
              </a:rPr>
              <a:t>endif endif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03652" y="6262167"/>
            <a:ext cx="3491229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191B0E"/>
                </a:solidFill>
                <a:latin typeface="Times New Roman"/>
                <a:cs typeface="Times New Roman"/>
              </a:rPr>
              <a:t>Step</a:t>
            </a:r>
            <a:r>
              <a:rPr dirty="0" sz="1500" spc="6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500" b="1">
                <a:solidFill>
                  <a:srgbClr val="191B0E"/>
                </a:solidFill>
                <a:latin typeface="Times New Roman"/>
                <a:cs typeface="Times New Roman"/>
              </a:rPr>
              <a:t>3:</a:t>
            </a:r>
            <a:r>
              <a:rPr dirty="0" sz="1500" spc="6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91B0E"/>
                </a:solidFill>
                <a:latin typeface="Times New Roman"/>
                <a:cs typeface="Times New Roman"/>
              </a:rPr>
              <a:t>Print</a:t>
            </a:r>
            <a:r>
              <a:rPr dirty="0" sz="1500" spc="5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91B0E"/>
                </a:solidFill>
                <a:latin typeface="Times New Roman"/>
                <a:cs typeface="Times New Roman"/>
              </a:rPr>
              <a:t>“The</a:t>
            </a:r>
            <a:r>
              <a:rPr dirty="0" sz="1500" spc="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91B0E"/>
                </a:solidFill>
                <a:latin typeface="Times New Roman"/>
                <a:cs typeface="Times New Roman"/>
              </a:rPr>
              <a:t>largest</a:t>
            </a:r>
            <a:r>
              <a:rPr dirty="0" sz="1500" spc="5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91B0E"/>
                </a:solidFill>
                <a:latin typeface="Times New Roman"/>
                <a:cs typeface="Times New Roman"/>
              </a:rPr>
              <a:t>number</a:t>
            </a:r>
            <a:r>
              <a:rPr dirty="0" sz="1500" spc="5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91B0E"/>
                </a:solidFill>
                <a:latin typeface="Times New Roman"/>
                <a:cs typeface="Times New Roman"/>
              </a:rPr>
              <a:t>is”,</a:t>
            </a:r>
            <a:r>
              <a:rPr dirty="0" sz="1500" spc="5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1500" spc="-25">
                <a:solidFill>
                  <a:srgbClr val="191B0E"/>
                </a:solidFill>
                <a:latin typeface="Times New Roman"/>
                <a:cs typeface="Times New Roman"/>
              </a:rPr>
              <a:t>MAX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33019" rIns="0" bIns="0" rtlCol="0" vert="horz">
            <a:spAutoFit/>
          </a:bodyPr>
          <a:lstStyle/>
          <a:p>
            <a:pPr marL="3596004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130"/>
              <a:t> </a:t>
            </a:r>
            <a:r>
              <a:rPr dirty="0" spc="-50"/>
              <a:t>6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386332" y="2785954"/>
            <a:ext cx="60801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5290" indent="-402590">
              <a:lnSpc>
                <a:spcPct val="100000"/>
              </a:lnSpc>
              <a:spcBef>
                <a:spcPts val="100"/>
              </a:spcBef>
              <a:buFont typeface="Franklin Gothic Medium"/>
              <a:buChar char="■"/>
              <a:tabLst>
                <a:tab pos="415290" algn="l"/>
              </a:tabLst>
            </a:pP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Draw</a:t>
            </a:r>
            <a:r>
              <a:rPr dirty="0" sz="2400" spc="-9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the</a:t>
            </a:r>
            <a:r>
              <a:rPr dirty="0" sz="2400" spc="-5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flowchart</a:t>
            </a:r>
            <a:r>
              <a:rPr dirty="0" sz="2400" spc="-5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of</a:t>
            </a:r>
            <a:r>
              <a:rPr dirty="0" sz="2400" spc="-4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the</a:t>
            </a:r>
            <a:r>
              <a:rPr dirty="0" sz="2400" spc="-5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20" b="1">
                <a:solidFill>
                  <a:srgbClr val="191B0E"/>
                </a:solidFill>
                <a:latin typeface="Times New Roman"/>
                <a:cs typeface="Times New Roman"/>
              </a:rPr>
              <a:t>above</a:t>
            </a:r>
            <a:r>
              <a:rPr dirty="0" sz="2400" spc="-14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191B0E"/>
                </a:solidFill>
                <a:latin typeface="Times New Roman"/>
                <a:cs typeface="Times New Roman"/>
              </a:rPr>
              <a:t>Algorithm.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33019" rIns="0" bIns="0" rtlCol="0" vert="horz">
            <a:spAutoFit/>
          </a:bodyPr>
          <a:lstStyle/>
          <a:p>
            <a:pPr marL="3596004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130"/>
              <a:t> </a:t>
            </a:r>
            <a:r>
              <a:rPr dirty="0" spc="-50"/>
              <a:t>7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37044" y="2225023"/>
            <a:ext cx="7541895" cy="1781175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531495" indent="-518795">
              <a:lnSpc>
                <a:spcPct val="100000"/>
              </a:lnSpc>
              <a:spcBef>
                <a:spcPts val="940"/>
              </a:spcBef>
              <a:buFont typeface="Franklin Gothic Medium"/>
              <a:buChar char="■"/>
              <a:tabLst>
                <a:tab pos="531495" algn="l"/>
              </a:tabLst>
            </a:pP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Write</a:t>
            </a:r>
            <a:r>
              <a:rPr dirty="0" sz="2400" spc="-8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an</a:t>
            </a:r>
            <a:r>
              <a:rPr dirty="0" sz="2400" spc="-7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algorithm</a:t>
            </a:r>
            <a:r>
              <a:rPr dirty="0" sz="2400" spc="-8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and</a:t>
            </a:r>
            <a:r>
              <a:rPr dirty="0" sz="2400" spc="-7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draw</a:t>
            </a:r>
            <a:r>
              <a:rPr dirty="0" sz="2400" spc="-8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a</a:t>
            </a:r>
            <a:r>
              <a:rPr dirty="0" sz="2400" spc="-8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flowchart</a:t>
            </a:r>
            <a:r>
              <a:rPr dirty="0" sz="2400" spc="-7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25" b="1">
                <a:solidFill>
                  <a:srgbClr val="191B0E"/>
                </a:solidFill>
                <a:latin typeface="Times New Roman"/>
                <a:cs typeface="Times New Roman"/>
              </a:rPr>
              <a:t>to</a:t>
            </a:r>
            <a:endParaRPr sz="2400">
              <a:latin typeface="Times New Roman"/>
              <a:cs typeface="Times New Roman"/>
            </a:endParaRPr>
          </a:p>
          <a:p>
            <a:pPr marL="532130" marR="5080" indent="-519430">
              <a:lnSpc>
                <a:spcPts val="2690"/>
              </a:lnSpc>
              <a:spcBef>
                <a:spcPts val="1085"/>
              </a:spcBef>
              <a:buAutoNum type="alphaLcParenR"/>
              <a:tabLst>
                <a:tab pos="532130" algn="l"/>
              </a:tabLst>
            </a:pP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read</a:t>
            </a:r>
            <a:r>
              <a:rPr dirty="0" sz="2400" spc="-7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an</a:t>
            </a:r>
            <a:r>
              <a:rPr dirty="0" sz="2400" spc="-7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employee</a:t>
            </a:r>
            <a:r>
              <a:rPr dirty="0" sz="2400" spc="-7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name</a:t>
            </a:r>
            <a:r>
              <a:rPr dirty="0" sz="2400" spc="-7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(NAME),</a:t>
            </a:r>
            <a:r>
              <a:rPr dirty="0" sz="24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overtime</a:t>
            </a:r>
            <a:r>
              <a:rPr dirty="0" sz="2400" spc="-7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hours</a:t>
            </a:r>
            <a:r>
              <a:rPr dirty="0" sz="2400" spc="-7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worked </a:t>
            </a:r>
            <a:r>
              <a:rPr dirty="0" sz="2400" spc="-25">
                <a:solidFill>
                  <a:srgbClr val="191B0E"/>
                </a:solidFill>
                <a:latin typeface="Times New Roman"/>
                <a:cs typeface="Times New Roman"/>
              </a:rPr>
              <a:t>(OVERTIME),</a:t>
            </a:r>
            <a:r>
              <a:rPr dirty="0" sz="2400" spc="-8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hours</a:t>
            </a:r>
            <a:r>
              <a:rPr dirty="0" sz="2400" spc="-9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absent</a:t>
            </a:r>
            <a:r>
              <a:rPr dirty="0" sz="2400" spc="-9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(ABSENT)</a:t>
            </a:r>
            <a:r>
              <a:rPr dirty="0" sz="2400" spc="-8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191B0E"/>
                </a:solidFill>
                <a:latin typeface="Times New Roman"/>
                <a:cs typeface="Times New Roman"/>
              </a:rPr>
              <a:t>and</a:t>
            </a:r>
            <a:endParaRPr sz="2400">
              <a:latin typeface="Times New Roman"/>
              <a:cs typeface="Times New Roman"/>
            </a:endParaRPr>
          </a:p>
          <a:p>
            <a:pPr marL="531495" indent="-518795">
              <a:lnSpc>
                <a:spcPct val="100000"/>
              </a:lnSpc>
              <a:spcBef>
                <a:spcPts val="760"/>
              </a:spcBef>
              <a:buAutoNum type="alphaLcParenR"/>
              <a:tabLst>
                <a:tab pos="531495" algn="l"/>
              </a:tabLst>
            </a:pP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determine</a:t>
            </a:r>
            <a:r>
              <a:rPr dirty="0" sz="2400" spc="-9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the</a:t>
            </a:r>
            <a:r>
              <a:rPr dirty="0" sz="2400" spc="-8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bonus</a:t>
            </a:r>
            <a:r>
              <a:rPr dirty="0" sz="2400" spc="-8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payment</a:t>
            </a:r>
            <a:r>
              <a:rPr dirty="0" sz="2400" spc="-8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(PAYMENT).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7947" rIns="0" bIns="0" rtlCol="0" vert="horz">
            <a:spAutoFit/>
          </a:bodyPr>
          <a:lstStyle/>
          <a:p>
            <a:pPr marL="3531235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130"/>
              <a:t> </a:t>
            </a:r>
            <a:r>
              <a:rPr dirty="0" spc="-50"/>
              <a:t>7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911292" y="2510924"/>
          <a:ext cx="9437370" cy="3309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80660"/>
                <a:gridCol w="4068445"/>
              </a:tblGrid>
              <a:tr h="504190">
                <a:tc gridSpan="2"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Bonus</a:t>
                      </a:r>
                      <a:r>
                        <a:rPr dirty="0" sz="24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Schedule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03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862330"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2400" spc="-25">
                          <a:latin typeface="Times New Roman"/>
                          <a:cs typeface="Times New Roman"/>
                        </a:rPr>
                        <a:t>OVERTIME</a:t>
                      </a:r>
                      <a:r>
                        <a:rPr dirty="0" sz="2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dirty="0" sz="2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(2/3)*ABSENT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Bonus</a:t>
                      </a:r>
                      <a:r>
                        <a:rPr dirty="0" sz="24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20">
                          <a:latin typeface="Times New Roman"/>
                          <a:cs typeface="Times New Roman"/>
                        </a:rPr>
                        <a:t>Paid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43100">
                <a:tc>
                  <a:txBody>
                    <a:bodyPr/>
                    <a:lstStyle/>
                    <a:p>
                      <a:pPr marL="103505">
                        <a:lnSpc>
                          <a:spcPts val="2830"/>
                        </a:lnSpc>
                        <a:spcBef>
                          <a:spcPts val="21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&gt;40</a:t>
                      </a:r>
                      <a:r>
                        <a:rPr dirty="0" sz="2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20">
                          <a:latin typeface="Times New Roman"/>
                          <a:cs typeface="Times New Roman"/>
                        </a:rPr>
                        <a:t>hours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ts val="2830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&gt;30</a:t>
                      </a:r>
                      <a:r>
                        <a:rPr dirty="0" sz="2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but</a:t>
                      </a:r>
                      <a:r>
                        <a:rPr dirty="0" sz="2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Symbol"/>
                          <a:cs typeface="Symbol"/>
                        </a:rPr>
                        <a:t></a:t>
                      </a:r>
                      <a:r>
                        <a:rPr dirty="0" sz="2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40</a:t>
                      </a:r>
                      <a:r>
                        <a:rPr dirty="0" sz="2400" spc="-20">
                          <a:latin typeface="Times New Roman"/>
                          <a:cs typeface="Times New Roman"/>
                        </a:rPr>
                        <a:t> hours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ts val="2845"/>
                        </a:lnSpc>
                        <a:spcBef>
                          <a:spcPts val="2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&gt;20</a:t>
                      </a:r>
                      <a:r>
                        <a:rPr dirty="0" sz="2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but</a:t>
                      </a:r>
                      <a:r>
                        <a:rPr dirty="0" sz="2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Symbol"/>
                          <a:cs typeface="Symbol"/>
                        </a:rPr>
                        <a:t></a:t>
                      </a:r>
                      <a:r>
                        <a:rPr dirty="0" sz="2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30</a:t>
                      </a:r>
                      <a:r>
                        <a:rPr dirty="0" sz="2400" spc="-20">
                          <a:latin typeface="Times New Roman"/>
                          <a:cs typeface="Times New Roman"/>
                        </a:rPr>
                        <a:t> hours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ts val="2845"/>
                        </a:lnSpc>
                        <a:tabLst>
                          <a:tab pos="1433195" algn="l"/>
                        </a:tabLst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&gt;10</a:t>
                      </a:r>
                      <a:r>
                        <a:rPr dirty="0" sz="2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but</a:t>
                      </a:r>
                      <a:r>
                        <a:rPr dirty="0" sz="2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50">
                          <a:latin typeface="Symbol"/>
                          <a:cs typeface="Symbol"/>
                        </a:rPr>
                        <a:t>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	20</a:t>
                      </a:r>
                      <a:r>
                        <a:rPr dirty="0" sz="2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hours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  <a:spcBef>
                          <a:spcPts val="25"/>
                        </a:spcBef>
                        <a:tabLst>
                          <a:tab pos="421640" algn="l"/>
                        </a:tabLst>
                      </a:pPr>
                      <a:r>
                        <a:rPr dirty="0" sz="2400" spc="-50">
                          <a:latin typeface="Symbol"/>
                          <a:cs typeface="Symbol"/>
                        </a:rPr>
                        <a:t>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	10</a:t>
                      </a:r>
                      <a:r>
                        <a:rPr dirty="0" sz="2400" spc="-20">
                          <a:latin typeface="Times New Roman"/>
                          <a:cs typeface="Times New Roman"/>
                        </a:rPr>
                        <a:t> hours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2830"/>
                        </a:lnSpc>
                        <a:spcBef>
                          <a:spcPts val="215"/>
                        </a:spcBef>
                      </a:pPr>
                      <a:r>
                        <a:rPr dirty="0" sz="2400" spc="-25">
                          <a:latin typeface="Times New Roman"/>
                          <a:cs typeface="Times New Roman"/>
                        </a:rPr>
                        <a:t>$50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ts val="2830"/>
                        </a:lnSpc>
                      </a:pPr>
                      <a:r>
                        <a:rPr dirty="0" sz="2400" spc="-25">
                          <a:latin typeface="Times New Roman"/>
                          <a:cs typeface="Times New Roman"/>
                        </a:rPr>
                        <a:t>$40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ts val="2845"/>
                        </a:lnSpc>
                        <a:spcBef>
                          <a:spcPts val="25"/>
                        </a:spcBef>
                      </a:pPr>
                      <a:r>
                        <a:rPr dirty="0" sz="2400" spc="-25">
                          <a:latin typeface="Times New Roman"/>
                          <a:cs typeface="Times New Roman"/>
                        </a:rPr>
                        <a:t>$30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ts val="2845"/>
                        </a:lnSpc>
                      </a:pPr>
                      <a:r>
                        <a:rPr dirty="0" sz="2400" spc="-25">
                          <a:latin typeface="Times New Roman"/>
                          <a:cs typeface="Times New Roman"/>
                        </a:rPr>
                        <a:t>$20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400" spc="-25">
                          <a:latin typeface="Times New Roman"/>
                          <a:cs typeface="Times New Roman"/>
                        </a:rPr>
                        <a:t>$10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34117" rIns="0" bIns="0" rtlCol="0" vert="horz">
            <a:spAutoFit/>
          </a:bodyPr>
          <a:lstStyle/>
          <a:p>
            <a:pPr marL="322580">
              <a:lnSpc>
                <a:spcPct val="100000"/>
              </a:lnSpc>
              <a:spcBef>
                <a:spcPts val="100"/>
              </a:spcBef>
            </a:pPr>
            <a:r>
              <a:rPr dirty="0" u="heavy" sz="2400" spc="-1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Algorithm:</a:t>
            </a:r>
            <a:endParaRPr sz="2400"/>
          </a:p>
        </p:txBody>
      </p:sp>
      <p:sp>
        <p:nvSpPr>
          <p:cNvPr id="3" name="object 3" descr=""/>
          <p:cNvSpPr txBox="1"/>
          <p:nvPr/>
        </p:nvSpPr>
        <p:spPr>
          <a:xfrm>
            <a:off x="1047260" y="2071693"/>
            <a:ext cx="5587365" cy="4036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14400" algn="l"/>
              </a:tabLst>
            </a:pPr>
            <a:r>
              <a:rPr dirty="0" sz="2000" b="1">
                <a:latin typeface="Times New Roman"/>
                <a:cs typeface="Times New Roman"/>
              </a:rPr>
              <a:t>Step</a:t>
            </a:r>
            <a:r>
              <a:rPr dirty="0" sz="2000" spc="90" b="1">
                <a:latin typeface="Times New Roman"/>
                <a:cs typeface="Times New Roman"/>
              </a:rPr>
              <a:t> </a:t>
            </a:r>
            <a:r>
              <a:rPr dirty="0" sz="2000" spc="-25" b="1">
                <a:latin typeface="Times New Roman"/>
                <a:cs typeface="Times New Roman"/>
              </a:rPr>
              <a:t>1:</a:t>
            </a:r>
            <a:r>
              <a:rPr dirty="0" sz="2000" b="1">
                <a:latin typeface="Times New Roman"/>
                <a:cs typeface="Times New Roman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Input</a:t>
            </a:r>
            <a:r>
              <a:rPr dirty="0" sz="2000" spc="9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NAME,OVERTIME,ABSENT</a:t>
            </a:r>
            <a:endParaRPr sz="2000">
              <a:latin typeface="Times New Roman"/>
              <a:cs typeface="Times New Roman"/>
            </a:endParaRPr>
          </a:p>
          <a:p>
            <a:pPr marL="1116330" marR="191770" indent="-1104265">
              <a:lnSpc>
                <a:spcPct val="100000"/>
              </a:lnSpc>
            </a:pPr>
            <a:r>
              <a:rPr dirty="0" sz="2000" b="1">
                <a:latin typeface="Times New Roman"/>
                <a:cs typeface="Times New Roman"/>
              </a:rPr>
              <a:t>Step</a:t>
            </a:r>
            <a:r>
              <a:rPr dirty="0" sz="2000" spc="9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2:</a:t>
            </a:r>
            <a:r>
              <a:rPr dirty="0" sz="2000" spc="8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if</a:t>
            </a:r>
            <a:r>
              <a:rPr dirty="0" sz="2000" spc="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(OVERTIME–(2/3)*ABSENT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&gt;</a:t>
            </a:r>
            <a:r>
              <a:rPr dirty="0" sz="2000" spc="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40)</a:t>
            </a:r>
            <a:r>
              <a:rPr dirty="0" sz="2000" spc="8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then </a:t>
            </a:r>
            <a:r>
              <a:rPr dirty="0" sz="2000">
                <a:latin typeface="Times New Roman"/>
                <a:cs typeface="Times New Roman"/>
              </a:rPr>
              <a:t>PAYMENT</a:t>
            </a:r>
            <a:r>
              <a:rPr dirty="0" sz="2000" spc="210">
                <a:latin typeface="Times New Roman"/>
                <a:cs typeface="Times New Roman"/>
              </a:rPr>
              <a:t> </a:t>
            </a:r>
            <a:r>
              <a:rPr dirty="0" sz="1500">
                <a:latin typeface="Symbol"/>
                <a:cs typeface="Symbol"/>
              </a:rPr>
              <a:t></a:t>
            </a:r>
            <a:r>
              <a:rPr dirty="0" sz="1500" spc="6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50</a:t>
            </a:r>
            <a:endParaRPr sz="2000">
              <a:latin typeface="Times New Roman"/>
              <a:cs typeface="Times New Roman"/>
            </a:endParaRPr>
          </a:p>
          <a:p>
            <a:pPr marL="856615" marR="106680" indent="-389890">
              <a:lnSpc>
                <a:spcPct val="100000"/>
              </a:lnSpc>
              <a:spcBef>
                <a:spcPts val="95"/>
              </a:spcBef>
            </a:pPr>
            <a:r>
              <a:rPr dirty="0" sz="2000">
                <a:latin typeface="Times New Roman"/>
                <a:cs typeface="Times New Roman"/>
              </a:rPr>
              <a:t>else</a:t>
            </a:r>
            <a:r>
              <a:rPr dirty="0" sz="2000" spc="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if</a:t>
            </a:r>
            <a:r>
              <a:rPr dirty="0" sz="2000" spc="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(OVERTIME–(2/3)*ABSENT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&gt;</a:t>
            </a:r>
            <a:r>
              <a:rPr dirty="0" sz="2000" spc="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30)</a:t>
            </a:r>
            <a:r>
              <a:rPr dirty="0" sz="2000" spc="9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then </a:t>
            </a:r>
            <a:r>
              <a:rPr dirty="0" sz="2000">
                <a:latin typeface="Times New Roman"/>
                <a:cs typeface="Times New Roman"/>
              </a:rPr>
              <a:t>PAYMENT</a:t>
            </a:r>
            <a:r>
              <a:rPr dirty="0" sz="2000" spc="210">
                <a:latin typeface="Times New Roman"/>
                <a:cs typeface="Times New Roman"/>
              </a:rPr>
              <a:t> </a:t>
            </a:r>
            <a:r>
              <a:rPr dirty="0" sz="1500">
                <a:latin typeface="Symbol"/>
                <a:cs typeface="Symbol"/>
              </a:rPr>
              <a:t></a:t>
            </a:r>
            <a:r>
              <a:rPr dirty="0" sz="1500" spc="6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40</a:t>
            </a:r>
            <a:endParaRPr sz="2000">
              <a:latin typeface="Times New Roman"/>
              <a:cs typeface="Times New Roman"/>
            </a:endParaRPr>
          </a:p>
          <a:p>
            <a:pPr marL="856615" marR="106680" indent="-389890">
              <a:lnSpc>
                <a:spcPct val="100000"/>
              </a:lnSpc>
              <a:spcBef>
                <a:spcPts val="95"/>
              </a:spcBef>
            </a:pPr>
            <a:r>
              <a:rPr dirty="0" sz="2000">
                <a:latin typeface="Times New Roman"/>
                <a:cs typeface="Times New Roman"/>
              </a:rPr>
              <a:t>else</a:t>
            </a:r>
            <a:r>
              <a:rPr dirty="0" sz="2000" spc="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if</a:t>
            </a:r>
            <a:r>
              <a:rPr dirty="0" sz="2000" spc="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(OVERTIME–(2/3)*ABSENT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&gt;</a:t>
            </a:r>
            <a:r>
              <a:rPr dirty="0" sz="2000" spc="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20)</a:t>
            </a:r>
            <a:r>
              <a:rPr dirty="0" sz="2000" spc="9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then </a:t>
            </a:r>
            <a:r>
              <a:rPr dirty="0" sz="2000">
                <a:latin typeface="Times New Roman"/>
                <a:cs typeface="Times New Roman"/>
              </a:rPr>
              <a:t>PAYMENT</a:t>
            </a:r>
            <a:r>
              <a:rPr dirty="0" sz="2000" spc="210">
                <a:latin typeface="Times New Roman"/>
                <a:cs typeface="Times New Roman"/>
              </a:rPr>
              <a:t> </a:t>
            </a:r>
            <a:r>
              <a:rPr dirty="0" sz="1500">
                <a:latin typeface="Symbol"/>
                <a:cs typeface="Symbol"/>
              </a:rPr>
              <a:t></a:t>
            </a:r>
            <a:r>
              <a:rPr dirty="0" sz="1500" spc="6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30</a:t>
            </a:r>
            <a:endParaRPr sz="2000">
              <a:latin typeface="Times New Roman"/>
              <a:cs typeface="Times New Roman"/>
            </a:endParaRPr>
          </a:p>
          <a:p>
            <a:pPr marL="856615" marR="106680" indent="-389890">
              <a:lnSpc>
                <a:spcPts val="2500"/>
              </a:lnSpc>
            </a:pPr>
            <a:r>
              <a:rPr dirty="0" sz="2000">
                <a:latin typeface="Times New Roman"/>
                <a:cs typeface="Times New Roman"/>
              </a:rPr>
              <a:t>else</a:t>
            </a:r>
            <a:r>
              <a:rPr dirty="0" sz="2000" spc="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if</a:t>
            </a:r>
            <a:r>
              <a:rPr dirty="0" sz="2000" spc="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(OVERTIME–(2/3)*ABSENT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&gt;</a:t>
            </a:r>
            <a:r>
              <a:rPr dirty="0" sz="2000" spc="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10)</a:t>
            </a:r>
            <a:r>
              <a:rPr dirty="0" sz="2000" spc="9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then </a:t>
            </a:r>
            <a:r>
              <a:rPr dirty="0" sz="2000">
                <a:latin typeface="Times New Roman"/>
                <a:cs typeface="Times New Roman"/>
              </a:rPr>
              <a:t>PAYMENT</a:t>
            </a:r>
            <a:r>
              <a:rPr dirty="0" sz="2000" spc="110">
                <a:latin typeface="Times New Roman"/>
                <a:cs typeface="Times New Roman"/>
              </a:rPr>
              <a:t> </a:t>
            </a:r>
            <a:r>
              <a:rPr dirty="0" sz="1500" spc="-25">
                <a:latin typeface="Symbol"/>
                <a:cs typeface="Symbol"/>
              </a:rPr>
              <a:t></a:t>
            </a:r>
            <a:r>
              <a:rPr dirty="0" sz="2000" spc="-25">
                <a:latin typeface="Times New Roman"/>
                <a:cs typeface="Times New Roman"/>
              </a:rPr>
              <a:t>20</a:t>
            </a:r>
            <a:endParaRPr sz="2000">
              <a:latin typeface="Times New Roman"/>
              <a:cs typeface="Times New Roman"/>
            </a:endParaRPr>
          </a:p>
          <a:p>
            <a:pPr marL="466725">
              <a:lnSpc>
                <a:spcPts val="2295"/>
              </a:lnSpc>
            </a:pPr>
            <a:r>
              <a:rPr dirty="0" sz="2000" spc="-20">
                <a:latin typeface="Times New Roman"/>
                <a:cs typeface="Times New Roman"/>
              </a:rPr>
              <a:t>else</a:t>
            </a:r>
            <a:endParaRPr sz="2000">
              <a:latin typeface="Times New Roman"/>
              <a:cs typeface="Times New Roman"/>
            </a:endParaRPr>
          </a:p>
          <a:p>
            <a:pPr marL="856615">
              <a:lnSpc>
                <a:spcPct val="100000"/>
              </a:lnSpc>
              <a:spcBef>
                <a:spcPts val="95"/>
              </a:spcBef>
            </a:pPr>
            <a:r>
              <a:rPr dirty="0" sz="2000" spc="-40">
                <a:latin typeface="Times New Roman"/>
                <a:cs typeface="Times New Roman"/>
              </a:rPr>
              <a:t>PAYMENT</a:t>
            </a:r>
            <a:r>
              <a:rPr dirty="0" sz="2000" spc="-90">
                <a:latin typeface="Times New Roman"/>
                <a:cs typeface="Times New Roman"/>
              </a:rPr>
              <a:t> </a:t>
            </a:r>
            <a:r>
              <a:rPr dirty="0" sz="1500">
                <a:latin typeface="Symbol"/>
                <a:cs typeface="Symbol"/>
              </a:rPr>
              <a:t></a:t>
            </a:r>
            <a:r>
              <a:rPr dirty="0" sz="1500" spc="17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10</a:t>
            </a:r>
            <a:endParaRPr sz="2000">
              <a:latin typeface="Times New Roman"/>
              <a:cs typeface="Times New Roman"/>
            </a:endParaRPr>
          </a:p>
          <a:p>
            <a:pPr marL="466725">
              <a:lnSpc>
                <a:spcPct val="100000"/>
              </a:lnSpc>
            </a:pPr>
            <a:r>
              <a:rPr dirty="0" sz="2000" spc="-10">
                <a:latin typeface="Times New Roman"/>
                <a:cs typeface="Times New Roman"/>
              </a:rPr>
              <a:t>endif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 b="1">
                <a:latin typeface="Times New Roman"/>
                <a:cs typeface="Times New Roman"/>
              </a:rPr>
              <a:t>Step</a:t>
            </a:r>
            <a:r>
              <a:rPr dirty="0" sz="2000" spc="8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3:</a:t>
            </a:r>
            <a:r>
              <a:rPr dirty="0" sz="2000" spc="8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Print</a:t>
            </a:r>
            <a:r>
              <a:rPr dirty="0" sz="2000" spc="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“Bonus</a:t>
            </a:r>
            <a:r>
              <a:rPr dirty="0" sz="2000" spc="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for”,</a:t>
            </a:r>
            <a:r>
              <a:rPr dirty="0" sz="2000" spc="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NAME</a:t>
            </a:r>
            <a:r>
              <a:rPr dirty="0" sz="2000" spc="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“is</a:t>
            </a:r>
            <a:r>
              <a:rPr dirty="0" sz="2000" spc="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$”,</a:t>
            </a:r>
            <a:r>
              <a:rPr dirty="0" sz="2000" spc="7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PAYMENT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33019" rIns="0" bIns="0" rtlCol="0" vert="horz">
            <a:spAutoFit/>
          </a:bodyPr>
          <a:lstStyle/>
          <a:p>
            <a:pPr marL="3596004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130"/>
              <a:t> </a:t>
            </a:r>
            <a:r>
              <a:rPr dirty="0" spc="-50"/>
              <a:t>7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386332" y="2785954"/>
            <a:ext cx="60293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9725" indent="-327025">
              <a:lnSpc>
                <a:spcPct val="100000"/>
              </a:lnSpc>
              <a:spcBef>
                <a:spcPts val="100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Draw</a:t>
            </a:r>
            <a:r>
              <a:rPr dirty="0" sz="2400" spc="-7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the</a:t>
            </a:r>
            <a:r>
              <a:rPr dirty="0" sz="2400" spc="-7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flowchart</a:t>
            </a:r>
            <a:r>
              <a:rPr dirty="0" sz="2400" spc="-6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of</a:t>
            </a:r>
            <a:r>
              <a:rPr dirty="0" sz="2400" spc="-65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the</a:t>
            </a:r>
            <a:r>
              <a:rPr dirty="0" sz="2400" spc="-7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91B0E"/>
                </a:solidFill>
                <a:latin typeface="Times New Roman"/>
                <a:cs typeface="Times New Roman"/>
              </a:rPr>
              <a:t>above</a:t>
            </a:r>
            <a:r>
              <a:rPr dirty="0" sz="2400" spc="-70" b="1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191B0E"/>
                </a:solidFill>
                <a:latin typeface="Times New Roman"/>
                <a:cs typeface="Times New Roman"/>
              </a:rPr>
              <a:t>algorithm?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2238" y="2030050"/>
            <a:ext cx="8383270" cy="3082925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339725" marR="5080" indent="-327660">
              <a:lnSpc>
                <a:spcPts val="2690"/>
              </a:lnSpc>
              <a:spcBef>
                <a:spcPts val="345"/>
              </a:spcBef>
              <a:buFont typeface="Franklin Gothic Medium"/>
              <a:buChar char="■"/>
              <a:tabLst>
                <a:tab pos="339725" algn="l"/>
              </a:tabLst>
            </a:pPr>
            <a:r>
              <a:rPr dirty="0" sz="2400" spc="-20">
                <a:solidFill>
                  <a:srgbClr val="191B0E"/>
                </a:solidFill>
                <a:latin typeface="Times New Roman"/>
                <a:cs typeface="Times New Roman"/>
              </a:rPr>
              <a:t>A</a:t>
            </a:r>
            <a:r>
              <a:rPr dirty="0" sz="2400" spc="-14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programmer</a:t>
            </a:r>
            <a:r>
              <a:rPr dirty="0" sz="2400" spc="-9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has</a:t>
            </a:r>
            <a:r>
              <a:rPr dirty="0" sz="2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to</a:t>
            </a:r>
            <a:r>
              <a:rPr dirty="0" sz="24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go</a:t>
            </a:r>
            <a:r>
              <a:rPr dirty="0" sz="2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through</a:t>
            </a:r>
            <a:r>
              <a:rPr dirty="0" sz="2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the</a:t>
            </a:r>
            <a:r>
              <a:rPr dirty="0" sz="24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following</a:t>
            </a:r>
            <a:r>
              <a:rPr dirty="0" sz="2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stages</a:t>
            </a:r>
            <a:r>
              <a:rPr dirty="0" sz="24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to</a:t>
            </a:r>
            <a:r>
              <a:rPr dirty="0" sz="2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develop</a:t>
            </a:r>
            <a:r>
              <a:rPr dirty="0" sz="2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50">
                <a:solidFill>
                  <a:srgbClr val="191B0E"/>
                </a:solidFill>
                <a:latin typeface="Times New Roman"/>
                <a:cs typeface="Times New Roman"/>
              </a:rPr>
              <a:t>a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computer</a:t>
            </a:r>
            <a:r>
              <a:rPr dirty="0" sz="2400" spc="-9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program:</a:t>
            </a:r>
            <a:endParaRPr sz="2400">
              <a:latin typeface="Times New Roman"/>
              <a:cs typeface="Times New Roman"/>
            </a:endParaRPr>
          </a:p>
          <a:p>
            <a:pPr marL="450850" indent="-438150">
              <a:lnSpc>
                <a:spcPct val="100000"/>
              </a:lnSpc>
              <a:spcBef>
                <a:spcPts val="780"/>
              </a:spcBef>
              <a:buAutoNum type="arabicPeriod"/>
              <a:tabLst>
                <a:tab pos="450850" algn="l"/>
              </a:tabLst>
            </a:pP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Defining</a:t>
            </a:r>
            <a:r>
              <a:rPr dirty="0" sz="2400" spc="-15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and</a:t>
            </a:r>
            <a:r>
              <a:rPr dirty="0" sz="2400" spc="-14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Analyzing</a:t>
            </a:r>
            <a:r>
              <a:rPr dirty="0" sz="2400" spc="-9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Problem</a:t>
            </a:r>
            <a:endParaRPr sz="2400">
              <a:latin typeface="Times New Roman"/>
              <a:cs typeface="Times New Roman"/>
            </a:endParaRPr>
          </a:p>
          <a:p>
            <a:pPr marL="450850" indent="-438150">
              <a:lnSpc>
                <a:spcPct val="100000"/>
              </a:lnSpc>
              <a:spcBef>
                <a:spcPts val="815"/>
              </a:spcBef>
              <a:buAutoNum type="arabicPeriod"/>
              <a:tabLst>
                <a:tab pos="450850" algn="l"/>
              </a:tabLst>
            </a:pP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Designing</a:t>
            </a:r>
            <a:r>
              <a:rPr dirty="0" sz="2400" spc="-114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the</a:t>
            </a:r>
            <a:r>
              <a:rPr dirty="0" sz="2400" spc="-14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Algorithm</a:t>
            </a:r>
            <a:endParaRPr sz="2400">
              <a:latin typeface="Times New Roman"/>
              <a:cs typeface="Times New Roman"/>
            </a:endParaRPr>
          </a:p>
          <a:p>
            <a:pPr marL="450850" indent="-438150">
              <a:lnSpc>
                <a:spcPct val="100000"/>
              </a:lnSpc>
              <a:spcBef>
                <a:spcPts val="820"/>
              </a:spcBef>
              <a:buAutoNum type="arabicPeriod"/>
              <a:tabLst>
                <a:tab pos="450850" algn="l"/>
              </a:tabLst>
            </a:pP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Coding</a:t>
            </a:r>
            <a:r>
              <a:rPr dirty="0" sz="24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or</a:t>
            </a:r>
            <a:r>
              <a:rPr dirty="0" sz="2400" spc="-9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Writing</a:t>
            </a:r>
            <a:r>
              <a:rPr dirty="0" sz="2400" spc="-60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the</a:t>
            </a:r>
            <a:r>
              <a:rPr dirty="0" sz="2400" spc="-6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Program</a:t>
            </a:r>
            <a:endParaRPr sz="2400">
              <a:latin typeface="Times New Roman"/>
              <a:cs typeface="Times New Roman"/>
            </a:endParaRPr>
          </a:p>
          <a:p>
            <a:pPr marL="450850" indent="-438150">
              <a:lnSpc>
                <a:spcPct val="100000"/>
              </a:lnSpc>
              <a:spcBef>
                <a:spcPts val="815"/>
              </a:spcBef>
              <a:buAutoNum type="arabicPeriod"/>
              <a:tabLst>
                <a:tab pos="450850" algn="l"/>
              </a:tabLst>
            </a:pPr>
            <a:r>
              <a:rPr dirty="0" sz="2400" spc="-20">
                <a:solidFill>
                  <a:srgbClr val="191B0E"/>
                </a:solidFill>
                <a:latin typeface="Times New Roman"/>
                <a:cs typeface="Times New Roman"/>
              </a:rPr>
              <a:t>Testing</a:t>
            </a:r>
            <a:r>
              <a:rPr dirty="0" sz="2400" spc="-114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Program</a:t>
            </a:r>
            <a:endParaRPr sz="2400">
              <a:latin typeface="Times New Roman"/>
              <a:cs typeface="Times New Roman"/>
            </a:endParaRPr>
          </a:p>
          <a:p>
            <a:pPr marL="450850" indent="-438150">
              <a:lnSpc>
                <a:spcPct val="100000"/>
              </a:lnSpc>
              <a:spcBef>
                <a:spcPts val="815"/>
              </a:spcBef>
              <a:buAutoNum type="arabicPeriod"/>
              <a:tabLst>
                <a:tab pos="450850" algn="l"/>
              </a:tabLst>
            </a:pPr>
            <a:r>
              <a:rPr dirty="0" sz="2400">
                <a:solidFill>
                  <a:srgbClr val="191B0E"/>
                </a:solidFill>
                <a:latin typeface="Times New Roman"/>
                <a:cs typeface="Times New Roman"/>
              </a:rPr>
              <a:t>Final</a:t>
            </a:r>
            <a:r>
              <a:rPr dirty="0" sz="2400" spc="-45">
                <a:solidFill>
                  <a:srgbClr val="191B0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91B0E"/>
                </a:solidFill>
                <a:latin typeface="Times New Roman"/>
                <a:cs typeface="Times New Roman"/>
              </a:rPr>
              <a:t>Documentation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9867" y="865505"/>
            <a:ext cx="9766300" cy="650875"/>
          </a:xfrm>
          <a:prstGeom prst="rect"/>
          <a:ln w="29758">
            <a:solidFill>
              <a:srgbClr val="000000"/>
            </a:solidFill>
          </a:ln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cap="small">
                <a:solidFill>
                  <a:srgbClr val="000000"/>
                </a:solidFill>
                <a:latin typeface="Constantia"/>
                <a:cs typeface="Constantia"/>
              </a:rPr>
              <a:t>Program</a:t>
            </a:r>
            <a:r>
              <a:rPr dirty="0" cap="small" spc="215">
                <a:solidFill>
                  <a:srgbClr val="000000"/>
                </a:solidFill>
                <a:latin typeface="Constantia"/>
                <a:cs typeface="Constantia"/>
              </a:rPr>
              <a:t> </a:t>
            </a:r>
            <a:r>
              <a:rPr dirty="0" cap="small">
                <a:solidFill>
                  <a:srgbClr val="000000"/>
                </a:solidFill>
                <a:latin typeface="Constantia"/>
                <a:cs typeface="Constantia"/>
              </a:rPr>
              <a:t>development</a:t>
            </a:r>
            <a:r>
              <a:rPr dirty="0" cap="small" spc="170">
                <a:solidFill>
                  <a:srgbClr val="000000"/>
                </a:solidFill>
                <a:latin typeface="Constantia"/>
                <a:cs typeface="Constantia"/>
              </a:rPr>
              <a:t> </a:t>
            </a:r>
            <a:r>
              <a:rPr dirty="0" cap="small" spc="-10">
                <a:solidFill>
                  <a:srgbClr val="000000"/>
                </a:solidFill>
                <a:latin typeface="Constantia"/>
                <a:cs typeface="Constantia"/>
              </a:rPr>
              <a:t>process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2400" y="850900"/>
            <a:ext cx="10388600" cy="5842000"/>
          </a:xfrm>
          <a:custGeom>
            <a:avLst/>
            <a:gdLst/>
            <a:ahLst/>
            <a:cxnLst/>
            <a:rect l="l" t="t" r="r" b="b"/>
            <a:pathLst>
              <a:path w="10388600" h="5842000">
                <a:moveTo>
                  <a:pt x="10388600" y="0"/>
                </a:moveTo>
                <a:lnTo>
                  <a:pt x="0" y="0"/>
                </a:lnTo>
                <a:lnTo>
                  <a:pt x="0" y="5842000"/>
                </a:lnTo>
                <a:lnTo>
                  <a:pt x="10388600" y="5842000"/>
                </a:lnTo>
                <a:lnTo>
                  <a:pt x="10388600" y="0"/>
                </a:lnTo>
                <a:close/>
              </a:path>
            </a:pathLst>
          </a:custGeom>
          <a:solidFill>
            <a:srgbClr val="EFEDE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52400" y="851220"/>
            <a:ext cx="4714240" cy="5842000"/>
            <a:chOff x="152400" y="851220"/>
            <a:chExt cx="4714240" cy="5842000"/>
          </a:xfrm>
        </p:grpSpPr>
        <p:sp>
          <p:nvSpPr>
            <p:cNvPr id="4" name="object 4" descr=""/>
            <p:cNvSpPr/>
            <p:nvPr/>
          </p:nvSpPr>
          <p:spPr>
            <a:xfrm>
              <a:off x="152400" y="851220"/>
              <a:ext cx="4519295" cy="5842000"/>
            </a:xfrm>
            <a:custGeom>
              <a:avLst/>
              <a:gdLst/>
              <a:ahLst/>
              <a:cxnLst/>
              <a:rect l="l" t="t" r="r" b="b"/>
              <a:pathLst>
                <a:path w="4519295" h="5842000">
                  <a:moveTo>
                    <a:pt x="4519041" y="0"/>
                  </a:moveTo>
                  <a:lnTo>
                    <a:pt x="0" y="0"/>
                  </a:lnTo>
                  <a:lnTo>
                    <a:pt x="0" y="5841679"/>
                  </a:lnTo>
                  <a:lnTo>
                    <a:pt x="4519041" y="5841679"/>
                  </a:lnTo>
                  <a:lnTo>
                    <a:pt x="4519041" y="0"/>
                  </a:lnTo>
                  <a:close/>
                </a:path>
              </a:pathLst>
            </a:custGeom>
            <a:solidFill>
              <a:srgbClr val="8C8D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671440" y="851220"/>
              <a:ext cx="194945" cy="5842000"/>
            </a:xfrm>
            <a:custGeom>
              <a:avLst/>
              <a:gdLst/>
              <a:ahLst/>
              <a:cxnLst/>
              <a:rect l="l" t="t" r="r" b="b"/>
              <a:pathLst>
                <a:path w="194945" h="5842000">
                  <a:moveTo>
                    <a:pt x="194786" y="0"/>
                  </a:moveTo>
                  <a:lnTo>
                    <a:pt x="0" y="0"/>
                  </a:lnTo>
                  <a:lnTo>
                    <a:pt x="0" y="5842000"/>
                  </a:lnTo>
                  <a:lnTo>
                    <a:pt x="194786" y="5842000"/>
                  </a:lnTo>
                  <a:lnTo>
                    <a:pt x="194786" y="0"/>
                  </a:lnTo>
                  <a:close/>
                </a:path>
              </a:pathLst>
            </a:custGeom>
            <a:solidFill>
              <a:srgbClr val="191B0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 rot="19440000">
            <a:off x="492672" y="4242786"/>
            <a:ext cx="932957" cy="711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370"/>
              </a:lnSpc>
            </a:pPr>
            <a:r>
              <a:rPr dirty="0" sz="5600" spc="-50" b="1">
                <a:solidFill>
                  <a:srgbClr val="FFFF00"/>
                </a:solidFill>
                <a:latin typeface="Constantia"/>
                <a:cs typeface="Constantia"/>
              </a:rPr>
              <a:t>Q</a:t>
            </a:r>
            <a:endParaRPr sz="5600">
              <a:latin typeface="Constantia"/>
              <a:cs typeface="Constantia"/>
            </a:endParaRPr>
          </a:p>
        </p:txBody>
      </p:sp>
      <p:sp>
        <p:nvSpPr>
          <p:cNvPr id="7" name="object 7" descr=""/>
          <p:cNvSpPr txBox="1"/>
          <p:nvPr/>
        </p:nvSpPr>
        <p:spPr>
          <a:xfrm rot="19440000">
            <a:off x="902407" y="3310252"/>
            <a:ext cx="2928659" cy="571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4395"/>
              </a:lnSpc>
            </a:pPr>
            <a:r>
              <a:rPr dirty="0" baseline="-1234" sz="6750" spc="-30" b="1">
                <a:solidFill>
                  <a:srgbClr val="FFFF00"/>
                </a:solidFill>
                <a:latin typeface="Constantia"/>
                <a:cs typeface="Constantia"/>
              </a:rPr>
              <a:t>UE</a:t>
            </a:r>
            <a:r>
              <a:rPr dirty="0" sz="4500" spc="-20" b="1">
                <a:solidFill>
                  <a:srgbClr val="FFFF00"/>
                </a:solidFill>
                <a:latin typeface="Constantia"/>
                <a:cs typeface="Constantia"/>
              </a:rPr>
              <a:t>ST</a:t>
            </a:r>
            <a:r>
              <a:rPr dirty="0" sz="4500" spc="-20" b="1">
                <a:solidFill>
                  <a:srgbClr val="FFFF00"/>
                </a:solidFill>
                <a:latin typeface="Constantia"/>
                <a:cs typeface="Constantia"/>
              </a:rPr>
              <a:t>IO</a:t>
            </a:r>
            <a:r>
              <a:rPr dirty="0" sz="4500" spc="-20" b="1">
                <a:solidFill>
                  <a:srgbClr val="FFFF00"/>
                </a:solidFill>
                <a:latin typeface="Constantia"/>
                <a:cs typeface="Constantia"/>
              </a:rPr>
              <a:t>N</a:t>
            </a:r>
            <a:r>
              <a:rPr dirty="0" baseline="1234" sz="6750" spc="-30" b="1">
                <a:solidFill>
                  <a:srgbClr val="FFFF00"/>
                </a:solidFill>
                <a:latin typeface="Constantia"/>
                <a:cs typeface="Constantia"/>
              </a:rPr>
              <a:t>S</a:t>
            </a:r>
            <a:endParaRPr baseline="1234" sz="6750">
              <a:latin typeface="Constantia"/>
              <a:cs typeface="Constantia"/>
            </a:endParaRPr>
          </a:p>
        </p:txBody>
      </p:sp>
      <p:sp>
        <p:nvSpPr>
          <p:cNvPr id="8" name="object 8" descr=""/>
          <p:cNvSpPr txBox="1"/>
          <p:nvPr/>
        </p:nvSpPr>
        <p:spPr>
          <a:xfrm rot="19440000">
            <a:off x="3414123" y="1967005"/>
            <a:ext cx="1217730" cy="711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405"/>
              </a:lnSpc>
            </a:pPr>
            <a:r>
              <a:rPr dirty="0" sz="5600" spc="-25" b="1">
                <a:solidFill>
                  <a:srgbClr val="FFFF00"/>
                </a:solidFill>
                <a:latin typeface="Constantia"/>
                <a:cs typeface="Constantia"/>
              </a:rPr>
              <a:t>???</a:t>
            </a:r>
            <a:endParaRPr sz="5600">
              <a:latin typeface="Constantia"/>
              <a:cs typeface="Constant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701804" y="5445953"/>
            <a:ext cx="3640454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cap="small" sz="5600" b="1">
                <a:solidFill>
                  <a:srgbClr val="191B0E"/>
                </a:solidFill>
                <a:latin typeface="Constantia"/>
                <a:cs typeface="Constantia"/>
              </a:rPr>
              <a:t>Thank</a:t>
            </a:r>
            <a:r>
              <a:rPr dirty="0" cap="small" sz="5600" spc="95" b="1">
                <a:solidFill>
                  <a:srgbClr val="191B0E"/>
                </a:solidFill>
                <a:latin typeface="Constantia"/>
                <a:cs typeface="Constantia"/>
              </a:rPr>
              <a:t> </a:t>
            </a:r>
            <a:r>
              <a:rPr dirty="0" cap="small" sz="5600" spc="-240" b="1">
                <a:solidFill>
                  <a:srgbClr val="191B0E"/>
                </a:solidFill>
                <a:latin typeface="Constantia"/>
                <a:cs typeface="Constantia"/>
              </a:rPr>
              <a:t>You</a:t>
            </a:r>
            <a:endParaRPr sz="5600">
              <a:latin typeface="Constantia"/>
              <a:cs typeface="Constantia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67460" y="995654"/>
            <a:ext cx="5241194" cy="38987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Taimur Sajjad</dc:creator>
  <dc:title>PF_Week 1 &amp; Week 2(Ver 1)</dc:title>
  <dcterms:created xsi:type="dcterms:W3CDTF">2024-07-03T07:39:41Z</dcterms:created>
  <dcterms:modified xsi:type="dcterms:W3CDTF">2024-07-03T07:39:41Z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2020-08-16T00:00:00Z</vt:filetime>
  </property>
  <property fmtid="{D5CDD505-2E9C-101B-9397-08002B2CF9AE}" pid="3" name="Creator">
    <vt:lpwstr>PowerPoint</vt:lpwstr>
  </property>
  <property fmtid="{D5CDD505-2E9C-101B-9397-08002B2CF9AE}" pid="4" name="LastSaved">
    <vt:filetime>2024-07-03T00:00:00Z</vt:filetime>
  </property>
  <property fmtid="{D5CDD505-2E9C-101B-9397-08002B2CF9AE}" pid="5" name="Producer">
    <vt:lpwstr>macOS Version 10.15.5 (Build 19F101) Quartz PDFContext</vt:lpwstr>
  </property>
</Properties>
</file>