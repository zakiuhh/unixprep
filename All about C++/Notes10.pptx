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1"/>
  </p:sldMasterIdLst>
  <p:notesMasterIdLst>
    <p:notesMasterId r:id="rId32"/>
  </p:notesMasterIdLst>
  <p:handoutMasterIdLst>
    <p:handoutMasterId r:id="rId33"/>
  </p:handoutMasterIdLst>
  <p:sldIdLst>
    <p:sldId id="298" r:id="rId2"/>
    <p:sldId id="257" r:id="rId3"/>
    <p:sldId id="331" r:id="rId4"/>
    <p:sldId id="332" r:id="rId5"/>
    <p:sldId id="334" r:id="rId6"/>
    <p:sldId id="333" r:id="rId7"/>
    <p:sldId id="337" r:id="rId8"/>
    <p:sldId id="335" r:id="rId9"/>
    <p:sldId id="338" r:id="rId10"/>
    <p:sldId id="339" r:id="rId11"/>
    <p:sldId id="344" r:id="rId12"/>
    <p:sldId id="340" r:id="rId13"/>
    <p:sldId id="341" r:id="rId14"/>
    <p:sldId id="342" r:id="rId15"/>
    <p:sldId id="345" r:id="rId16"/>
    <p:sldId id="346" r:id="rId17"/>
    <p:sldId id="347" r:id="rId18"/>
    <p:sldId id="350" r:id="rId19"/>
    <p:sldId id="351" r:id="rId20"/>
    <p:sldId id="365" r:id="rId21"/>
    <p:sldId id="353" r:id="rId22"/>
    <p:sldId id="352" r:id="rId23"/>
    <p:sldId id="355" r:id="rId24"/>
    <p:sldId id="358" r:id="rId25"/>
    <p:sldId id="354" r:id="rId26"/>
    <p:sldId id="356" r:id="rId27"/>
    <p:sldId id="357" r:id="rId28"/>
    <p:sldId id="359" r:id="rId29"/>
    <p:sldId id="366" r:id="rId30"/>
    <p:sldId id="343"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3" autoAdjust="0"/>
    <p:restoredTop sz="90240" autoAdjust="0"/>
  </p:normalViewPr>
  <p:slideViewPr>
    <p:cSldViewPr snapToGrid="0">
      <p:cViewPr varScale="1">
        <p:scale>
          <a:sx n="92" d="100"/>
          <a:sy n="92" d="100"/>
        </p:scale>
        <p:origin x="12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5FBB10-1D01-4681-B561-505EE589651C}" type="datetime1">
              <a:rPr lang="en-US" smtClean="0"/>
              <a:t>10/1/24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2E0468-7471-410D-AA2D-99B40D4BD30B}" type="slidenum">
              <a:rPr lang="en-US" smtClean="0"/>
              <a:t>‹#›</a:t>
            </a:fld>
            <a:endParaRPr lang="en-US"/>
          </a:p>
        </p:txBody>
      </p:sp>
    </p:spTree>
    <p:extLst>
      <p:ext uri="{BB962C8B-B14F-4D97-AF65-F5344CB8AC3E}">
        <p14:creationId xmlns:p14="http://schemas.microsoft.com/office/powerpoint/2010/main" val="354015065"/>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A8F944-60B5-4DB7-99BD-9FA3208575AE}" type="datetime1">
              <a:rPr lang="en-US" smtClean="0"/>
              <a:t>10/1/24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6C2B8-A914-4FCC-BCC4-193C36A4E390}" type="slidenum">
              <a:rPr lang="en-US" smtClean="0"/>
              <a:t>‹#›</a:t>
            </a:fld>
            <a:endParaRPr lang="en-US"/>
          </a:p>
        </p:txBody>
      </p:sp>
    </p:spTree>
    <p:extLst>
      <p:ext uri="{BB962C8B-B14F-4D97-AF65-F5344CB8AC3E}">
        <p14:creationId xmlns:p14="http://schemas.microsoft.com/office/powerpoint/2010/main" val="2067787781"/>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an infinite loop as we are incrementing the value of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so it would always satisfy the condition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&gt;=1, the condition would never return false.</a:t>
            </a:r>
          </a:p>
          <a:p>
            <a:r>
              <a:rPr lang="en-US" sz="1200" b="0" i="0" kern="1200" dirty="0">
                <a:solidFill>
                  <a:schemeClr val="tx1"/>
                </a:solidFill>
                <a:effectLst/>
                <a:latin typeface="+mn-lt"/>
                <a:ea typeface="+mn-ea"/>
                <a:cs typeface="+mn-cs"/>
              </a:rPr>
              <a:t>Here is another example of infinite for loop:</a:t>
            </a:r>
          </a:p>
          <a:p>
            <a:r>
              <a:rPr lang="en-US" sz="1200" kern="1200" dirty="0">
                <a:solidFill>
                  <a:schemeClr val="tx1"/>
                </a:solidFill>
                <a:effectLst/>
                <a:latin typeface="+mn-lt"/>
                <a:ea typeface="+mn-ea"/>
                <a:cs typeface="+mn-cs"/>
              </a:rPr>
              <a:t>// infinite loop for ( ; ; ) { // statement(s) }</a:t>
            </a:r>
            <a:endParaRPr lang="en-US" dirty="0"/>
          </a:p>
        </p:txBody>
      </p:sp>
      <p:sp>
        <p:nvSpPr>
          <p:cNvPr id="4" name="Date Placeholder 3"/>
          <p:cNvSpPr>
            <a:spLocks noGrp="1"/>
          </p:cNvSpPr>
          <p:nvPr>
            <p:ph type="dt" idx="10"/>
          </p:nvPr>
        </p:nvSpPr>
        <p:spPr/>
        <p:txBody>
          <a:bodyPr/>
          <a:lstStyle/>
          <a:p>
            <a:fld id="{82A8F944-60B5-4DB7-99BD-9FA3208575AE}" type="datetime1">
              <a:rPr lang="en-US" smtClean="0"/>
              <a:t>10/1/24</a:t>
            </a:fld>
            <a:endParaRPr lang="en-US"/>
          </a:p>
        </p:txBody>
      </p:sp>
      <p:sp>
        <p:nvSpPr>
          <p:cNvPr id="5" name="Slide Number Placeholder 4"/>
          <p:cNvSpPr>
            <a:spLocks noGrp="1"/>
          </p:cNvSpPr>
          <p:nvPr>
            <p:ph type="sldNum" sz="quarter" idx="11"/>
          </p:nvPr>
        </p:nvSpPr>
        <p:spPr/>
        <p:txBody>
          <a:bodyPr/>
          <a:lstStyle/>
          <a:p>
            <a:fld id="{F6B6C2B8-A914-4FCC-BCC4-193C36A4E390}" type="slidenum">
              <a:rPr lang="en-US" smtClean="0"/>
              <a:t>17</a:t>
            </a:fld>
            <a:endParaRPr lang="en-US"/>
          </a:p>
        </p:txBody>
      </p:sp>
    </p:spTree>
    <p:extLst>
      <p:ext uri="{BB962C8B-B14F-4D97-AF65-F5344CB8AC3E}">
        <p14:creationId xmlns:p14="http://schemas.microsoft.com/office/powerpoint/2010/main" val="1881537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sz="1200" dirty="0"/>
          </a:p>
          <a:p>
            <a:pPr marL="0" indent="0">
              <a:buNone/>
            </a:pPr>
            <a:r>
              <a:rPr lang="en-AU" sz="1200" dirty="0"/>
              <a:t>//Sum of +</a:t>
            </a:r>
            <a:r>
              <a:rPr lang="en-AU" sz="1200" dirty="0" err="1"/>
              <a:t>ve</a:t>
            </a:r>
            <a:r>
              <a:rPr lang="en-AU" sz="1200" dirty="0"/>
              <a:t> values entered by user</a:t>
            </a:r>
            <a:endParaRPr lang="en-US" sz="1200" dirty="0"/>
          </a:p>
          <a:p>
            <a:endParaRPr lang="en-US" dirty="0"/>
          </a:p>
        </p:txBody>
      </p:sp>
      <p:sp>
        <p:nvSpPr>
          <p:cNvPr id="4" name="Date Placeholder 3"/>
          <p:cNvSpPr>
            <a:spLocks noGrp="1"/>
          </p:cNvSpPr>
          <p:nvPr>
            <p:ph type="dt" idx="10"/>
          </p:nvPr>
        </p:nvSpPr>
        <p:spPr/>
        <p:txBody>
          <a:bodyPr/>
          <a:lstStyle/>
          <a:p>
            <a:fld id="{82A8F944-60B5-4DB7-99BD-9FA3208575AE}" type="datetime1">
              <a:rPr lang="en-US" smtClean="0"/>
              <a:t>10/1/24</a:t>
            </a:fld>
            <a:endParaRPr lang="en-US"/>
          </a:p>
        </p:txBody>
      </p:sp>
      <p:sp>
        <p:nvSpPr>
          <p:cNvPr id="5" name="Slide Number Placeholder 4"/>
          <p:cNvSpPr>
            <a:spLocks noGrp="1"/>
          </p:cNvSpPr>
          <p:nvPr>
            <p:ph type="sldNum" sz="quarter" idx="11"/>
          </p:nvPr>
        </p:nvSpPr>
        <p:spPr/>
        <p:txBody>
          <a:bodyPr/>
          <a:lstStyle/>
          <a:p>
            <a:fld id="{F6B6C2B8-A914-4FCC-BCC4-193C36A4E390}" type="slidenum">
              <a:rPr lang="en-US" smtClean="0"/>
              <a:t>29</a:t>
            </a:fld>
            <a:endParaRPr lang="en-US"/>
          </a:p>
        </p:txBody>
      </p:sp>
    </p:spTree>
    <p:extLst>
      <p:ext uri="{BB962C8B-B14F-4D97-AF65-F5344CB8AC3E}">
        <p14:creationId xmlns:p14="http://schemas.microsoft.com/office/powerpoint/2010/main" val="1982335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0346B9-D82A-4D55-8571-E1C3B1887A6B}" type="datetime1">
              <a:rPr lang="en-US" smtClean="0"/>
              <a:t>10/1/24</a:t>
            </a:fld>
            <a:endParaRPr lang="en-US"/>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2547549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5BC45F-1DFA-4E62-8208-7F0C17907C73}" type="datetime1">
              <a:rPr lang="en-US" smtClean="0"/>
              <a:t>10/1/24</a:t>
            </a:fld>
            <a:endParaRPr lang="en-US"/>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3701819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CBB88C-3876-4934-997D-E9B18C7F47A8}" type="datetime1">
              <a:rPr lang="en-US" smtClean="0"/>
              <a:t>10/1/24</a:t>
            </a:fld>
            <a:endParaRPr lang="en-US"/>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2490766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CDDBFC-F3B1-464A-8C95-96737A146FB8}" type="datetime1">
              <a:rPr lang="en-US" smtClean="0"/>
              <a:t>10/1/24</a:t>
            </a:fld>
            <a:endParaRPr lang="en-US"/>
          </a:p>
        </p:txBody>
      </p:sp>
      <p:sp>
        <p:nvSpPr>
          <p:cNvPr id="6" name="Footer Placeholder 5"/>
          <p:cNvSpPr>
            <a:spLocks noGrp="1"/>
          </p:cNvSpPr>
          <p:nvPr>
            <p:ph type="ftr" sz="quarter" idx="11"/>
          </p:nvPr>
        </p:nvSpPr>
        <p:spPr/>
        <p:txBody>
          <a:bodyPr/>
          <a:lstStyle/>
          <a:p>
            <a:r>
              <a:rPr lang="en-US"/>
              <a:t>Introduction to Computer Programming</a:t>
            </a:r>
          </a:p>
        </p:txBody>
      </p:sp>
      <p:sp>
        <p:nvSpPr>
          <p:cNvPr id="7" name="Slide Number Placeholder 6"/>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2401551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2FDFF6-EDCF-45E5-B06E-BC8789A51588}" type="datetime1">
              <a:rPr lang="en-US" smtClean="0"/>
              <a:t>10/1/24</a:t>
            </a:fld>
            <a:endParaRPr lang="en-US"/>
          </a:p>
        </p:txBody>
      </p:sp>
      <p:sp>
        <p:nvSpPr>
          <p:cNvPr id="8" name="Footer Placeholder 7"/>
          <p:cNvSpPr>
            <a:spLocks noGrp="1"/>
          </p:cNvSpPr>
          <p:nvPr>
            <p:ph type="ftr" sz="quarter" idx="11"/>
          </p:nvPr>
        </p:nvSpPr>
        <p:spPr/>
        <p:txBody>
          <a:bodyPr/>
          <a:lstStyle/>
          <a:p>
            <a:r>
              <a:rPr lang="en-US"/>
              <a:t>Introduction to Computer Programming</a:t>
            </a:r>
          </a:p>
        </p:txBody>
      </p:sp>
      <p:sp>
        <p:nvSpPr>
          <p:cNvPr id="9" name="Slide Number Placeholder 8"/>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2273012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852176-E7D9-4746-8CED-3665072F8B5E}" type="datetime1">
              <a:rPr lang="en-US" smtClean="0"/>
              <a:t>10/1/24</a:t>
            </a:fld>
            <a:endParaRPr lang="en-US"/>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4045708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4631CC-1D7D-4221-81EC-690245B49102}" type="datetime1">
              <a:rPr lang="en-US" smtClean="0"/>
              <a:t>10/1/24</a:t>
            </a:fld>
            <a:endParaRPr lang="en-US"/>
          </a:p>
        </p:txBody>
      </p:sp>
      <p:sp>
        <p:nvSpPr>
          <p:cNvPr id="3" name="Footer Placeholder 2"/>
          <p:cNvSpPr>
            <a:spLocks noGrp="1"/>
          </p:cNvSpPr>
          <p:nvPr>
            <p:ph type="ftr" sz="quarter" idx="11"/>
          </p:nvPr>
        </p:nvSpPr>
        <p:spPr/>
        <p:txBody>
          <a:bodyPr/>
          <a:lstStyle/>
          <a:p>
            <a:r>
              <a:rPr lang="en-US"/>
              <a:t>Introduction to Computer Programming</a:t>
            </a:r>
          </a:p>
        </p:txBody>
      </p:sp>
      <p:sp>
        <p:nvSpPr>
          <p:cNvPr id="4" name="Slide Number Placeholder 3"/>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2667770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3D69418-6FBD-4855-B49C-A191E7575050}" type="datetime1">
              <a:rPr lang="en-US" smtClean="0"/>
              <a:t>10/1/24</a:t>
            </a:fld>
            <a:endParaRPr lang="en-US"/>
          </a:p>
        </p:txBody>
      </p:sp>
      <p:sp>
        <p:nvSpPr>
          <p:cNvPr id="6" name="Footer Placeholder 5"/>
          <p:cNvSpPr>
            <a:spLocks noGrp="1"/>
          </p:cNvSpPr>
          <p:nvPr>
            <p:ph type="ftr" sz="quarter" idx="11"/>
          </p:nvPr>
        </p:nvSpPr>
        <p:spPr/>
        <p:txBody>
          <a:bodyPr/>
          <a:lstStyle/>
          <a:p>
            <a:r>
              <a:rPr lang="en-US"/>
              <a:t>Introduction to Computer Programming</a:t>
            </a:r>
          </a:p>
        </p:txBody>
      </p:sp>
      <p:sp>
        <p:nvSpPr>
          <p:cNvPr id="7" name="Slide Number Placeholder 6"/>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4244813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EBAA782-A441-42EA-A63B-743501DECDA0}" type="datetime1">
              <a:rPr lang="en-US" smtClean="0"/>
              <a:t>10/1/24</a:t>
            </a:fld>
            <a:endParaRPr lang="en-US"/>
          </a:p>
        </p:txBody>
      </p:sp>
      <p:sp>
        <p:nvSpPr>
          <p:cNvPr id="6" name="Footer Placeholder 5"/>
          <p:cNvSpPr>
            <a:spLocks noGrp="1"/>
          </p:cNvSpPr>
          <p:nvPr>
            <p:ph type="ftr" sz="quarter" idx="11"/>
          </p:nvPr>
        </p:nvSpPr>
        <p:spPr/>
        <p:txBody>
          <a:bodyPr/>
          <a:lstStyle/>
          <a:p>
            <a:r>
              <a:rPr lang="en-US"/>
              <a:t>Introduction to Computer Programming</a:t>
            </a:r>
          </a:p>
        </p:txBody>
      </p:sp>
      <p:sp>
        <p:nvSpPr>
          <p:cNvPr id="7" name="Slide Number Placeholder 6"/>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64756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D41A884-3DD0-42D7-B087-02B417745D1A}" type="datetime1">
              <a:rPr lang="en-US" smtClean="0"/>
              <a:t>10/1/24</a:t>
            </a:fld>
            <a:endParaRPr lang="en-US"/>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806640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291E124-C45A-41D1-A95D-FB4B7B0FD2ED}" type="datetime1">
              <a:rPr lang="en-US" smtClean="0"/>
              <a:t>10/1/24</a:t>
            </a:fld>
            <a:endParaRPr lang="en-US"/>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58778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CF8174-EDC4-454D-A3B7-510CA7859F7D}" type="datetime1">
              <a:rPr lang="en-US" smtClean="0"/>
              <a:t>10/1/24</a:t>
            </a:fld>
            <a:endParaRPr lang="en-US"/>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964630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3C923B5-A3FD-4D98-A532-20C88B4393D1}" type="datetime1">
              <a:rPr lang="en-US" smtClean="0"/>
              <a:t>10/1/24</a:t>
            </a:fld>
            <a:endParaRPr lang="en-US"/>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84283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E988D6-9890-4982-84E3-4314CE6DE3B1}" type="datetime1">
              <a:rPr lang="en-US" smtClean="0"/>
              <a:t>10/1/24</a:t>
            </a:fld>
            <a:endParaRPr lang="en-US"/>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2980215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1AD51B-D5B2-4A8F-BE8A-679EBCE33B9A}" type="datetime1">
              <a:rPr lang="en-US" smtClean="0"/>
              <a:t>10/1/24</a:t>
            </a:fld>
            <a:endParaRPr lang="en-US"/>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24746879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4C5F32-5428-4A91-B79C-3B60DF40C071}" type="datetime1">
              <a:rPr lang="en-US" smtClean="0"/>
              <a:t>10/1/24</a:t>
            </a:fld>
            <a:endParaRPr lang="en-US"/>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a:t>
            </a:fld>
            <a:endParaRPr lang="en-US"/>
          </a:p>
        </p:txBody>
      </p:sp>
    </p:spTree>
    <p:extLst>
      <p:ext uri="{BB962C8B-B14F-4D97-AF65-F5344CB8AC3E}">
        <p14:creationId xmlns:p14="http://schemas.microsoft.com/office/powerpoint/2010/main" val="2854504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E0C7741-DA7C-4824-9259-D439BE9FB08B}" type="datetime1">
              <a:rPr lang="en-US" smtClean="0"/>
              <a:t>10/1/24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Introduction to Computer Programming</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10F10AB-30EA-4782-BF5E-1F5F70051DED}" type="slidenum">
              <a:rPr lang="en-US" smtClean="0"/>
              <a:t>‹#›</a:t>
            </a:fld>
            <a:endParaRPr lang="en-US"/>
          </a:p>
        </p:txBody>
      </p:sp>
    </p:spTree>
    <p:extLst>
      <p:ext uri="{BB962C8B-B14F-4D97-AF65-F5344CB8AC3E}">
        <p14:creationId xmlns:p14="http://schemas.microsoft.com/office/powerpoint/2010/main" val="4101344284"/>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F4B3DD-A758-5B69-A9CC-1CC2E3944163}"/>
              </a:ext>
            </a:extLst>
          </p:cNvPr>
          <p:cNvSpPr>
            <a:spLocks noGrp="1"/>
          </p:cNvSpPr>
          <p:nvPr>
            <p:ph type="sldNum" sz="quarter" idx="12"/>
          </p:nvPr>
        </p:nvSpPr>
        <p:spPr/>
        <p:txBody>
          <a:bodyPr/>
          <a:lstStyle/>
          <a:p>
            <a:fld id="{4FCBA6A4-4AC1-4AE5-BF17-AC49EE4BA738}" type="slidenum">
              <a:rPr lang="en-US" smtClean="0"/>
              <a:pPr/>
              <a:t>1</a:t>
            </a:fld>
            <a:endParaRPr lang="en-US" dirty="0"/>
          </a:p>
        </p:txBody>
      </p:sp>
      <p:pic>
        <p:nvPicPr>
          <p:cNvPr id="5" name="Picture 5" descr="C:\Users\SALMAN\Desktop\cp 1\org.solovyev.android.calculator.png">
            <a:extLst>
              <a:ext uri="{FF2B5EF4-FFF2-40B4-BE49-F238E27FC236}">
                <a16:creationId xmlns:a16="http://schemas.microsoft.com/office/drawing/2014/main" id="{8C56617C-031F-653A-9790-3C697158C905}"/>
              </a:ext>
            </a:extLst>
          </p:cNvPr>
          <p:cNvPicPr>
            <a:picLocks noChangeAspect="1" noChangeArrowheads="1"/>
          </p:cNvPicPr>
          <p:nvPr/>
        </p:nvPicPr>
        <p:blipFill>
          <a:blip r:embed="rId2"/>
          <a:srcRect/>
          <a:stretch>
            <a:fillRect/>
          </a:stretch>
        </p:blipFill>
        <p:spPr bwMode="auto">
          <a:xfrm>
            <a:off x="2667000" y="1238258"/>
            <a:ext cx="1981200" cy="1981200"/>
          </a:xfrm>
          <a:prstGeom prst="rect">
            <a:avLst/>
          </a:prstGeom>
          <a:noFill/>
        </p:spPr>
      </p:pic>
      <p:pic>
        <p:nvPicPr>
          <p:cNvPr id="6" name="Picture 2" descr="Comsats University Logo - CrystalPng">
            <a:extLst>
              <a:ext uri="{FF2B5EF4-FFF2-40B4-BE49-F238E27FC236}">
                <a16:creationId xmlns:a16="http://schemas.microsoft.com/office/drawing/2014/main" id="{85E4A07D-75EE-43FA-7AC1-1FC880BA96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20201" y="169506"/>
            <a:ext cx="1282245" cy="128224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BF021BB-0692-5DC3-1857-900ECE8695D1}"/>
              </a:ext>
            </a:extLst>
          </p:cNvPr>
          <p:cNvSpPr txBox="1"/>
          <p:nvPr/>
        </p:nvSpPr>
        <p:spPr>
          <a:xfrm>
            <a:off x="2010697" y="3958108"/>
            <a:ext cx="3124200" cy="1015663"/>
          </a:xfrm>
          <a:prstGeom prst="rect">
            <a:avLst/>
          </a:prstGeom>
          <a:noFill/>
        </p:spPr>
        <p:txBody>
          <a:bodyPr wrap="square">
            <a:spAutoFit/>
          </a:bodyPr>
          <a:lstStyle/>
          <a:p>
            <a:r>
              <a:rPr lang="en-US" sz="2800" b="1" dirty="0">
                <a:effectLst>
                  <a:outerShdw blurRad="38100" dist="38100" dir="2700000" algn="tl">
                    <a:srgbClr val="000000">
                      <a:alpha val="43137"/>
                    </a:srgbClr>
                  </a:outerShdw>
                </a:effectLst>
              </a:rPr>
              <a:t>Taimur Sajjad</a:t>
            </a:r>
          </a:p>
          <a:p>
            <a:r>
              <a:rPr lang="en-US" sz="2800" b="1" dirty="0">
                <a:effectLst>
                  <a:outerShdw blurRad="38100" dist="38100" dir="2700000" algn="tl">
                    <a:srgbClr val="000000">
                      <a:alpha val="43137"/>
                    </a:srgbClr>
                  </a:outerShdw>
                </a:effectLst>
              </a:rPr>
              <a:t> </a:t>
            </a:r>
          </a:p>
          <a:p>
            <a:r>
              <a:rPr lang="en-US" sz="400" dirty="0">
                <a:solidFill>
                  <a:schemeClr val="bg1"/>
                </a:solidFill>
              </a:rPr>
              <a:t>MS(Data Science)</a:t>
            </a:r>
            <a:endParaRPr lang="en-PK" sz="400" dirty="0"/>
          </a:p>
        </p:txBody>
      </p:sp>
      <p:sp>
        <p:nvSpPr>
          <p:cNvPr id="16" name="TextBox 15">
            <a:extLst>
              <a:ext uri="{FF2B5EF4-FFF2-40B4-BE49-F238E27FC236}">
                <a16:creationId xmlns:a16="http://schemas.microsoft.com/office/drawing/2014/main" id="{703DC6E6-C348-1BA2-E017-BEEED77C51EE}"/>
              </a:ext>
            </a:extLst>
          </p:cNvPr>
          <p:cNvSpPr txBox="1"/>
          <p:nvPr/>
        </p:nvSpPr>
        <p:spPr>
          <a:xfrm>
            <a:off x="4976354" y="1868843"/>
            <a:ext cx="5134897" cy="1031051"/>
          </a:xfrm>
          <a:prstGeom prst="rect">
            <a:avLst/>
          </a:prstGeom>
          <a:noFill/>
        </p:spPr>
        <p:txBody>
          <a:bodyPr wrap="square">
            <a:spAutoFit/>
          </a:bodyPr>
          <a:lstStyle/>
          <a:p>
            <a:r>
              <a:rPr lang="en-US" sz="2800" b="1" dirty="0">
                <a:effectLst>
                  <a:outerShdw blurRad="38100" dist="38100" dir="2700000" algn="tl">
                    <a:srgbClr val="000000">
                      <a:alpha val="43137"/>
                    </a:srgbClr>
                  </a:outerShdw>
                </a:effectLst>
              </a:rPr>
              <a:t>Programming Fundamentals</a:t>
            </a:r>
            <a:endParaRPr lang="en-PK" sz="2800" dirty="0"/>
          </a:p>
          <a:p>
            <a:endParaRPr lang="en-US" sz="2800" dirty="0"/>
          </a:p>
          <a:p>
            <a:endParaRPr lang="en-US" sz="400" dirty="0">
              <a:solidFill>
                <a:schemeClr val="bg1"/>
              </a:solidFill>
            </a:endParaRPr>
          </a:p>
        </p:txBody>
      </p:sp>
      <p:sp>
        <p:nvSpPr>
          <p:cNvPr id="18" name="TextBox 17">
            <a:extLst>
              <a:ext uri="{FF2B5EF4-FFF2-40B4-BE49-F238E27FC236}">
                <a16:creationId xmlns:a16="http://schemas.microsoft.com/office/drawing/2014/main" id="{0F6B9442-1567-D0B7-528E-2A268ED3728B}"/>
              </a:ext>
            </a:extLst>
          </p:cNvPr>
          <p:cNvSpPr txBox="1"/>
          <p:nvPr/>
        </p:nvSpPr>
        <p:spPr>
          <a:xfrm>
            <a:off x="2000865" y="4556854"/>
            <a:ext cx="4753896" cy="1200329"/>
          </a:xfrm>
          <a:prstGeom prst="rect">
            <a:avLst/>
          </a:prstGeom>
          <a:noFill/>
        </p:spPr>
        <p:txBody>
          <a:bodyPr wrap="square">
            <a:spAutoFit/>
          </a:bodyPr>
          <a:lstStyle/>
          <a:p>
            <a:r>
              <a:rPr lang="en-US" dirty="0"/>
              <a:t>MS(Mob. Computing)</a:t>
            </a:r>
          </a:p>
          <a:p>
            <a:r>
              <a:rPr lang="en-US" dirty="0"/>
              <a:t>Lecturer (Computer Science),, </a:t>
            </a:r>
          </a:p>
          <a:p>
            <a:r>
              <a:rPr lang="en-US" dirty="0"/>
              <a:t>CUI Wah Campus</a:t>
            </a:r>
          </a:p>
          <a:p>
            <a:endParaRPr lang="en-US" dirty="0"/>
          </a:p>
        </p:txBody>
      </p:sp>
    </p:spTree>
    <p:extLst>
      <p:ext uri="{BB962C8B-B14F-4D97-AF65-F5344CB8AC3E}">
        <p14:creationId xmlns:p14="http://schemas.microsoft.com/office/powerpoint/2010/main" val="1796744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4"/>
          <p:cNvSpPr>
            <a:spLocks noGrp="1" noChangeArrowheads="1"/>
          </p:cNvSpPr>
          <p:nvPr>
            <p:ph type="ctrTitle"/>
          </p:nvPr>
        </p:nvSpPr>
        <p:spPr/>
        <p:txBody>
          <a:bodyPr/>
          <a:lstStyle/>
          <a:p>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r>
              <a:rPr lang="en-US" altLang="en-US" sz="6000" b="1" dirty="0">
                <a:latin typeface="Arial" charset="0"/>
              </a:rPr>
              <a:t>Control Structures (Repetition)</a:t>
            </a:r>
            <a:endParaRPr lang="en-US" sz="6000" b="1" dirty="0">
              <a:latin typeface="Arial" charset="0"/>
            </a:endParaRPr>
          </a:p>
        </p:txBody>
      </p:sp>
      <p:sp>
        <p:nvSpPr>
          <p:cNvPr id="14338" name="Rectangle 5"/>
          <p:cNvSpPr>
            <a:spLocks noGrp="1" noChangeArrowheads="1"/>
          </p:cNvSpPr>
          <p:nvPr>
            <p:ph type="subTitle" idx="1"/>
          </p:nvPr>
        </p:nvSpPr>
        <p:spPr/>
        <p:txBody>
          <a:bodyPr>
            <a:noAutofit/>
          </a:bodyPr>
          <a:lstStyle/>
          <a:p>
            <a:pPr eaLnBrk="1" hangingPunct="1"/>
            <a:r>
              <a:rPr lang="en-US" sz="3200" b="1">
                <a:latin typeface="Arial" charset="0"/>
              </a:rPr>
              <a:t>Programming Fundamentals</a:t>
            </a:r>
            <a:endParaRPr lang="en-US" sz="3200" b="1" dirty="0">
              <a:latin typeface="Arial" charset="0"/>
            </a:endParaRPr>
          </a:p>
        </p:txBody>
      </p:sp>
    </p:spTree>
    <p:extLst>
      <p:ext uri="{BB962C8B-B14F-4D97-AF65-F5344CB8AC3E}">
        <p14:creationId xmlns:p14="http://schemas.microsoft.com/office/powerpoint/2010/main" val="256788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a:solidFill>
                  <a:schemeClr val="tx1"/>
                </a:solidFill>
                <a:latin typeface="Courier New" panose="02070309020205020404" pitchFamily="49" charset="0"/>
              </a:defRPr>
            </a:lvl1pPr>
            <a:lvl2pPr marL="742950" indent="-285750" eaLnBrk="0" hangingPunct="0">
              <a:defRPr>
                <a:solidFill>
                  <a:schemeClr val="tx1"/>
                </a:solidFill>
                <a:latin typeface="Courier New" panose="02070309020205020404" pitchFamily="49" charset="0"/>
              </a:defRPr>
            </a:lvl2pPr>
            <a:lvl3pPr marL="1143000" indent="-228600" eaLnBrk="0" hangingPunct="0">
              <a:defRPr>
                <a:solidFill>
                  <a:schemeClr val="tx1"/>
                </a:solidFill>
                <a:latin typeface="Courier New" panose="02070309020205020404" pitchFamily="49" charset="0"/>
              </a:defRPr>
            </a:lvl3pPr>
            <a:lvl4pPr marL="1600200" indent="-228600" eaLnBrk="0" hangingPunct="0">
              <a:defRPr>
                <a:solidFill>
                  <a:schemeClr val="tx1"/>
                </a:solidFill>
                <a:latin typeface="Courier New" panose="02070309020205020404" pitchFamily="49" charset="0"/>
              </a:defRPr>
            </a:lvl4pPr>
            <a:lvl5pPr marL="2057400" indent="-228600" eaLnBrk="0" hangingPunct="0">
              <a:defRPr>
                <a:solidFill>
                  <a:schemeClr val="tx1"/>
                </a:solidFill>
                <a:latin typeface="Courier New" panose="02070309020205020404" pitchFamily="49" charset="0"/>
              </a:defRPr>
            </a:lvl5pPr>
            <a:lvl6pPr marL="2514600" indent="-228600" eaLnBrk="0" fontAlgn="base" hangingPunct="0">
              <a:spcBef>
                <a:spcPct val="0"/>
              </a:spcBef>
              <a:spcAft>
                <a:spcPct val="0"/>
              </a:spcAft>
              <a:defRPr>
                <a:solidFill>
                  <a:schemeClr val="tx1"/>
                </a:solidFill>
                <a:latin typeface="Courier New" panose="02070309020205020404" pitchFamily="49" charset="0"/>
              </a:defRPr>
            </a:lvl6pPr>
            <a:lvl7pPr marL="2971800" indent="-228600" eaLnBrk="0" fontAlgn="base" hangingPunct="0">
              <a:spcBef>
                <a:spcPct val="0"/>
              </a:spcBef>
              <a:spcAft>
                <a:spcPct val="0"/>
              </a:spcAft>
              <a:defRPr>
                <a:solidFill>
                  <a:schemeClr val="tx1"/>
                </a:solidFill>
                <a:latin typeface="Courier New" panose="02070309020205020404" pitchFamily="49" charset="0"/>
              </a:defRPr>
            </a:lvl7pPr>
            <a:lvl8pPr marL="3429000" indent="-228600" eaLnBrk="0" fontAlgn="base" hangingPunct="0">
              <a:spcBef>
                <a:spcPct val="0"/>
              </a:spcBef>
              <a:spcAft>
                <a:spcPct val="0"/>
              </a:spcAft>
              <a:defRPr>
                <a:solidFill>
                  <a:schemeClr val="tx1"/>
                </a:solidFill>
                <a:latin typeface="Courier New" panose="02070309020205020404" pitchFamily="49" charset="0"/>
              </a:defRPr>
            </a:lvl8pPr>
            <a:lvl9pPr marL="3886200" indent="-228600" eaLnBrk="0" fontAlgn="base" hangingPunct="0">
              <a:spcBef>
                <a:spcPct val="0"/>
              </a:spcBef>
              <a:spcAft>
                <a:spcPct val="0"/>
              </a:spcAft>
              <a:defRPr>
                <a:solidFill>
                  <a:schemeClr val="tx1"/>
                </a:solidFill>
                <a:latin typeface="Courier New" panose="02070309020205020404" pitchFamily="49" charset="0"/>
              </a:defRPr>
            </a:lvl9pPr>
          </a:lstStyle>
          <a:p>
            <a:pPr eaLnBrk="1" hangingPunct="1"/>
            <a:fld id="{2F1FB643-96C3-4030-91EE-73CCFB8A5409}" type="slidenum">
              <a:rPr lang="en-US" altLang="en-US">
                <a:latin typeface="Arial" panose="020B0604020202020204" pitchFamily="34" charset="0"/>
              </a:rPr>
              <a:pPr eaLnBrk="1" hangingPunct="1"/>
              <a:t>3</a:t>
            </a:fld>
            <a:endParaRPr lang="en-US" altLang="en-US">
              <a:latin typeface="Arial" panose="020B0604020202020204" pitchFamily="34" charset="0"/>
            </a:endParaRPr>
          </a:p>
        </p:txBody>
      </p:sp>
      <p:sp>
        <p:nvSpPr>
          <p:cNvPr id="4100" name="Rectangle 2"/>
          <p:cNvSpPr>
            <a:spLocks noGrp="1" noChangeArrowheads="1"/>
          </p:cNvSpPr>
          <p:nvPr>
            <p:ph type="title"/>
          </p:nvPr>
        </p:nvSpPr>
        <p:spPr/>
        <p:txBody>
          <a:bodyPr/>
          <a:lstStyle/>
          <a:p>
            <a:pPr eaLnBrk="1" hangingPunct="1"/>
            <a:r>
              <a:rPr lang="en-US" altLang="en-US"/>
              <a:t>Objectives</a:t>
            </a:r>
          </a:p>
        </p:txBody>
      </p:sp>
      <p:sp>
        <p:nvSpPr>
          <p:cNvPr id="4101" name="Rectangle 3"/>
          <p:cNvSpPr>
            <a:spLocks noGrp="1" noChangeArrowheads="1"/>
          </p:cNvSpPr>
          <p:nvPr>
            <p:ph type="body" idx="1"/>
          </p:nvPr>
        </p:nvSpPr>
        <p:spPr>
          <a:xfrm>
            <a:off x="717665" y="1508761"/>
            <a:ext cx="8733905" cy="4530725"/>
          </a:xfrm>
        </p:spPr>
        <p:txBody>
          <a:bodyPr>
            <a:normAutofit/>
          </a:bodyPr>
          <a:lstStyle/>
          <a:p>
            <a:pPr eaLnBrk="1" hangingPunct="1">
              <a:buFontTx/>
              <a:buNone/>
            </a:pPr>
            <a:r>
              <a:rPr lang="en-US" altLang="en-US" sz="2800" dirty="0"/>
              <a:t>In this Lecture, you will:</a:t>
            </a:r>
          </a:p>
          <a:p>
            <a:pPr eaLnBrk="1" hangingPunct="1"/>
            <a:r>
              <a:rPr lang="en-US" altLang="en-US" sz="2800" dirty="0"/>
              <a:t>Learn about repetition (looping) control structures</a:t>
            </a:r>
          </a:p>
          <a:p>
            <a:r>
              <a:rPr lang="en-US" altLang="en-US" sz="2800" dirty="0"/>
              <a:t>Explore how to construct and use counter-controlled and sentinel-controlled repetition structures</a:t>
            </a:r>
          </a:p>
          <a:p>
            <a:r>
              <a:rPr lang="en-US" altLang="en-US" sz="2800" dirty="0"/>
              <a:t>Examine break and continue statements</a:t>
            </a:r>
          </a:p>
          <a:p>
            <a:pPr eaLnBrk="1" hangingPunct="1"/>
            <a:r>
              <a:rPr lang="en-US" altLang="en-US" sz="2800" dirty="0"/>
              <a:t>Discover how to form and use nested repetition structures</a:t>
            </a:r>
          </a:p>
        </p:txBody>
      </p:sp>
    </p:spTree>
    <p:extLst>
      <p:ext uri="{BB962C8B-B14F-4D97-AF65-F5344CB8AC3E}">
        <p14:creationId xmlns:p14="http://schemas.microsoft.com/office/powerpoint/2010/main" val="2832427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a:solidFill>
                  <a:schemeClr val="tx1"/>
                </a:solidFill>
                <a:latin typeface="Courier New" panose="02070309020205020404" pitchFamily="49" charset="0"/>
              </a:defRPr>
            </a:lvl1pPr>
            <a:lvl2pPr marL="742950" indent="-285750" eaLnBrk="0" hangingPunct="0">
              <a:defRPr>
                <a:solidFill>
                  <a:schemeClr val="tx1"/>
                </a:solidFill>
                <a:latin typeface="Courier New" panose="02070309020205020404" pitchFamily="49" charset="0"/>
              </a:defRPr>
            </a:lvl2pPr>
            <a:lvl3pPr marL="1143000" indent="-228600" eaLnBrk="0" hangingPunct="0">
              <a:defRPr>
                <a:solidFill>
                  <a:schemeClr val="tx1"/>
                </a:solidFill>
                <a:latin typeface="Courier New" panose="02070309020205020404" pitchFamily="49" charset="0"/>
              </a:defRPr>
            </a:lvl3pPr>
            <a:lvl4pPr marL="1600200" indent="-228600" eaLnBrk="0" hangingPunct="0">
              <a:defRPr>
                <a:solidFill>
                  <a:schemeClr val="tx1"/>
                </a:solidFill>
                <a:latin typeface="Courier New" panose="02070309020205020404" pitchFamily="49" charset="0"/>
              </a:defRPr>
            </a:lvl4pPr>
            <a:lvl5pPr marL="2057400" indent="-228600" eaLnBrk="0" hangingPunct="0">
              <a:defRPr>
                <a:solidFill>
                  <a:schemeClr val="tx1"/>
                </a:solidFill>
                <a:latin typeface="Courier New" panose="02070309020205020404" pitchFamily="49" charset="0"/>
              </a:defRPr>
            </a:lvl5pPr>
            <a:lvl6pPr marL="2514600" indent="-228600" eaLnBrk="0" fontAlgn="base" hangingPunct="0">
              <a:spcBef>
                <a:spcPct val="0"/>
              </a:spcBef>
              <a:spcAft>
                <a:spcPct val="0"/>
              </a:spcAft>
              <a:defRPr>
                <a:solidFill>
                  <a:schemeClr val="tx1"/>
                </a:solidFill>
                <a:latin typeface="Courier New" panose="02070309020205020404" pitchFamily="49" charset="0"/>
              </a:defRPr>
            </a:lvl6pPr>
            <a:lvl7pPr marL="2971800" indent="-228600" eaLnBrk="0" fontAlgn="base" hangingPunct="0">
              <a:spcBef>
                <a:spcPct val="0"/>
              </a:spcBef>
              <a:spcAft>
                <a:spcPct val="0"/>
              </a:spcAft>
              <a:defRPr>
                <a:solidFill>
                  <a:schemeClr val="tx1"/>
                </a:solidFill>
                <a:latin typeface="Courier New" panose="02070309020205020404" pitchFamily="49" charset="0"/>
              </a:defRPr>
            </a:lvl7pPr>
            <a:lvl8pPr marL="3429000" indent="-228600" eaLnBrk="0" fontAlgn="base" hangingPunct="0">
              <a:spcBef>
                <a:spcPct val="0"/>
              </a:spcBef>
              <a:spcAft>
                <a:spcPct val="0"/>
              </a:spcAft>
              <a:defRPr>
                <a:solidFill>
                  <a:schemeClr val="tx1"/>
                </a:solidFill>
                <a:latin typeface="Courier New" panose="02070309020205020404" pitchFamily="49" charset="0"/>
              </a:defRPr>
            </a:lvl8pPr>
            <a:lvl9pPr marL="3886200" indent="-228600" eaLnBrk="0" fontAlgn="base" hangingPunct="0">
              <a:spcBef>
                <a:spcPct val="0"/>
              </a:spcBef>
              <a:spcAft>
                <a:spcPct val="0"/>
              </a:spcAft>
              <a:defRPr>
                <a:solidFill>
                  <a:schemeClr val="tx1"/>
                </a:solidFill>
                <a:latin typeface="Courier New" panose="02070309020205020404" pitchFamily="49" charset="0"/>
              </a:defRPr>
            </a:lvl9pPr>
          </a:lstStyle>
          <a:p>
            <a:pPr eaLnBrk="1" hangingPunct="1"/>
            <a:fld id="{1D067F81-3EF7-48FC-8725-E2A8E663B18D}" type="slidenum">
              <a:rPr lang="en-US" altLang="en-US">
                <a:latin typeface="Arial" panose="020B0604020202020204" pitchFamily="34" charset="0"/>
              </a:rPr>
              <a:pPr eaLnBrk="1" hangingPunct="1"/>
              <a:t>4</a:t>
            </a:fld>
            <a:endParaRPr lang="en-US" altLang="en-US">
              <a:latin typeface="Arial" panose="020B0604020202020204" pitchFamily="34" charset="0"/>
            </a:endParaRPr>
          </a:p>
        </p:txBody>
      </p:sp>
      <p:sp>
        <p:nvSpPr>
          <p:cNvPr id="5124" name="Rectangle 2"/>
          <p:cNvSpPr>
            <a:spLocks noGrp="1" noChangeArrowheads="1"/>
          </p:cNvSpPr>
          <p:nvPr>
            <p:ph type="title"/>
          </p:nvPr>
        </p:nvSpPr>
        <p:spPr/>
        <p:txBody>
          <a:bodyPr/>
          <a:lstStyle/>
          <a:p>
            <a:pPr eaLnBrk="1" hangingPunct="1"/>
            <a:r>
              <a:rPr lang="en-US" altLang="en-US"/>
              <a:t>Why Is Repetition Needed?</a:t>
            </a:r>
          </a:p>
        </p:txBody>
      </p:sp>
      <p:sp>
        <p:nvSpPr>
          <p:cNvPr id="5125" name="Rectangle 3"/>
          <p:cNvSpPr>
            <a:spLocks noGrp="1" noChangeArrowheads="1"/>
          </p:cNvSpPr>
          <p:nvPr>
            <p:ph type="body" idx="1"/>
          </p:nvPr>
        </p:nvSpPr>
        <p:spPr>
          <a:xfrm>
            <a:off x="677334" y="1654233"/>
            <a:ext cx="8596668" cy="4387129"/>
          </a:xfrm>
        </p:spPr>
        <p:txBody>
          <a:bodyPr>
            <a:noAutofit/>
          </a:bodyPr>
          <a:lstStyle/>
          <a:p>
            <a:pPr algn="just">
              <a:spcBef>
                <a:spcPct val="50000"/>
              </a:spcBef>
            </a:pPr>
            <a:r>
              <a:rPr lang="en-US" sz="2800" dirty="0"/>
              <a:t>Repetition statements allow us to execute statement/s multiple times</a:t>
            </a:r>
          </a:p>
          <a:p>
            <a:pPr algn="just">
              <a:spcBef>
                <a:spcPct val="50000"/>
              </a:spcBef>
            </a:pPr>
            <a:r>
              <a:rPr lang="en-US" sz="2800" dirty="0"/>
              <a:t>Often they are referred to as </a:t>
            </a:r>
            <a:r>
              <a:rPr lang="en-US" sz="2800" i="1" dirty="0"/>
              <a:t>loops</a:t>
            </a:r>
            <a:endParaRPr lang="en-US" sz="2800" dirty="0"/>
          </a:p>
          <a:p>
            <a:pPr algn="just">
              <a:spcBef>
                <a:spcPct val="50000"/>
              </a:spcBef>
            </a:pPr>
            <a:r>
              <a:rPr lang="en-US" sz="2800" dirty="0"/>
              <a:t>Loops cause a section of your program to be repeated a certain number of times</a:t>
            </a:r>
          </a:p>
          <a:p>
            <a:pPr algn="just">
              <a:spcBef>
                <a:spcPct val="50000"/>
              </a:spcBef>
            </a:pPr>
            <a:r>
              <a:rPr lang="en-US" sz="2800" dirty="0"/>
              <a:t>Repeats until the condition remains true</a:t>
            </a:r>
          </a:p>
          <a:p>
            <a:pPr algn="just">
              <a:spcBef>
                <a:spcPct val="50000"/>
              </a:spcBef>
            </a:pPr>
            <a:r>
              <a:rPr lang="en-US" sz="2800" dirty="0"/>
              <a:t>Terminates when the condition becomes false</a:t>
            </a:r>
          </a:p>
        </p:txBody>
      </p:sp>
    </p:spTree>
    <p:extLst>
      <p:ext uri="{BB962C8B-B14F-4D97-AF65-F5344CB8AC3E}">
        <p14:creationId xmlns:p14="http://schemas.microsoft.com/office/powerpoint/2010/main" val="2397460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Loops</a:t>
            </a:r>
            <a:endParaRPr lang="en-US" dirty="0"/>
          </a:p>
        </p:txBody>
      </p:sp>
      <p:sp>
        <p:nvSpPr>
          <p:cNvPr id="3" name="Content Placeholder 2"/>
          <p:cNvSpPr>
            <a:spLocks noGrp="1"/>
          </p:cNvSpPr>
          <p:nvPr>
            <p:ph idx="1"/>
          </p:nvPr>
        </p:nvSpPr>
        <p:spPr>
          <a:xfrm>
            <a:off x="677334" y="1579420"/>
            <a:ext cx="8990368" cy="4304002"/>
          </a:xfrm>
        </p:spPr>
        <p:txBody>
          <a:bodyPr>
            <a:noAutofit/>
          </a:bodyPr>
          <a:lstStyle/>
          <a:p>
            <a:pPr>
              <a:lnSpc>
                <a:spcPct val="120000"/>
              </a:lnSpc>
            </a:pPr>
            <a:r>
              <a:rPr lang="en-US" sz="2400" dirty="0"/>
              <a:t>Counter-controlled Loops</a:t>
            </a:r>
          </a:p>
          <a:p>
            <a:pPr lvl="1">
              <a:lnSpc>
                <a:spcPct val="120000"/>
              </a:lnSpc>
            </a:pPr>
            <a:r>
              <a:rPr lang="en-US" sz="2000" dirty="0"/>
              <a:t>Depends on the value of a variable known as counter variable. The value of the variable is incremented or decremented in each iteration.</a:t>
            </a:r>
          </a:p>
          <a:p>
            <a:pPr lvl="1">
              <a:lnSpc>
                <a:spcPct val="120000"/>
              </a:lnSpc>
            </a:pPr>
            <a:r>
              <a:rPr lang="en-US" sz="2000" dirty="0"/>
              <a:t>Example: for loop</a:t>
            </a:r>
          </a:p>
          <a:p>
            <a:pPr>
              <a:lnSpc>
                <a:spcPct val="120000"/>
              </a:lnSpc>
            </a:pPr>
            <a:r>
              <a:rPr lang="en-US" sz="2400" dirty="0"/>
              <a:t>Sentinel-Controlled Loops / Conditional loop</a:t>
            </a:r>
          </a:p>
          <a:p>
            <a:pPr lvl="1">
              <a:lnSpc>
                <a:spcPct val="120000"/>
              </a:lnSpc>
            </a:pPr>
            <a:r>
              <a:rPr lang="en-US" sz="2000" dirty="0"/>
              <a:t>A loop that terminates when something happens inside the loop body indicating that loop should be exited. Also known as conditional loops</a:t>
            </a:r>
          </a:p>
          <a:p>
            <a:pPr lvl="1">
              <a:lnSpc>
                <a:spcPct val="120000"/>
              </a:lnSpc>
            </a:pPr>
            <a:r>
              <a:rPr lang="en-US" sz="2000" dirty="0"/>
              <a:t>Example: while and do loops</a:t>
            </a:r>
          </a:p>
          <a:p>
            <a:pPr>
              <a:lnSpc>
                <a:spcPct val="120000"/>
              </a:lnSpc>
            </a:pPr>
            <a:endParaRPr lang="en-US" sz="1200" dirty="0"/>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5</a:t>
            </a:fld>
            <a:endParaRPr lang="en-US"/>
          </a:p>
        </p:txBody>
      </p:sp>
    </p:spTree>
    <p:extLst>
      <p:ext uri="{BB962C8B-B14F-4D97-AF65-F5344CB8AC3E}">
        <p14:creationId xmlns:p14="http://schemas.microsoft.com/office/powerpoint/2010/main" val="1964874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Types of Loops in C++</a:t>
            </a:r>
            <a:endParaRPr lang="en-US" dirty="0"/>
          </a:p>
        </p:txBody>
      </p:sp>
      <p:sp>
        <p:nvSpPr>
          <p:cNvPr id="3" name="Content Placeholder 2"/>
          <p:cNvSpPr>
            <a:spLocks noGrp="1"/>
          </p:cNvSpPr>
          <p:nvPr>
            <p:ph idx="1"/>
          </p:nvPr>
        </p:nvSpPr>
        <p:spPr/>
        <p:txBody>
          <a:bodyPr>
            <a:normAutofit/>
          </a:bodyPr>
          <a:lstStyle/>
          <a:p>
            <a:r>
              <a:rPr lang="en-AU" sz="3600" dirty="0"/>
              <a:t>C++ have 3 types of Loops</a:t>
            </a:r>
          </a:p>
          <a:p>
            <a:pPr lvl="1">
              <a:spcBef>
                <a:spcPct val="50000"/>
              </a:spcBef>
            </a:pPr>
            <a:r>
              <a:rPr lang="en-US" sz="3200" dirty="0"/>
              <a:t>The </a:t>
            </a:r>
            <a:r>
              <a:rPr lang="en-US" sz="3200" i="1" dirty="0"/>
              <a:t>for loop</a:t>
            </a:r>
          </a:p>
          <a:p>
            <a:pPr lvl="1">
              <a:spcBef>
                <a:spcPct val="50000"/>
              </a:spcBef>
            </a:pPr>
            <a:r>
              <a:rPr lang="en-US" sz="3200" dirty="0"/>
              <a:t>The </a:t>
            </a:r>
            <a:r>
              <a:rPr lang="en-US" sz="3200" i="1" dirty="0"/>
              <a:t>while loop</a:t>
            </a:r>
            <a:endParaRPr lang="en-US" sz="3200" dirty="0"/>
          </a:p>
          <a:p>
            <a:pPr lvl="1"/>
            <a:r>
              <a:rPr lang="en-US" sz="3200" dirty="0"/>
              <a:t>The </a:t>
            </a:r>
            <a:r>
              <a:rPr lang="en-US" sz="3200" i="1" dirty="0"/>
              <a:t>do  while loop</a:t>
            </a:r>
            <a:endParaRPr lang="en-US" sz="3200" dirty="0"/>
          </a:p>
          <a:p>
            <a:endParaRPr lang="en-US" sz="3600" dirty="0"/>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6</a:t>
            </a:fld>
            <a:endParaRPr lang="en-US"/>
          </a:p>
        </p:txBody>
      </p:sp>
    </p:spTree>
    <p:extLst>
      <p:ext uri="{BB962C8B-B14F-4D97-AF65-F5344CB8AC3E}">
        <p14:creationId xmlns:p14="http://schemas.microsoft.com/office/powerpoint/2010/main" val="3094485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4"/>
          <p:cNvSpPr>
            <a:spLocks noGrp="1" noChangeArrowheads="1"/>
          </p:cNvSpPr>
          <p:nvPr>
            <p:ph type="ctrTitle"/>
          </p:nvPr>
        </p:nvSpPr>
        <p:spPr/>
        <p:txBody>
          <a:bodyPr/>
          <a:lstStyle/>
          <a:p>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r>
              <a:rPr lang="en-US" altLang="en-US" sz="6000" b="1" dirty="0">
                <a:latin typeface="Arial" charset="0"/>
              </a:rPr>
              <a:t>Repetition</a:t>
            </a:r>
            <a:endParaRPr lang="en-US" sz="6000" b="1" dirty="0">
              <a:latin typeface="Arial" charset="0"/>
            </a:endParaRPr>
          </a:p>
        </p:txBody>
      </p:sp>
      <p:sp>
        <p:nvSpPr>
          <p:cNvPr id="14338" name="Rectangle 5"/>
          <p:cNvSpPr>
            <a:spLocks noGrp="1" noChangeArrowheads="1"/>
          </p:cNvSpPr>
          <p:nvPr>
            <p:ph type="subTitle" idx="1"/>
          </p:nvPr>
        </p:nvSpPr>
        <p:spPr/>
        <p:txBody>
          <a:bodyPr>
            <a:noAutofit/>
          </a:bodyPr>
          <a:lstStyle/>
          <a:p>
            <a:pPr eaLnBrk="1" hangingPunct="1"/>
            <a:r>
              <a:rPr lang="en-US" sz="3200" b="1" dirty="0">
                <a:latin typeface="Arial" charset="0"/>
              </a:rPr>
              <a:t> The for Loop</a:t>
            </a:r>
          </a:p>
        </p:txBody>
      </p:sp>
    </p:spTree>
    <p:extLst>
      <p:ext uri="{BB962C8B-B14F-4D97-AF65-F5344CB8AC3E}">
        <p14:creationId xmlns:p14="http://schemas.microsoft.com/office/powerpoint/2010/main" val="1245484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8</a:t>
            </a:fld>
            <a:endParaRPr lang="en-US"/>
          </a:p>
        </p:txBody>
      </p:sp>
      <p:sp>
        <p:nvSpPr>
          <p:cNvPr id="6" name="Rectangle 2"/>
          <p:cNvSpPr txBox="1">
            <a:spLocks noChangeArrowheads="1"/>
          </p:cNvSpPr>
          <p:nvPr/>
        </p:nvSpPr>
        <p:spPr>
          <a:xfrm>
            <a:off x="857597" y="304800"/>
            <a:ext cx="7924800" cy="685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The </a:t>
            </a:r>
            <a:r>
              <a:rPr lang="en-US" dirty="0">
                <a:latin typeface="Courier New" pitchFamily="49" charset="0"/>
              </a:rPr>
              <a:t>for</a:t>
            </a:r>
            <a:r>
              <a:rPr lang="en-US" dirty="0"/>
              <a:t> Loop (Syntax)</a:t>
            </a:r>
          </a:p>
        </p:txBody>
      </p:sp>
      <p:sp>
        <p:nvSpPr>
          <p:cNvPr id="9" name="Text Box 4"/>
          <p:cNvSpPr txBox="1">
            <a:spLocks noChangeArrowheads="1"/>
          </p:cNvSpPr>
          <p:nvPr/>
        </p:nvSpPr>
        <p:spPr bwMode="auto">
          <a:xfrm>
            <a:off x="1263650" y="3484731"/>
            <a:ext cx="8340745"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000" b="1" dirty="0">
                <a:latin typeface="Courier New" pitchFamily="49" charset="0"/>
              </a:rPr>
              <a:t>for ( </a:t>
            </a:r>
            <a:r>
              <a:rPr lang="en-US" sz="2000" b="1" i="1" dirty="0">
                <a:latin typeface="Courier New" pitchFamily="49" charset="0"/>
              </a:rPr>
              <a:t>initialization</a:t>
            </a:r>
            <a:r>
              <a:rPr lang="en-US" sz="2000" b="1" dirty="0">
                <a:latin typeface="Courier New" pitchFamily="49" charset="0"/>
              </a:rPr>
              <a:t> ; </a:t>
            </a:r>
            <a:r>
              <a:rPr lang="en-US" sz="2000" b="1" i="1" dirty="0">
                <a:latin typeface="Courier New" pitchFamily="49" charset="0"/>
              </a:rPr>
              <a:t>condition</a:t>
            </a:r>
            <a:r>
              <a:rPr lang="en-US" sz="2000" b="1" dirty="0">
                <a:latin typeface="Courier New" pitchFamily="49" charset="0"/>
              </a:rPr>
              <a:t> ; </a:t>
            </a:r>
            <a:r>
              <a:rPr lang="en-US" sz="2000" b="1" i="1" dirty="0">
                <a:latin typeface="Courier New" pitchFamily="49" charset="0"/>
              </a:rPr>
              <a:t>variable update</a:t>
            </a:r>
            <a:r>
              <a:rPr lang="en-US" sz="2000" b="1" dirty="0">
                <a:latin typeface="Courier New" pitchFamily="49" charset="0"/>
              </a:rPr>
              <a:t> ){</a:t>
            </a:r>
          </a:p>
          <a:p>
            <a:r>
              <a:rPr lang="en-US" sz="2000" b="1" dirty="0">
                <a:latin typeface="Courier New" pitchFamily="49" charset="0"/>
              </a:rPr>
              <a:t>   </a:t>
            </a:r>
            <a:r>
              <a:rPr lang="en-US" sz="2000" b="1" i="1" dirty="0">
                <a:latin typeface="Courier New" pitchFamily="49" charset="0"/>
              </a:rPr>
              <a:t>statement</a:t>
            </a:r>
            <a:r>
              <a:rPr lang="en-US" sz="2000" b="1" dirty="0">
                <a:latin typeface="Courier New" pitchFamily="49" charset="0"/>
              </a:rPr>
              <a:t>;</a:t>
            </a:r>
          </a:p>
          <a:p>
            <a:r>
              <a:rPr lang="en-US" sz="2000" b="1" dirty="0">
                <a:latin typeface="Courier New" pitchFamily="49" charset="0"/>
              </a:rPr>
              <a:t>}</a:t>
            </a:r>
          </a:p>
        </p:txBody>
      </p:sp>
      <p:grpSp>
        <p:nvGrpSpPr>
          <p:cNvPr id="10" name="Group 20"/>
          <p:cNvGrpSpPr>
            <a:grpSpLocks/>
          </p:cNvGrpSpPr>
          <p:nvPr/>
        </p:nvGrpSpPr>
        <p:grpSpPr bwMode="auto">
          <a:xfrm>
            <a:off x="1447800" y="2117725"/>
            <a:ext cx="2946400" cy="1387475"/>
            <a:chOff x="912" y="1286"/>
            <a:chExt cx="1856" cy="874"/>
          </a:xfrm>
        </p:grpSpPr>
        <p:sp>
          <p:nvSpPr>
            <p:cNvPr id="11" name="Text Box 9"/>
            <p:cNvSpPr txBox="1">
              <a:spLocks noChangeArrowheads="1"/>
            </p:cNvSpPr>
            <p:nvPr/>
          </p:nvSpPr>
          <p:spPr bwMode="auto">
            <a:xfrm>
              <a:off x="912" y="1286"/>
              <a:ext cx="1856"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2000" b="1" dirty="0">
                  <a:solidFill>
                    <a:schemeClr val="hlink"/>
                  </a:solidFill>
                  <a:latin typeface="Arial Unicode MS" pitchFamily="34" charset="-128"/>
                </a:rPr>
                <a:t>The </a:t>
              </a:r>
              <a:r>
                <a:rPr lang="en-US" sz="2000" b="1" i="1" dirty="0">
                  <a:solidFill>
                    <a:schemeClr val="hlink"/>
                  </a:solidFill>
                  <a:latin typeface="Courier New" pitchFamily="49" charset="0"/>
                </a:rPr>
                <a:t>initialization</a:t>
              </a:r>
              <a:endParaRPr lang="en-US" sz="2000" b="1" dirty="0">
                <a:solidFill>
                  <a:schemeClr val="hlink"/>
                </a:solidFill>
                <a:latin typeface="Arial Unicode MS" pitchFamily="34" charset="-128"/>
              </a:endParaRPr>
            </a:p>
            <a:p>
              <a:pPr algn="ctr"/>
              <a:r>
                <a:rPr lang="en-US" sz="2000" b="1" dirty="0">
                  <a:solidFill>
                    <a:schemeClr val="hlink"/>
                  </a:solidFill>
                  <a:latin typeface="Arial Unicode MS" pitchFamily="34" charset="-128"/>
                </a:rPr>
                <a:t>is executed once</a:t>
              </a:r>
            </a:p>
            <a:p>
              <a:pPr algn="ctr"/>
              <a:r>
                <a:rPr lang="en-US" sz="2000" b="1" dirty="0">
                  <a:solidFill>
                    <a:schemeClr val="hlink"/>
                  </a:solidFill>
                  <a:latin typeface="Arial Unicode MS" pitchFamily="34" charset="-128"/>
                </a:rPr>
                <a:t>before the loop begins</a:t>
              </a:r>
              <a:endParaRPr lang="en-US" dirty="0">
                <a:solidFill>
                  <a:schemeClr val="hlink"/>
                </a:solidFill>
                <a:latin typeface="Arial Unicode MS" pitchFamily="34" charset="-128"/>
              </a:endParaRPr>
            </a:p>
          </p:txBody>
        </p:sp>
        <p:sp>
          <p:nvSpPr>
            <p:cNvPr id="12" name="Line 10"/>
            <p:cNvSpPr>
              <a:spLocks noChangeShapeType="1"/>
            </p:cNvSpPr>
            <p:nvPr/>
          </p:nvSpPr>
          <p:spPr bwMode="auto">
            <a:xfrm>
              <a:off x="1824" y="1920"/>
              <a:ext cx="96" cy="240"/>
            </a:xfrm>
            <a:prstGeom prst="line">
              <a:avLst/>
            </a:prstGeom>
            <a:noFill/>
            <a:ln w="31750">
              <a:solidFill>
                <a:srgbClr val="FF0000"/>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 name="Group 21"/>
          <p:cNvGrpSpPr>
            <a:grpSpLocks/>
          </p:cNvGrpSpPr>
          <p:nvPr/>
        </p:nvGrpSpPr>
        <p:grpSpPr bwMode="auto">
          <a:xfrm>
            <a:off x="4800600" y="2117725"/>
            <a:ext cx="3389313" cy="1371600"/>
            <a:chOff x="3024" y="1248"/>
            <a:chExt cx="2135" cy="864"/>
          </a:xfrm>
        </p:grpSpPr>
        <p:sp>
          <p:nvSpPr>
            <p:cNvPr id="14" name="Text Box 12"/>
            <p:cNvSpPr txBox="1">
              <a:spLocks noChangeArrowheads="1"/>
            </p:cNvSpPr>
            <p:nvPr/>
          </p:nvSpPr>
          <p:spPr bwMode="auto">
            <a:xfrm>
              <a:off x="3024" y="1248"/>
              <a:ext cx="2135"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2000" b="1">
                  <a:solidFill>
                    <a:schemeClr val="hlink"/>
                  </a:solidFill>
                  <a:latin typeface="Arial Unicode MS" pitchFamily="34" charset="-128"/>
                </a:rPr>
                <a:t>The </a:t>
              </a:r>
              <a:r>
                <a:rPr lang="en-US" sz="2000" b="1" i="1">
                  <a:solidFill>
                    <a:schemeClr val="hlink"/>
                  </a:solidFill>
                  <a:latin typeface="Courier New" pitchFamily="49" charset="0"/>
                </a:rPr>
                <a:t>statement</a:t>
              </a:r>
              <a:r>
                <a:rPr lang="en-US" sz="2000" b="1">
                  <a:solidFill>
                    <a:schemeClr val="hlink"/>
                  </a:solidFill>
                  <a:latin typeface="Arial Unicode MS" pitchFamily="34" charset="-128"/>
                </a:rPr>
                <a:t> is</a:t>
              </a:r>
            </a:p>
            <a:p>
              <a:pPr algn="ctr"/>
              <a:r>
                <a:rPr lang="en-US" sz="2000" b="1">
                  <a:solidFill>
                    <a:schemeClr val="hlink"/>
                  </a:solidFill>
                  <a:latin typeface="Arial Unicode MS" pitchFamily="34" charset="-128"/>
                </a:rPr>
                <a:t>executed until the</a:t>
              </a:r>
            </a:p>
            <a:p>
              <a:pPr algn="ctr"/>
              <a:r>
                <a:rPr lang="en-US" sz="2000" b="1" i="1">
                  <a:solidFill>
                    <a:schemeClr val="hlink"/>
                  </a:solidFill>
                  <a:latin typeface="Courier New" pitchFamily="49" charset="0"/>
                </a:rPr>
                <a:t>condition</a:t>
              </a:r>
              <a:r>
                <a:rPr lang="en-US" sz="2000" b="1">
                  <a:solidFill>
                    <a:schemeClr val="hlink"/>
                  </a:solidFill>
                  <a:latin typeface="Arial Unicode MS" pitchFamily="34" charset="-128"/>
                </a:rPr>
                <a:t> becomes false</a:t>
              </a:r>
              <a:endParaRPr lang="en-US">
                <a:solidFill>
                  <a:schemeClr val="hlink"/>
                </a:solidFill>
                <a:latin typeface="Arial Unicode MS" pitchFamily="34" charset="-128"/>
              </a:endParaRPr>
            </a:p>
          </p:txBody>
        </p:sp>
        <p:sp>
          <p:nvSpPr>
            <p:cNvPr id="15" name="Line 13"/>
            <p:cNvSpPr>
              <a:spLocks noChangeShapeType="1"/>
            </p:cNvSpPr>
            <p:nvPr/>
          </p:nvSpPr>
          <p:spPr bwMode="auto">
            <a:xfrm flipH="1">
              <a:off x="3648" y="1872"/>
              <a:ext cx="192" cy="240"/>
            </a:xfrm>
            <a:prstGeom prst="line">
              <a:avLst/>
            </a:prstGeom>
            <a:noFill/>
            <a:ln w="31750">
              <a:solidFill>
                <a:srgbClr val="FF0000"/>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 name="Group 22"/>
          <p:cNvGrpSpPr>
            <a:grpSpLocks/>
          </p:cNvGrpSpPr>
          <p:nvPr/>
        </p:nvGrpSpPr>
        <p:grpSpPr bwMode="auto">
          <a:xfrm>
            <a:off x="4114800" y="4159250"/>
            <a:ext cx="4586288" cy="1177925"/>
            <a:chOff x="2592" y="2534"/>
            <a:chExt cx="2889" cy="742"/>
          </a:xfrm>
        </p:grpSpPr>
        <p:sp>
          <p:nvSpPr>
            <p:cNvPr id="17" name="Text Box 15"/>
            <p:cNvSpPr txBox="1">
              <a:spLocks noChangeArrowheads="1"/>
            </p:cNvSpPr>
            <p:nvPr/>
          </p:nvSpPr>
          <p:spPr bwMode="auto">
            <a:xfrm>
              <a:off x="2592" y="2830"/>
              <a:ext cx="2889" cy="4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sz="2000" b="1" dirty="0">
                  <a:solidFill>
                    <a:schemeClr val="hlink"/>
                  </a:solidFill>
                  <a:latin typeface="Arial Unicode MS" pitchFamily="34" charset="-128"/>
                </a:rPr>
                <a:t>The </a:t>
              </a:r>
              <a:r>
                <a:rPr lang="en-US" sz="2000" b="1" i="1" dirty="0">
                  <a:solidFill>
                    <a:schemeClr val="hlink"/>
                  </a:solidFill>
                  <a:latin typeface="Courier New" pitchFamily="49" charset="0"/>
                </a:rPr>
                <a:t>variable update</a:t>
              </a:r>
              <a:r>
                <a:rPr lang="en-US" sz="2000" b="1" dirty="0">
                  <a:solidFill>
                    <a:schemeClr val="hlink"/>
                  </a:solidFill>
                  <a:latin typeface="Arial Unicode MS" pitchFamily="34" charset="-128"/>
                </a:rPr>
                <a:t> portion is executed at the end of each iteration</a:t>
              </a:r>
            </a:p>
          </p:txBody>
        </p:sp>
        <p:sp>
          <p:nvSpPr>
            <p:cNvPr id="18" name="Line 16"/>
            <p:cNvSpPr>
              <a:spLocks noChangeShapeType="1"/>
            </p:cNvSpPr>
            <p:nvPr/>
          </p:nvSpPr>
          <p:spPr bwMode="auto">
            <a:xfrm flipV="1">
              <a:off x="4217" y="2534"/>
              <a:ext cx="199" cy="298"/>
            </a:xfrm>
            <a:prstGeom prst="line">
              <a:avLst/>
            </a:prstGeom>
            <a:noFill/>
            <a:ln w="31750">
              <a:solidFill>
                <a:srgbClr val="FF0000"/>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38243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itchFamily="49" charset="0"/>
              </a:rPr>
              <a:t>for</a:t>
            </a:r>
            <a:r>
              <a:rPr lang="en-US" dirty="0"/>
              <a:t> Loop</a:t>
            </a:r>
          </a:p>
        </p:txBody>
      </p:sp>
      <p:sp>
        <p:nvSpPr>
          <p:cNvPr id="3" name="Content Placeholder 2"/>
          <p:cNvSpPr>
            <a:spLocks noGrp="1"/>
          </p:cNvSpPr>
          <p:nvPr>
            <p:ph idx="1"/>
          </p:nvPr>
        </p:nvSpPr>
        <p:spPr>
          <a:xfrm>
            <a:off x="677334" y="1645920"/>
            <a:ext cx="8596668" cy="4395443"/>
          </a:xfrm>
        </p:spPr>
        <p:txBody>
          <a:bodyPr>
            <a:normAutofit/>
          </a:bodyPr>
          <a:lstStyle/>
          <a:p>
            <a:r>
              <a:rPr lang="en-AU" sz="2400" dirty="0"/>
              <a:t>Initialization is done only once before first iteration of loop. </a:t>
            </a:r>
          </a:p>
          <a:p>
            <a:pPr lvl="1"/>
            <a:r>
              <a:rPr lang="en-AU" sz="2200" dirty="0"/>
              <a:t>Can have multiple initialization statements</a:t>
            </a:r>
          </a:p>
          <a:p>
            <a:pPr lvl="1"/>
            <a:r>
              <a:rPr lang="en-AU" sz="2200" dirty="0"/>
              <a:t>Can be used </a:t>
            </a:r>
            <a:r>
              <a:rPr lang="en-US" sz="2200" dirty="0"/>
              <a:t>to declare a variable</a:t>
            </a:r>
            <a:endParaRPr lang="en-AU" sz="2200" dirty="0"/>
          </a:p>
          <a:p>
            <a:r>
              <a:rPr lang="en-AU" sz="2400" dirty="0"/>
              <a:t>Condition is checked in each iteration before executing the body ( block of code) of loop.</a:t>
            </a:r>
          </a:p>
          <a:p>
            <a:r>
              <a:rPr lang="en-AU" sz="2400" dirty="0"/>
              <a:t>Increment / decrement or any expression written at statement 3 (</a:t>
            </a:r>
            <a:r>
              <a:rPr lang="en-US" dirty="0"/>
              <a:t>variable update</a:t>
            </a:r>
            <a:r>
              <a:rPr lang="en-AU" sz="2400" dirty="0"/>
              <a:t>) is executed at the end of each Iteration</a:t>
            </a:r>
          </a:p>
          <a:p>
            <a:pPr lvl="1"/>
            <a:r>
              <a:rPr lang="en-AU" sz="2200" dirty="0"/>
              <a:t>Can have multiple Statements</a:t>
            </a:r>
            <a:endParaRPr lang="en-US" sz="2200" dirty="0"/>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9</a:t>
            </a:fld>
            <a:endParaRPr lang="en-US"/>
          </a:p>
        </p:txBody>
      </p:sp>
    </p:spTree>
    <p:extLst>
      <p:ext uri="{BB962C8B-B14F-4D97-AF65-F5344CB8AC3E}">
        <p14:creationId xmlns:p14="http://schemas.microsoft.com/office/powerpoint/2010/main" val="820634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of a </a:t>
            </a:r>
            <a:r>
              <a:rPr lang="en-US" dirty="0">
                <a:latin typeface="Courier New" pitchFamily="49" charset="0"/>
              </a:rPr>
              <a:t>for</a:t>
            </a:r>
            <a:r>
              <a:rPr lang="en-US" dirty="0"/>
              <a:t> Loop (</a:t>
            </a:r>
            <a:r>
              <a:rPr lang="en-AU" dirty="0"/>
              <a:t>Flow Chart)</a:t>
            </a:r>
            <a:endParaRPr lang="en-US" dirty="0"/>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10</a:t>
            </a:fld>
            <a:endParaRPr lang="en-US"/>
          </a:p>
        </p:txBody>
      </p:sp>
      <p:pic>
        <p:nvPicPr>
          <p:cNvPr id="6"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15214" t="1837" r="15236" b="9989"/>
          <a:stretch/>
        </p:blipFill>
        <p:spPr bwMode="auto">
          <a:xfrm>
            <a:off x="1687484" y="1827414"/>
            <a:ext cx="5813377" cy="3883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8308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Simple </a:t>
            </a:r>
            <a:r>
              <a:rPr lang="en-AU" dirty="0" err="1"/>
              <a:t>Algo</a:t>
            </a:r>
            <a:r>
              <a:rPr lang="en-AU" dirty="0"/>
              <a:t> of </a:t>
            </a:r>
            <a:r>
              <a:rPr lang="en-AU" dirty="0">
                <a:latin typeface="Courier New" pitchFamily="49" charset="0"/>
              </a:rPr>
              <a:t>for</a:t>
            </a:r>
            <a:r>
              <a:rPr lang="en-AU" dirty="0"/>
              <a:t> Loop</a:t>
            </a:r>
            <a:endParaRPr lang="en-US" dirty="0"/>
          </a:p>
        </p:txBody>
      </p:sp>
      <p:sp>
        <p:nvSpPr>
          <p:cNvPr id="3" name="Content Placeholder 2"/>
          <p:cNvSpPr>
            <a:spLocks noGrp="1"/>
          </p:cNvSpPr>
          <p:nvPr>
            <p:ph idx="1"/>
          </p:nvPr>
        </p:nvSpPr>
        <p:spPr>
          <a:xfrm>
            <a:off x="436263" y="1562793"/>
            <a:ext cx="9522383" cy="4478569"/>
          </a:xfrm>
        </p:spPr>
        <p:txBody>
          <a:bodyPr>
            <a:noAutofit/>
          </a:bodyPr>
          <a:lstStyle/>
          <a:p>
            <a:r>
              <a:rPr lang="en-US" sz="2000" b="1" dirty="0"/>
              <a:t>First step:</a:t>
            </a:r>
            <a:r>
              <a:rPr lang="en-US" sz="2000" dirty="0"/>
              <a:t> In for loop, initialization happens first and only once, which means that the initialization part of for loop only executes once.</a:t>
            </a:r>
          </a:p>
          <a:p>
            <a:r>
              <a:rPr lang="en-US" sz="2000" b="1" dirty="0"/>
              <a:t>Second step:</a:t>
            </a:r>
            <a:r>
              <a:rPr lang="en-US" sz="2000" dirty="0"/>
              <a:t> Condition in for loop is evaluated on each loop iteration, if the condition is true then the statements inside of for loop body gets executed. Once the condition returns false, the statements in for loop does not execute and the control gets transferred to the next statement in the program after for loop.</a:t>
            </a:r>
          </a:p>
          <a:p>
            <a:r>
              <a:rPr lang="en-US" sz="2000" b="1" dirty="0"/>
              <a:t>Third step:</a:t>
            </a:r>
            <a:r>
              <a:rPr lang="en-US" sz="2000" dirty="0"/>
              <a:t> After every execution of for loop’s body, the increment/decrement part of for loop executes that updates the loop counter.</a:t>
            </a:r>
          </a:p>
          <a:p>
            <a:r>
              <a:rPr lang="en-US" sz="2000" b="1" dirty="0"/>
              <a:t>Fourth step:</a:t>
            </a:r>
            <a:r>
              <a:rPr lang="en-US" sz="2000" dirty="0"/>
              <a:t> After third step, the control jumps to second step and condition is re-evaluated.</a:t>
            </a:r>
          </a:p>
          <a:p>
            <a:r>
              <a:rPr lang="en-US" sz="2000" dirty="0"/>
              <a:t>The steps from second to fourth repeats until the loop condition returns false.</a:t>
            </a:r>
          </a:p>
          <a:p>
            <a:endParaRPr lang="en-US" sz="2000" dirty="0"/>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11</a:t>
            </a:fld>
            <a:endParaRPr lang="en-US"/>
          </a:p>
        </p:txBody>
      </p:sp>
    </p:spTree>
    <p:extLst>
      <p:ext uri="{BB962C8B-B14F-4D97-AF65-F5344CB8AC3E}">
        <p14:creationId xmlns:p14="http://schemas.microsoft.com/office/powerpoint/2010/main" val="2980233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of a </a:t>
            </a:r>
            <a:r>
              <a:rPr lang="en-US" dirty="0">
                <a:latin typeface="Courier New" pitchFamily="49" charset="0"/>
              </a:rPr>
              <a:t>for</a:t>
            </a:r>
            <a:r>
              <a:rPr lang="en-US" dirty="0"/>
              <a:t> loop:</a:t>
            </a:r>
          </a:p>
        </p:txBody>
      </p:sp>
      <p:sp>
        <p:nvSpPr>
          <p:cNvPr id="3" name="Content Placeholder 2"/>
          <p:cNvSpPr>
            <a:spLocks noGrp="1"/>
          </p:cNvSpPr>
          <p:nvPr>
            <p:ph idx="1"/>
          </p:nvPr>
        </p:nvSpPr>
        <p:spPr>
          <a:xfrm>
            <a:off x="677334" y="1828801"/>
            <a:ext cx="8596668" cy="4212562"/>
          </a:xfrm>
        </p:spPr>
        <p:txBody>
          <a:bodyPr>
            <a:normAutofit/>
          </a:bodyPr>
          <a:lstStyle/>
          <a:p>
            <a:r>
              <a:rPr lang="en-AU" sz="2400" b="1" dirty="0">
                <a:latin typeface="Courier New" pitchFamily="49" charset="0"/>
              </a:rPr>
              <a:t>Problem Statement:</a:t>
            </a:r>
          </a:p>
          <a:p>
            <a:pPr marL="457200" lvl="1" indent="0">
              <a:buNone/>
            </a:pPr>
            <a:r>
              <a:rPr lang="en-AU" sz="2000" b="1" dirty="0">
                <a:latin typeface="Courier New" pitchFamily="49" charset="0"/>
              </a:rPr>
              <a:t>Write a program which displays “Hello world” on screen 10 times.</a:t>
            </a:r>
          </a:p>
          <a:p>
            <a:pPr indent="-285750"/>
            <a:endParaRPr lang="en-AU" sz="2400" b="1" dirty="0">
              <a:latin typeface="Courier New" pitchFamily="49" charset="0"/>
            </a:endParaRPr>
          </a:p>
          <a:p>
            <a:pPr marL="0" indent="0">
              <a:buNone/>
            </a:pPr>
            <a:endParaRPr lang="en-US" sz="2400" b="1" dirty="0">
              <a:latin typeface="Courier New" pitchFamily="49" charset="0"/>
            </a:endParaRPr>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12</a:t>
            </a:fld>
            <a:endParaRPr lang="en-US"/>
          </a:p>
        </p:txBody>
      </p:sp>
    </p:spTree>
    <p:extLst>
      <p:ext uri="{BB962C8B-B14F-4D97-AF65-F5344CB8AC3E}">
        <p14:creationId xmlns:p14="http://schemas.microsoft.com/office/powerpoint/2010/main" val="28883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indent="-285750"/>
            <a:r>
              <a:rPr lang="en-AU" b="1" dirty="0">
                <a:latin typeface="Courier New" pitchFamily="49" charset="0"/>
              </a:rPr>
              <a:t>Solution 1 (without loop)</a:t>
            </a:r>
          </a:p>
        </p:txBody>
      </p:sp>
      <p:sp>
        <p:nvSpPr>
          <p:cNvPr id="3" name="Content Placeholder 2"/>
          <p:cNvSpPr>
            <a:spLocks noGrp="1"/>
          </p:cNvSpPr>
          <p:nvPr>
            <p:ph idx="1"/>
          </p:nvPr>
        </p:nvSpPr>
        <p:spPr>
          <a:xfrm>
            <a:off x="677334" y="1446415"/>
            <a:ext cx="8596668" cy="4594947"/>
          </a:xfrm>
        </p:spPr>
        <p:txBody>
          <a:bodyPr>
            <a:noAutofit/>
          </a:bodyPr>
          <a:lstStyle/>
          <a:p>
            <a:pPr marL="457200" lvl="1" indent="0">
              <a:buNone/>
            </a:pPr>
            <a:r>
              <a:rPr lang="en-AU" b="1" dirty="0" err="1">
                <a:latin typeface="Courier New" pitchFamily="49" charset="0"/>
              </a:rPr>
              <a:t>int</a:t>
            </a:r>
            <a:r>
              <a:rPr lang="en-AU" b="1" dirty="0">
                <a:latin typeface="Courier New" pitchFamily="49" charset="0"/>
              </a:rPr>
              <a:t> main()</a:t>
            </a:r>
          </a:p>
          <a:p>
            <a:pPr marL="457200" lvl="1" indent="0">
              <a:buNone/>
            </a:pPr>
            <a:r>
              <a:rPr lang="en-AU" b="1" dirty="0">
                <a:latin typeface="Courier New" pitchFamily="49" charset="0"/>
              </a:rPr>
              <a:t>{</a:t>
            </a:r>
          </a:p>
          <a:p>
            <a:pPr marL="457200" lvl="1" indent="0">
              <a:buNone/>
            </a:pPr>
            <a:r>
              <a:rPr lang="en-AU" b="1" dirty="0">
                <a:latin typeface="Courier New" pitchFamily="49" charset="0"/>
              </a:rPr>
              <a:t>	</a:t>
            </a:r>
            <a:r>
              <a:rPr lang="en-AU" b="1" dirty="0" err="1">
                <a:latin typeface="Courier New" pitchFamily="49" charset="0"/>
              </a:rPr>
              <a:t>cout</a:t>
            </a:r>
            <a:r>
              <a:rPr lang="en-AU" b="1" dirty="0">
                <a:latin typeface="Courier New" pitchFamily="49" charset="0"/>
              </a:rPr>
              <a:t>&lt;&lt;“Hello World”&lt;&lt;</a:t>
            </a:r>
            <a:r>
              <a:rPr lang="en-AU" b="1" dirty="0" err="1">
                <a:latin typeface="Courier New" pitchFamily="49" charset="0"/>
              </a:rPr>
              <a:t>endl</a:t>
            </a:r>
            <a:r>
              <a:rPr lang="en-AU" b="1" dirty="0">
                <a:latin typeface="Courier New" pitchFamily="49" charset="0"/>
              </a:rPr>
              <a:t>;</a:t>
            </a:r>
          </a:p>
          <a:p>
            <a:pPr marL="457200" lvl="1" indent="0">
              <a:buNone/>
            </a:pPr>
            <a:r>
              <a:rPr lang="en-AU" b="1" dirty="0">
                <a:latin typeface="Courier New" pitchFamily="49" charset="0"/>
              </a:rPr>
              <a:t>	</a:t>
            </a:r>
            <a:r>
              <a:rPr lang="en-AU" b="1" dirty="0" err="1">
                <a:latin typeface="Courier New" pitchFamily="49" charset="0"/>
              </a:rPr>
              <a:t>cout</a:t>
            </a:r>
            <a:r>
              <a:rPr lang="en-AU" b="1" dirty="0">
                <a:latin typeface="Courier New" pitchFamily="49" charset="0"/>
              </a:rPr>
              <a:t>&lt;&lt;“Hello World”&lt;&lt;</a:t>
            </a:r>
            <a:r>
              <a:rPr lang="en-AU" b="1" dirty="0" err="1">
                <a:latin typeface="Courier New" pitchFamily="49" charset="0"/>
              </a:rPr>
              <a:t>endl</a:t>
            </a:r>
            <a:r>
              <a:rPr lang="en-AU" b="1" dirty="0">
                <a:latin typeface="Courier New" pitchFamily="49" charset="0"/>
              </a:rPr>
              <a:t>;</a:t>
            </a:r>
          </a:p>
          <a:p>
            <a:pPr marL="457200" lvl="1" indent="0">
              <a:buNone/>
            </a:pPr>
            <a:r>
              <a:rPr lang="en-AU" b="1" dirty="0">
                <a:latin typeface="Courier New" pitchFamily="49" charset="0"/>
              </a:rPr>
              <a:t>	</a:t>
            </a:r>
            <a:r>
              <a:rPr lang="en-AU" b="1" dirty="0" err="1">
                <a:latin typeface="Courier New" pitchFamily="49" charset="0"/>
              </a:rPr>
              <a:t>cout</a:t>
            </a:r>
            <a:r>
              <a:rPr lang="en-AU" b="1" dirty="0">
                <a:latin typeface="Courier New" pitchFamily="49" charset="0"/>
              </a:rPr>
              <a:t>&lt;&lt;“Hello World”&lt;&lt;</a:t>
            </a:r>
            <a:r>
              <a:rPr lang="en-AU" b="1" dirty="0" err="1">
                <a:latin typeface="Courier New" pitchFamily="49" charset="0"/>
              </a:rPr>
              <a:t>endl</a:t>
            </a:r>
            <a:r>
              <a:rPr lang="en-AU" b="1" dirty="0">
                <a:latin typeface="Courier New" pitchFamily="49" charset="0"/>
              </a:rPr>
              <a:t>;</a:t>
            </a:r>
          </a:p>
          <a:p>
            <a:pPr marL="457200" lvl="1" indent="0">
              <a:buNone/>
            </a:pPr>
            <a:r>
              <a:rPr lang="en-AU" b="1" dirty="0">
                <a:latin typeface="Courier New" pitchFamily="49" charset="0"/>
              </a:rPr>
              <a:t>	</a:t>
            </a:r>
            <a:r>
              <a:rPr lang="en-AU" b="1" dirty="0" err="1">
                <a:latin typeface="Courier New" pitchFamily="49" charset="0"/>
              </a:rPr>
              <a:t>cout</a:t>
            </a:r>
            <a:r>
              <a:rPr lang="en-AU" b="1" dirty="0">
                <a:latin typeface="Courier New" pitchFamily="49" charset="0"/>
              </a:rPr>
              <a:t>&lt;&lt;“Hello World”&lt;&lt;</a:t>
            </a:r>
            <a:r>
              <a:rPr lang="en-AU" b="1" dirty="0" err="1">
                <a:latin typeface="Courier New" pitchFamily="49" charset="0"/>
              </a:rPr>
              <a:t>endl</a:t>
            </a:r>
            <a:r>
              <a:rPr lang="en-AU" b="1" dirty="0">
                <a:latin typeface="Courier New" pitchFamily="49" charset="0"/>
              </a:rPr>
              <a:t>;</a:t>
            </a:r>
          </a:p>
          <a:p>
            <a:pPr marL="457200" lvl="1" indent="0">
              <a:buNone/>
            </a:pPr>
            <a:r>
              <a:rPr lang="en-AU" b="1" dirty="0">
                <a:latin typeface="Courier New" pitchFamily="49" charset="0"/>
              </a:rPr>
              <a:t>	</a:t>
            </a:r>
            <a:r>
              <a:rPr lang="en-AU" b="1" dirty="0" err="1">
                <a:latin typeface="Courier New" pitchFamily="49" charset="0"/>
              </a:rPr>
              <a:t>cout</a:t>
            </a:r>
            <a:r>
              <a:rPr lang="en-AU" b="1" dirty="0">
                <a:latin typeface="Courier New" pitchFamily="49" charset="0"/>
              </a:rPr>
              <a:t>&lt;&lt;“Hello World”&lt;&lt;</a:t>
            </a:r>
            <a:r>
              <a:rPr lang="en-AU" b="1" dirty="0" err="1">
                <a:latin typeface="Courier New" pitchFamily="49" charset="0"/>
              </a:rPr>
              <a:t>endl</a:t>
            </a:r>
            <a:r>
              <a:rPr lang="en-AU" b="1" dirty="0">
                <a:latin typeface="Courier New" pitchFamily="49" charset="0"/>
              </a:rPr>
              <a:t>;</a:t>
            </a:r>
          </a:p>
          <a:p>
            <a:pPr marL="457200" lvl="1" indent="0">
              <a:buNone/>
            </a:pPr>
            <a:r>
              <a:rPr lang="en-AU" b="1" dirty="0">
                <a:latin typeface="Courier New" pitchFamily="49" charset="0"/>
              </a:rPr>
              <a:t>	</a:t>
            </a:r>
            <a:r>
              <a:rPr lang="en-AU" b="1" dirty="0" err="1">
                <a:latin typeface="Courier New" pitchFamily="49" charset="0"/>
              </a:rPr>
              <a:t>cout</a:t>
            </a:r>
            <a:r>
              <a:rPr lang="en-AU" b="1" dirty="0">
                <a:latin typeface="Courier New" pitchFamily="49" charset="0"/>
              </a:rPr>
              <a:t>&lt;&lt;“Hello World”&lt;&lt;</a:t>
            </a:r>
            <a:r>
              <a:rPr lang="en-AU" b="1" dirty="0" err="1">
                <a:latin typeface="Courier New" pitchFamily="49" charset="0"/>
              </a:rPr>
              <a:t>endl</a:t>
            </a:r>
            <a:r>
              <a:rPr lang="en-AU" b="1" dirty="0">
                <a:latin typeface="Courier New" pitchFamily="49" charset="0"/>
              </a:rPr>
              <a:t>;</a:t>
            </a:r>
          </a:p>
          <a:p>
            <a:pPr marL="457200" lvl="1" indent="0">
              <a:buNone/>
            </a:pPr>
            <a:r>
              <a:rPr lang="en-AU" b="1" dirty="0">
                <a:latin typeface="Courier New" pitchFamily="49" charset="0"/>
              </a:rPr>
              <a:t>	</a:t>
            </a:r>
            <a:r>
              <a:rPr lang="en-AU" b="1" dirty="0" err="1">
                <a:latin typeface="Courier New" pitchFamily="49" charset="0"/>
              </a:rPr>
              <a:t>cout</a:t>
            </a:r>
            <a:r>
              <a:rPr lang="en-AU" b="1" dirty="0">
                <a:latin typeface="Courier New" pitchFamily="49" charset="0"/>
              </a:rPr>
              <a:t>&lt;&lt;“Hello World”&lt;&lt;</a:t>
            </a:r>
            <a:r>
              <a:rPr lang="en-AU" b="1" dirty="0" err="1">
                <a:latin typeface="Courier New" pitchFamily="49" charset="0"/>
              </a:rPr>
              <a:t>endl</a:t>
            </a:r>
            <a:r>
              <a:rPr lang="en-AU" b="1" dirty="0">
                <a:latin typeface="Courier New" pitchFamily="49" charset="0"/>
              </a:rPr>
              <a:t>;</a:t>
            </a:r>
          </a:p>
          <a:p>
            <a:pPr marL="457200" lvl="1" indent="0">
              <a:buNone/>
            </a:pPr>
            <a:r>
              <a:rPr lang="en-AU" b="1" dirty="0">
                <a:latin typeface="Courier New" pitchFamily="49" charset="0"/>
              </a:rPr>
              <a:t>	</a:t>
            </a:r>
            <a:r>
              <a:rPr lang="en-AU" b="1" dirty="0" err="1">
                <a:latin typeface="Courier New" pitchFamily="49" charset="0"/>
              </a:rPr>
              <a:t>cout</a:t>
            </a:r>
            <a:r>
              <a:rPr lang="en-AU" b="1" dirty="0">
                <a:latin typeface="Courier New" pitchFamily="49" charset="0"/>
              </a:rPr>
              <a:t>&lt;&lt;“Hello World”&lt;&lt;</a:t>
            </a:r>
            <a:r>
              <a:rPr lang="en-AU" b="1" dirty="0" err="1">
                <a:latin typeface="Courier New" pitchFamily="49" charset="0"/>
              </a:rPr>
              <a:t>endl</a:t>
            </a:r>
            <a:r>
              <a:rPr lang="en-AU" b="1" dirty="0">
                <a:latin typeface="Courier New" pitchFamily="49" charset="0"/>
              </a:rPr>
              <a:t>;</a:t>
            </a:r>
          </a:p>
          <a:p>
            <a:pPr marL="457200" lvl="1" indent="0">
              <a:buNone/>
            </a:pPr>
            <a:r>
              <a:rPr lang="en-AU" b="1" dirty="0">
                <a:latin typeface="Courier New" pitchFamily="49" charset="0"/>
              </a:rPr>
              <a:t>	</a:t>
            </a:r>
            <a:r>
              <a:rPr lang="en-AU" b="1" dirty="0" err="1">
                <a:latin typeface="Courier New" pitchFamily="49" charset="0"/>
              </a:rPr>
              <a:t>cout</a:t>
            </a:r>
            <a:r>
              <a:rPr lang="en-AU" b="1" dirty="0">
                <a:latin typeface="Courier New" pitchFamily="49" charset="0"/>
              </a:rPr>
              <a:t>&lt;&lt;“Hello World”&lt;&lt;</a:t>
            </a:r>
            <a:r>
              <a:rPr lang="en-AU" b="1" dirty="0" err="1">
                <a:latin typeface="Courier New" pitchFamily="49" charset="0"/>
              </a:rPr>
              <a:t>endl</a:t>
            </a:r>
            <a:r>
              <a:rPr lang="en-AU" b="1" dirty="0">
                <a:latin typeface="Courier New" pitchFamily="49" charset="0"/>
              </a:rPr>
              <a:t>;</a:t>
            </a:r>
          </a:p>
          <a:p>
            <a:pPr marL="457200" lvl="1" indent="0">
              <a:buNone/>
            </a:pPr>
            <a:r>
              <a:rPr lang="en-AU" b="1" dirty="0">
                <a:latin typeface="Courier New" pitchFamily="49" charset="0"/>
              </a:rPr>
              <a:t>	</a:t>
            </a:r>
            <a:r>
              <a:rPr lang="en-AU" b="1" dirty="0" err="1">
                <a:latin typeface="Courier New" pitchFamily="49" charset="0"/>
              </a:rPr>
              <a:t>cout</a:t>
            </a:r>
            <a:r>
              <a:rPr lang="en-AU" b="1" dirty="0">
                <a:latin typeface="Courier New" pitchFamily="49" charset="0"/>
              </a:rPr>
              <a:t>&lt;&lt;“Hello World”&lt;&lt;</a:t>
            </a:r>
            <a:r>
              <a:rPr lang="en-AU" b="1" dirty="0" err="1">
                <a:latin typeface="Courier New" pitchFamily="49" charset="0"/>
              </a:rPr>
              <a:t>endl</a:t>
            </a:r>
            <a:r>
              <a:rPr lang="en-AU" b="1" dirty="0">
                <a:latin typeface="Courier New" pitchFamily="49" charset="0"/>
              </a:rPr>
              <a:t>;</a:t>
            </a:r>
          </a:p>
          <a:p>
            <a:pPr marL="457200" lvl="1" indent="0">
              <a:buNone/>
            </a:pPr>
            <a:r>
              <a:rPr lang="en-AU" b="1" dirty="0">
                <a:latin typeface="Courier New" pitchFamily="49" charset="0"/>
              </a:rPr>
              <a:t>return 0;</a:t>
            </a:r>
          </a:p>
          <a:p>
            <a:pPr marL="457200" lvl="1" indent="0">
              <a:buNone/>
            </a:pPr>
            <a:r>
              <a:rPr lang="en-AU" b="1" dirty="0">
                <a:latin typeface="Courier New" pitchFamily="49" charset="0"/>
              </a:rPr>
              <a:t>}</a:t>
            </a:r>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13</a:t>
            </a:fld>
            <a:endParaRPr lang="en-US"/>
          </a:p>
        </p:txBody>
      </p:sp>
    </p:spTree>
    <p:extLst>
      <p:ext uri="{BB962C8B-B14F-4D97-AF65-F5344CB8AC3E}">
        <p14:creationId xmlns:p14="http://schemas.microsoft.com/office/powerpoint/2010/main" val="91293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indent="-285750"/>
            <a:r>
              <a:rPr lang="en-AU" b="1" dirty="0">
                <a:latin typeface="Courier New" pitchFamily="49" charset="0"/>
              </a:rPr>
              <a:t>Solution 2 (with for loop)</a:t>
            </a:r>
          </a:p>
        </p:txBody>
      </p:sp>
      <p:sp>
        <p:nvSpPr>
          <p:cNvPr id="3" name="Content Placeholder 2"/>
          <p:cNvSpPr>
            <a:spLocks noGrp="1"/>
          </p:cNvSpPr>
          <p:nvPr>
            <p:ph idx="1"/>
          </p:nvPr>
        </p:nvSpPr>
        <p:spPr>
          <a:xfrm>
            <a:off x="677334" y="1446415"/>
            <a:ext cx="8596668" cy="4594947"/>
          </a:xfrm>
        </p:spPr>
        <p:txBody>
          <a:bodyPr>
            <a:noAutofit/>
          </a:bodyPr>
          <a:lstStyle/>
          <a:p>
            <a:pPr marL="0" lvl="1" indent="0">
              <a:buNone/>
            </a:pPr>
            <a:r>
              <a:rPr lang="en-AU" sz="2400" dirty="0" err="1"/>
              <a:t>int</a:t>
            </a:r>
            <a:r>
              <a:rPr lang="en-AU" sz="2400" dirty="0"/>
              <a:t> main()</a:t>
            </a:r>
          </a:p>
          <a:p>
            <a:pPr marL="0" lvl="1" indent="0">
              <a:buNone/>
            </a:pPr>
            <a:r>
              <a:rPr lang="en-AU" sz="2400" dirty="0"/>
              <a:t>{</a:t>
            </a:r>
          </a:p>
          <a:p>
            <a:pPr marL="0" lvl="1" indent="0">
              <a:buNone/>
            </a:pPr>
            <a:r>
              <a:rPr lang="en-AU" sz="2400" dirty="0"/>
              <a:t>	</a:t>
            </a:r>
            <a:r>
              <a:rPr lang="en-AU" sz="2400" dirty="0" err="1"/>
              <a:t>int</a:t>
            </a:r>
            <a:r>
              <a:rPr lang="en-AU" sz="2400" dirty="0"/>
              <a:t> </a:t>
            </a:r>
            <a:r>
              <a:rPr lang="en-AU" sz="2400" dirty="0" err="1"/>
              <a:t>i</a:t>
            </a:r>
            <a:r>
              <a:rPr lang="en-AU" sz="2400" dirty="0"/>
              <a:t>;</a:t>
            </a:r>
          </a:p>
          <a:p>
            <a:pPr marL="0" lvl="1" indent="0">
              <a:buNone/>
            </a:pPr>
            <a:r>
              <a:rPr lang="en-AU" sz="2400" dirty="0"/>
              <a:t>	for( </a:t>
            </a:r>
            <a:r>
              <a:rPr lang="en-AU" sz="2400" dirty="0" err="1"/>
              <a:t>i</a:t>
            </a:r>
            <a:r>
              <a:rPr lang="en-AU" sz="2400" dirty="0"/>
              <a:t>=1; </a:t>
            </a:r>
            <a:r>
              <a:rPr lang="en-AU" sz="2400" dirty="0" err="1"/>
              <a:t>i</a:t>
            </a:r>
            <a:r>
              <a:rPr lang="en-AU" sz="2400" dirty="0"/>
              <a:t>&lt;=10; </a:t>
            </a:r>
            <a:r>
              <a:rPr lang="en-AU" sz="2400" dirty="0" err="1"/>
              <a:t>i</a:t>
            </a:r>
            <a:r>
              <a:rPr lang="en-AU" sz="2400" dirty="0"/>
              <a:t>++)</a:t>
            </a:r>
          </a:p>
          <a:p>
            <a:pPr marL="0" lvl="1" indent="0">
              <a:buNone/>
            </a:pPr>
            <a:r>
              <a:rPr lang="en-AU" sz="2400" dirty="0"/>
              <a:t>	{</a:t>
            </a:r>
          </a:p>
          <a:p>
            <a:pPr marL="0" lvl="1" indent="0">
              <a:buNone/>
            </a:pPr>
            <a:r>
              <a:rPr lang="en-AU" sz="2400" dirty="0"/>
              <a:t>		</a:t>
            </a:r>
            <a:r>
              <a:rPr lang="en-AU" sz="2400" dirty="0" err="1"/>
              <a:t>cout</a:t>
            </a:r>
            <a:r>
              <a:rPr lang="en-AU" sz="2400" dirty="0"/>
              <a:t>&lt;&lt;“Hello World”&lt;&lt;</a:t>
            </a:r>
            <a:r>
              <a:rPr lang="en-AU" sz="2400" dirty="0" err="1"/>
              <a:t>endl</a:t>
            </a:r>
            <a:r>
              <a:rPr lang="en-AU" sz="2400" dirty="0"/>
              <a:t>;</a:t>
            </a:r>
          </a:p>
          <a:p>
            <a:pPr marL="0" lvl="1" indent="0">
              <a:buNone/>
            </a:pPr>
            <a:r>
              <a:rPr lang="en-AU" sz="2400" dirty="0"/>
              <a:t>	}</a:t>
            </a:r>
          </a:p>
          <a:p>
            <a:pPr marL="0" lvl="1" indent="0">
              <a:buNone/>
            </a:pPr>
            <a:r>
              <a:rPr lang="en-AU" sz="2400" dirty="0"/>
              <a:t>	return 0;</a:t>
            </a:r>
          </a:p>
          <a:p>
            <a:pPr marL="0" lvl="1" indent="0">
              <a:buNone/>
            </a:pPr>
            <a:r>
              <a:rPr lang="en-AU" sz="2400" dirty="0"/>
              <a:t>}</a:t>
            </a:r>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14</a:t>
            </a:fld>
            <a:endParaRPr lang="en-US"/>
          </a:p>
        </p:txBody>
      </p:sp>
    </p:spTree>
    <p:extLst>
      <p:ext uri="{BB962C8B-B14F-4D97-AF65-F5344CB8AC3E}">
        <p14:creationId xmlns:p14="http://schemas.microsoft.com/office/powerpoint/2010/main" val="1404968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Another Example</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err="1"/>
              <a:t>int</a:t>
            </a:r>
            <a:r>
              <a:rPr lang="en-US" dirty="0"/>
              <a:t> main(){</a:t>
            </a:r>
          </a:p>
          <a:p>
            <a:pPr marL="0" indent="0">
              <a:buNone/>
            </a:pPr>
            <a:r>
              <a:rPr lang="en-US" dirty="0"/>
              <a:t>   for(</a:t>
            </a:r>
            <a:r>
              <a:rPr lang="en-US" dirty="0" err="1"/>
              <a:t>int</a:t>
            </a:r>
            <a:r>
              <a:rPr lang="en-US" dirty="0"/>
              <a:t> </a:t>
            </a:r>
            <a:r>
              <a:rPr lang="en-US" dirty="0" err="1"/>
              <a:t>i</a:t>
            </a:r>
            <a:r>
              <a:rPr lang="en-US" dirty="0"/>
              <a:t>=1; </a:t>
            </a:r>
            <a:r>
              <a:rPr lang="en-US" dirty="0" err="1"/>
              <a:t>i</a:t>
            </a:r>
            <a:r>
              <a:rPr lang="en-US" dirty="0"/>
              <a:t>&lt;=6; </a:t>
            </a:r>
            <a:r>
              <a:rPr lang="en-US" dirty="0" err="1"/>
              <a:t>i</a:t>
            </a:r>
            <a:r>
              <a:rPr lang="en-US" dirty="0"/>
              <a:t>++){</a:t>
            </a:r>
          </a:p>
          <a:p>
            <a:pPr marL="0" indent="0">
              <a:buNone/>
            </a:pPr>
            <a:r>
              <a:rPr lang="en-US" dirty="0"/>
              <a:t>      /* This statement would be executed</a:t>
            </a:r>
          </a:p>
          <a:p>
            <a:pPr marL="0" indent="0">
              <a:buNone/>
            </a:pPr>
            <a:r>
              <a:rPr lang="en-US" dirty="0"/>
              <a:t>       * repeatedly until the condition</a:t>
            </a:r>
          </a:p>
          <a:p>
            <a:pPr marL="0" indent="0">
              <a:buNone/>
            </a:pPr>
            <a:r>
              <a:rPr lang="en-US" dirty="0"/>
              <a:t>       * </a:t>
            </a:r>
            <a:r>
              <a:rPr lang="en-US" dirty="0" err="1"/>
              <a:t>i</a:t>
            </a:r>
            <a:r>
              <a:rPr lang="en-US" dirty="0"/>
              <a:t>&lt;=6 returns false.</a:t>
            </a:r>
          </a:p>
          <a:p>
            <a:pPr marL="0" indent="0">
              <a:buNone/>
            </a:pPr>
            <a:r>
              <a:rPr lang="en-US" dirty="0"/>
              <a:t>       */</a:t>
            </a:r>
          </a:p>
          <a:p>
            <a:pPr marL="0" indent="0">
              <a:buNone/>
            </a:pPr>
            <a:r>
              <a:rPr lang="en-US" dirty="0"/>
              <a:t>      </a:t>
            </a:r>
            <a:r>
              <a:rPr lang="en-US" dirty="0" err="1"/>
              <a:t>cout</a:t>
            </a:r>
            <a:r>
              <a:rPr lang="en-US" dirty="0"/>
              <a:t>&lt;&lt;"Value of variable </a:t>
            </a:r>
            <a:r>
              <a:rPr lang="en-US" dirty="0" err="1"/>
              <a:t>i</a:t>
            </a:r>
            <a:r>
              <a:rPr lang="en-US" dirty="0"/>
              <a:t> is: "&lt;&lt;</a:t>
            </a:r>
            <a:r>
              <a:rPr lang="en-US" dirty="0" err="1"/>
              <a:t>i</a:t>
            </a:r>
            <a:r>
              <a:rPr lang="en-US" dirty="0"/>
              <a:t>&lt;&lt;</a:t>
            </a:r>
            <a:r>
              <a:rPr lang="en-US" dirty="0" err="1"/>
              <a:t>endl</a:t>
            </a:r>
            <a:r>
              <a:rPr lang="en-US" dirty="0"/>
              <a:t>;</a:t>
            </a:r>
          </a:p>
          <a:p>
            <a:pPr marL="0" indent="0">
              <a:buNone/>
            </a:pPr>
            <a:r>
              <a:rPr lang="en-US" dirty="0"/>
              <a:t>   }</a:t>
            </a:r>
          </a:p>
          <a:p>
            <a:pPr marL="0" indent="0">
              <a:buNone/>
            </a:pPr>
            <a:r>
              <a:rPr lang="en-US" dirty="0"/>
              <a:t>   return 0;</a:t>
            </a:r>
          </a:p>
          <a:p>
            <a:pPr marL="0" indent="0">
              <a:buNone/>
            </a:pPr>
            <a:r>
              <a:rPr lang="en-US" dirty="0"/>
              <a:t>}</a:t>
            </a:r>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15</a:t>
            </a:fld>
            <a:endParaRPr lang="en-US"/>
          </a:p>
        </p:txBody>
      </p:sp>
    </p:spTree>
    <p:extLst>
      <p:ext uri="{BB962C8B-B14F-4D97-AF65-F5344CB8AC3E}">
        <p14:creationId xmlns:p14="http://schemas.microsoft.com/office/powerpoint/2010/main" val="2888119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Another Example</a:t>
            </a:r>
            <a:endParaRPr lang="en-US" dirty="0"/>
          </a:p>
        </p:txBody>
      </p:sp>
      <p:sp>
        <p:nvSpPr>
          <p:cNvPr id="3" name="Content Placeholder 2"/>
          <p:cNvSpPr>
            <a:spLocks noGrp="1"/>
          </p:cNvSpPr>
          <p:nvPr>
            <p:ph sz="half" idx="1"/>
          </p:nvPr>
        </p:nvSpPr>
        <p:spPr>
          <a:xfrm>
            <a:off x="677334" y="1930400"/>
            <a:ext cx="4858942" cy="4110961"/>
          </a:xfrm>
        </p:spPr>
        <p:txBody>
          <a:bodyPr>
            <a:normAutofit/>
          </a:bodyPr>
          <a:lstStyle/>
          <a:p>
            <a:pPr marL="0" indent="0">
              <a:buNone/>
            </a:pPr>
            <a:r>
              <a:rPr lang="en-US" dirty="0" err="1"/>
              <a:t>int</a:t>
            </a:r>
            <a:r>
              <a:rPr lang="en-US" dirty="0"/>
              <a:t> main(){</a:t>
            </a:r>
          </a:p>
          <a:p>
            <a:pPr marL="0" indent="0">
              <a:buNone/>
            </a:pPr>
            <a:r>
              <a:rPr lang="en-US" dirty="0"/>
              <a:t>   for(</a:t>
            </a:r>
            <a:r>
              <a:rPr lang="en-US" dirty="0" err="1"/>
              <a:t>int</a:t>
            </a:r>
            <a:r>
              <a:rPr lang="en-US" dirty="0"/>
              <a:t> </a:t>
            </a:r>
            <a:r>
              <a:rPr lang="en-US" dirty="0" err="1"/>
              <a:t>i</a:t>
            </a:r>
            <a:r>
              <a:rPr lang="en-US" dirty="0"/>
              <a:t>=1; </a:t>
            </a:r>
            <a:r>
              <a:rPr lang="en-US" dirty="0" err="1"/>
              <a:t>i</a:t>
            </a:r>
            <a:r>
              <a:rPr lang="en-US" dirty="0"/>
              <a:t>&lt;=6; </a:t>
            </a:r>
            <a:r>
              <a:rPr lang="en-US" dirty="0" err="1"/>
              <a:t>i</a:t>
            </a:r>
            <a:r>
              <a:rPr lang="en-US" dirty="0"/>
              <a:t>++){</a:t>
            </a:r>
          </a:p>
          <a:p>
            <a:pPr marL="0" indent="0">
              <a:buNone/>
            </a:pPr>
            <a:r>
              <a:rPr lang="en-US" dirty="0"/>
              <a:t>      /* This statement would be executed</a:t>
            </a:r>
          </a:p>
          <a:p>
            <a:pPr marL="0" indent="0">
              <a:buNone/>
            </a:pPr>
            <a:r>
              <a:rPr lang="en-US" dirty="0"/>
              <a:t>       * repeatedly until the condition</a:t>
            </a:r>
          </a:p>
          <a:p>
            <a:pPr marL="0" indent="0">
              <a:buNone/>
            </a:pPr>
            <a:r>
              <a:rPr lang="en-US" dirty="0"/>
              <a:t>       * </a:t>
            </a:r>
            <a:r>
              <a:rPr lang="en-US" dirty="0" err="1"/>
              <a:t>i</a:t>
            </a:r>
            <a:r>
              <a:rPr lang="en-US" dirty="0"/>
              <a:t>&lt;=6 returns false.</a:t>
            </a:r>
          </a:p>
          <a:p>
            <a:pPr marL="0" indent="0">
              <a:buNone/>
            </a:pPr>
            <a:r>
              <a:rPr lang="en-US" dirty="0"/>
              <a:t>       */</a:t>
            </a:r>
          </a:p>
          <a:p>
            <a:pPr marL="0" indent="0">
              <a:buNone/>
            </a:pPr>
            <a:r>
              <a:rPr lang="en-US" dirty="0">
                <a:solidFill>
                  <a:srgbClr val="C00000"/>
                </a:solidFill>
              </a:rPr>
              <a:t>      </a:t>
            </a:r>
            <a:r>
              <a:rPr lang="en-US" dirty="0" err="1">
                <a:solidFill>
                  <a:srgbClr val="C00000"/>
                </a:solidFill>
              </a:rPr>
              <a:t>cout</a:t>
            </a:r>
            <a:r>
              <a:rPr lang="en-US" dirty="0">
                <a:solidFill>
                  <a:srgbClr val="C00000"/>
                </a:solidFill>
              </a:rPr>
              <a:t>&lt;&lt;"Value of variable </a:t>
            </a:r>
            <a:r>
              <a:rPr lang="en-US" dirty="0" err="1">
                <a:solidFill>
                  <a:srgbClr val="C00000"/>
                </a:solidFill>
              </a:rPr>
              <a:t>i</a:t>
            </a:r>
            <a:r>
              <a:rPr lang="en-US" dirty="0">
                <a:solidFill>
                  <a:srgbClr val="C00000"/>
                </a:solidFill>
              </a:rPr>
              <a:t> is: "&lt;&lt;</a:t>
            </a:r>
            <a:r>
              <a:rPr lang="en-US" dirty="0" err="1">
                <a:solidFill>
                  <a:srgbClr val="C00000"/>
                </a:solidFill>
              </a:rPr>
              <a:t>i</a:t>
            </a:r>
            <a:r>
              <a:rPr lang="en-US" dirty="0">
                <a:solidFill>
                  <a:srgbClr val="C00000"/>
                </a:solidFill>
              </a:rPr>
              <a:t>&lt;&lt;</a:t>
            </a:r>
            <a:r>
              <a:rPr lang="en-US" dirty="0" err="1">
                <a:solidFill>
                  <a:srgbClr val="C00000"/>
                </a:solidFill>
              </a:rPr>
              <a:t>endl</a:t>
            </a:r>
            <a:r>
              <a:rPr lang="en-US" dirty="0">
                <a:solidFill>
                  <a:srgbClr val="C00000"/>
                </a:solidFill>
              </a:rPr>
              <a:t>;</a:t>
            </a:r>
          </a:p>
          <a:p>
            <a:pPr marL="0" indent="0">
              <a:buNone/>
            </a:pPr>
            <a:r>
              <a:rPr lang="en-US" dirty="0"/>
              <a:t>   }</a:t>
            </a:r>
          </a:p>
          <a:p>
            <a:pPr marL="0" indent="0">
              <a:buNone/>
            </a:pPr>
            <a:r>
              <a:rPr lang="en-US" dirty="0"/>
              <a:t>   return 0;</a:t>
            </a:r>
          </a:p>
          <a:p>
            <a:pPr marL="0" indent="0">
              <a:buNone/>
            </a:pPr>
            <a:r>
              <a:rPr lang="en-US" dirty="0"/>
              <a:t>}</a:t>
            </a:r>
          </a:p>
        </p:txBody>
      </p:sp>
      <p:sp>
        <p:nvSpPr>
          <p:cNvPr id="6" name="Content Placeholder 5"/>
          <p:cNvSpPr>
            <a:spLocks noGrp="1"/>
          </p:cNvSpPr>
          <p:nvPr>
            <p:ph sz="half" idx="2"/>
          </p:nvPr>
        </p:nvSpPr>
        <p:spPr>
          <a:xfrm>
            <a:off x="6420008" y="2160589"/>
            <a:ext cx="4184034" cy="3880773"/>
          </a:xfrm>
        </p:spPr>
        <p:txBody>
          <a:bodyPr>
            <a:normAutofit/>
          </a:bodyPr>
          <a:lstStyle/>
          <a:p>
            <a:pPr marL="0" indent="0">
              <a:buNone/>
            </a:pPr>
            <a:r>
              <a:rPr lang="en-AU" sz="3000" b="1" dirty="0"/>
              <a:t>Output:</a:t>
            </a:r>
            <a:endParaRPr lang="en-US" b="1" dirty="0"/>
          </a:p>
          <a:p>
            <a:pPr marL="0" indent="0">
              <a:buNone/>
            </a:pPr>
            <a:r>
              <a:rPr lang="en-US" dirty="0"/>
              <a:t>Value of variable </a:t>
            </a:r>
            <a:r>
              <a:rPr lang="en-US" dirty="0" err="1"/>
              <a:t>i</a:t>
            </a:r>
            <a:r>
              <a:rPr lang="en-US" dirty="0"/>
              <a:t> is: 1</a:t>
            </a:r>
          </a:p>
          <a:p>
            <a:pPr marL="0" indent="0">
              <a:buNone/>
            </a:pPr>
            <a:r>
              <a:rPr lang="en-US" dirty="0"/>
              <a:t>Value of variable </a:t>
            </a:r>
            <a:r>
              <a:rPr lang="en-US" dirty="0" err="1"/>
              <a:t>i</a:t>
            </a:r>
            <a:r>
              <a:rPr lang="en-US" dirty="0"/>
              <a:t> is: 2</a:t>
            </a:r>
          </a:p>
          <a:p>
            <a:pPr marL="0" indent="0">
              <a:buNone/>
            </a:pPr>
            <a:r>
              <a:rPr lang="en-US" dirty="0"/>
              <a:t>Value of variable </a:t>
            </a:r>
            <a:r>
              <a:rPr lang="en-US" dirty="0" err="1"/>
              <a:t>i</a:t>
            </a:r>
            <a:r>
              <a:rPr lang="en-US" dirty="0"/>
              <a:t> is: 3</a:t>
            </a:r>
          </a:p>
          <a:p>
            <a:pPr marL="0" indent="0">
              <a:buNone/>
            </a:pPr>
            <a:r>
              <a:rPr lang="en-US" dirty="0"/>
              <a:t>Value of variable </a:t>
            </a:r>
            <a:r>
              <a:rPr lang="en-US" dirty="0" err="1"/>
              <a:t>i</a:t>
            </a:r>
            <a:r>
              <a:rPr lang="en-US" dirty="0"/>
              <a:t> is: 4</a:t>
            </a:r>
          </a:p>
          <a:p>
            <a:pPr marL="0" indent="0">
              <a:buNone/>
            </a:pPr>
            <a:r>
              <a:rPr lang="en-US" dirty="0"/>
              <a:t>Value of variable </a:t>
            </a:r>
            <a:r>
              <a:rPr lang="en-US" dirty="0" err="1"/>
              <a:t>i</a:t>
            </a:r>
            <a:r>
              <a:rPr lang="en-US" dirty="0"/>
              <a:t> is: 5</a:t>
            </a:r>
          </a:p>
          <a:p>
            <a:pPr marL="0" indent="0">
              <a:buNone/>
            </a:pPr>
            <a:r>
              <a:rPr lang="en-US" dirty="0"/>
              <a:t>Value of variable </a:t>
            </a:r>
            <a:r>
              <a:rPr lang="en-US" dirty="0" err="1"/>
              <a:t>i</a:t>
            </a:r>
            <a:r>
              <a:rPr lang="en-US" dirty="0"/>
              <a:t> is: 6</a:t>
            </a:r>
          </a:p>
        </p:txBody>
      </p:sp>
      <p:sp>
        <p:nvSpPr>
          <p:cNvPr id="4" name="Footer Placeholder 3"/>
          <p:cNvSpPr>
            <a:spLocks noGrp="1"/>
          </p:cNvSpPr>
          <p:nvPr>
            <p:ph type="ftr" sz="quarter" idx="11"/>
          </p:nvPr>
        </p:nvSpPr>
        <p:spPr/>
        <p:txBody>
          <a:bodyPr/>
          <a:lstStyle/>
          <a:p>
            <a:r>
              <a:rPr lang="en-US" dirty="0"/>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16</a:t>
            </a:fld>
            <a:endParaRPr lang="en-US"/>
          </a:p>
        </p:txBody>
      </p:sp>
    </p:spTree>
    <p:extLst>
      <p:ext uri="{BB962C8B-B14F-4D97-AF65-F5344CB8AC3E}">
        <p14:creationId xmlns:p14="http://schemas.microsoft.com/office/powerpoint/2010/main" val="1324636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t>Infinite for loop</a:t>
            </a:r>
          </a:p>
        </p:txBody>
      </p:sp>
      <p:sp>
        <p:nvSpPr>
          <p:cNvPr id="8" name="Content Placeholder 7"/>
          <p:cNvSpPr>
            <a:spLocks noGrp="1"/>
          </p:cNvSpPr>
          <p:nvPr>
            <p:ph idx="1"/>
          </p:nvPr>
        </p:nvSpPr>
        <p:spPr>
          <a:xfrm>
            <a:off x="677334" y="1512917"/>
            <a:ext cx="8596668" cy="4528446"/>
          </a:xfrm>
        </p:spPr>
        <p:txBody>
          <a:bodyPr>
            <a:noAutofit/>
          </a:bodyPr>
          <a:lstStyle/>
          <a:p>
            <a:r>
              <a:rPr lang="en-US" sz="2400" dirty="0"/>
              <a:t>When it executes repeatedly and never stops</a:t>
            </a:r>
          </a:p>
          <a:p>
            <a:r>
              <a:rPr lang="en-AU" sz="2400" dirty="0"/>
              <a:t>Cause:</a:t>
            </a:r>
          </a:p>
          <a:p>
            <a:pPr marL="457200" lvl="1" indent="0">
              <a:buNone/>
            </a:pPr>
            <a:r>
              <a:rPr lang="en-US" sz="2000" dirty="0"/>
              <a:t>When you set the condition in for loop in such a way that it never return false, it becomes infinite loop.</a:t>
            </a:r>
          </a:p>
          <a:p>
            <a:pPr marL="342900" lvl="1" indent="-342900"/>
            <a:r>
              <a:rPr lang="en-AU" sz="2400" dirty="0"/>
              <a:t>Example</a:t>
            </a:r>
            <a:endParaRPr lang="en-US" sz="2400" dirty="0"/>
          </a:p>
          <a:p>
            <a:pPr marL="457200" lvl="1" indent="0">
              <a:buNone/>
            </a:pPr>
            <a:r>
              <a:rPr lang="en-US" sz="2000" dirty="0" err="1"/>
              <a:t>int</a:t>
            </a:r>
            <a:r>
              <a:rPr lang="en-US" sz="2000" dirty="0"/>
              <a:t> main(){</a:t>
            </a:r>
          </a:p>
          <a:p>
            <a:pPr marL="457200" lvl="1" indent="0">
              <a:buNone/>
            </a:pPr>
            <a:r>
              <a:rPr lang="en-US" sz="2000" dirty="0"/>
              <a:t>   for(</a:t>
            </a:r>
            <a:r>
              <a:rPr lang="en-US" sz="2000" dirty="0" err="1"/>
              <a:t>int</a:t>
            </a:r>
            <a:r>
              <a:rPr lang="en-US" sz="2000" dirty="0"/>
              <a:t> </a:t>
            </a:r>
            <a:r>
              <a:rPr lang="en-US" sz="2000" dirty="0" err="1"/>
              <a:t>i</a:t>
            </a:r>
            <a:r>
              <a:rPr lang="en-US" sz="2000" dirty="0"/>
              <a:t>=1; </a:t>
            </a:r>
            <a:r>
              <a:rPr lang="en-US" sz="2000" dirty="0" err="1"/>
              <a:t>i</a:t>
            </a:r>
            <a:r>
              <a:rPr lang="en-US" sz="2000" dirty="0"/>
              <a:t>&gt;=1; </a:t>
            </a:r>
            <a:r>
              <a:rPr lang="en-US" sz="2000" dirty="0" err="1"/>
              <a:t>i</a:t>
            </a:r>
            <a:r>
              <a:rPr lang="en-US" sz="2000" dirty="0"/>
              <a:t>++){</a:t>
            </a:r>
          </a:p>
          <a:p>
            <a:pPr marL="457200" lvl="1" indent="0">
              <a:buNone/>
            </a:pPr>
            <a:r>
              <a:rPr lang="en-US" sz="2000" dirty="0"/>
              <a:t>      </a:t>
            </a:r>
            <a:r>
              <a:rPr lang="en-US" sz="2000" dirty="0" err="1"/>
              <a:t>cout</a:t>
            </a:r>
            <a:r>
              <a:rPr lang="en-US" sz="2000" dirty="0"/>
              <a:t>&lt;&lt;"Value of variable </a:t>
            </a:r>
            <a:r>
              <a:rPr lang="en-US" sz="2000" dirty="0" err="1"/>
              <a:t>i</a:t>
            </a:r>
            <a:r>
              <a:rPr lang="en-US" sz="2000" dirty="0"/>
              <a:t> is: "&lt;&lt;</a:t>
            </a:r>
            <a:r>
              <a:rPr lang="en-US" sz="2000" dirty="0" err="1"/>
              <a:t>i</a:t>
            </a:r>
            <a:r>
              <a:rPr lang="en-US" sz="2000" dirty="0"/>
              <a:t>&lt;&lt;</a:t>
            </a:r>
            <a:r>
              <a:rPr lang="en-US" sz="2000" dirty="0" err="1"/>
              <a:t>endl</a:t>
            </a:r>
            <a:r>
              <a:rPr lang="en-US" sz="2000" dirty="0"/>
              <a:t>;</a:t>
            </a:r>
          </a:p>
          <a:p>
            <a:pPr marL="457200" lvl="1" indent="0">
              <a:buNone/>
            </a:pPr>
            <a:r>
              <a:rPr lang="en-US" sz="2000" dirty="0"/>
              <a:t>   }</a:t>
            </a:r>
          </a:p>
          <a:p>
            <a:pPr marL="457200" lvl="1" indent="0">
              <a:buNone/>
            </a:pPr>
            <a:r>
              <a:rPr lang="en-US" sz="2000" dirty="0"/>
              <a:t>   return 0;</a:t>
            </a:r>
          </a:p>
          <a:p>
            <a:pPr marL="457200" lvl="1" indent="0">
              <a:buNone/>
            </a:pPr>
            <a:r>
              <a:rPr lang="en-US" sz="2000" dirty="0"/>
              <a:t>}</a:t>
            </a:r>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17</a:t>
            </a:fld>
            <a:endParaRPr lang="en-US"/>
          </a:p>
        </p:txBody>
      </p:sp>
    </p:spTree>
    <p:extLst>
      <p:ext uri="{BB962C8B-B14F-4D97-AF65-F5344CB8AC3E}">
        <p14:creationId xmlns:p14="http://schemas.microsoft.com/office/powerpoint/2010/main" val="3705128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 – Multiple Expressions</a:t>
            </a:r>
          </a:p>
        </p:txBody>
      </p:sp>
      <p:sp>
        <p:nvSpPr>
          <p:cNvPr id="3" name="Content Placeholder 2"/>
          <p:cNvSpPr>
            <a:spLocks noGrp="1"/>
          </p:cNvSpPr>
          <p:nvPr>
            <p:ph idx="1"/>
          </p:nvPr>
        </p:nvSpPr>
        <p:spPr>
          <a:xfrm>
            <a:off x="677334" y="1487055"/>
            <a:ext cx="8596668" cy="4554307"/>
          </a:xfrm>
        </p:spPr>
        <p:txBody>
          <a:bodyPr>
            <a:normAutofit lnSpcReduction="10000"/>
          </a:bodyPr>
          <a:lstStyle/>
          <a:p>
            <a:pPr marL="0" indent="0">
              <a:buNone/>
            </a:pPr>
            <a:r>
              <a:rPr lang="en-US" sz="2800" dirty="0"/>
              <a:t>	 </a:t>
            </a:r>
          </a:p>
          <a:p>
            <a:pPr marL="0" indent="0">
              <a:buNone/>
            </a:pPr>
            <a:endParaRPr lang="en-US" sz="2800" dirty="0"/>
          </a:p>
          <a:p>
            <a:pPr marL="1257300" lvl="3" indent="0">
              <a:buNone/>
            </a:pPr>
            <a:endParaRPr lang="en-US" sz="3200" dirty="0"/>
          </a:p>
          <a:p>
            <a:pPr marL="1257300" lvl="3" indent="0">
              <a:buNone/>
            </a:pPr>
            <a:r>
              <a:rPr lang="en-US" sz="3200" dirty="0"/>
              <a:t>for (</a:t>
            </a:r>
            <a:r>
              <a:rPr lang="en-US" sz="3200" dirty="0" err="1"/>
              <a:t>int</a:t>
            </a:r>
            <a:r>
              <a:rPr lang="en-US" sz="3200" dirty="0"/>
              <a:t> j=0, k=9;  j&lt;10;  </a:t>
            </a:r>
            <a:r>
              <a:rPr lang="en-US" sz="3200" dirty="0" err="1"/>
              <a:t>j++</a:t>
            </a:r>
            <a:r>
              <a:rPr lang="en-US" sz="3200" dirty="0"/>
              <a:t>,k--)</a:t>
            </a:r>
          </a:p>
          <a:p>
            <a:pPr marL="1257300" lvl="3" indent="0">
              <a:buNone/>
            </a:pPr>
            <a:r>
              <a:rPr lang="en-AU" sz="3200" dirty="0"/>
              <a:t>{</a:t>
            </a:r>
            <a:endParaRPr lang="en-US" sz="3200" dirty="0"/>
          </a:p>
          <a:p>
            <a:pPr marL="1257300" lvl="3" indent="0">
              <a:buNone/>
            </a:pPr>
            <a:r>
              <a:rPr lang="en-US" sz="3200" dirty="0"/>
              <a:t>		</a:t>
            </a:r>
            <a:r>
              <a:rPr lang="en-US" sz="3200" dirty="0" err="1"/>
              <a:t>cout</a:t>
            </a:r>
            <a:r>
              <a:rPr lang="en-US" sz="3200" dirty="0"/>
              <a:t> &lt;&lt; j * j &lt;&lt;</a:t>
            </a:r>
            <a:r>
              <a:rPr lang="en-US" sz="3200" dirty="0" err="1"/>
              <a:t>endl</a:t>
            </a:r>
            <a:r>
              <a:rPr lang="en-US" sz="3200" dirty="0"/>
              <a:t>;</a:t>
            </a:r>
          </a:p>
          <a:p>
            <a:pPr marL="1257300" lvl="3" indent="0">
              <a:buNone/>
            </a:pPr>
            <a:r>
              <a:rPr lang="en-US" sz="3200" dirty="0"/>
              <a:t>		</a:t>
            </a:r>
            <a:r>
              <a:rPr lang="en-US" sz="3200" dirty="0" err="1"/>
              <a:t>cout</a:t>
            </a:r>
            <a:r>
              <a:rPr lang="en-US" sz="3200" dirty="0"/>
              <a:t>&lt;&lt; k*k &lt;&lt;</a:t>
            </a:r>
            <a:r>
              <a:rPr lang="en-US" sz="3200" dirty="0" err="1"/>
              <a:t>endl</a:t>
            </a:r>
            <a:r>
              <a:rPr lang="en-US" sz="3200" dirty="0"/>
              <a:t>;</a:t>
            </a:r>
          </a:p>
          <a:p>
            <a:pPr marL="1257300" lvl="3" indent="0">
              <a:buNone/>
            </a:pPr>
            <a:r>
              <a:rPr lang="en-AU" sz="3200" dirty="0"/>
              <a:t>}</a:t>
            </a:r>
            <a:endParaRPr lang="en-US" sz="3200" dirty="0"/>
          </a:p>
          <a:p>
            <a:endParaRPr lang="en-US" sz="2800" dirty="0"/>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18</a:t>
            </a:fld>
            <a:endParaRPr lang="en-US"/>
          </a:p>
        </p:txBody>
      </p:sp>
      <p:grpSp>
        <p:nvGrpSpPr>
          <p:cNvPr id="6" name="Group 20"/>
          <p:cNvGrpSpPr/>
          <p:nvPr/>
        </p:nvGrpSpPr>
        <p:grpSpPr>
          <a:xfrm>
            <a:off x="673478" y="1371601"/>
            <a:ext cx="3007555" cy="1676402"/>
            <a:chOff x="473026" y="1516559"/>
            <a:chExt cx="1906393" cy="1676402"/>
          </a:xfrm>
        </p:grpSpPr>
        <p:cxnSp>
          <p:nvCxnSpPr>
            <p:cNvPr id="7" name="Straight Arrow Connector 6"/>
            <p:cNvCxnSpPr/>
            <p:nvPr/>
          </p:nvCxnSpPr>
          <p:spPr>
            <a:xfrm rot="16200000" flipH="1">
              <a:off x="1415142" y="2394858"/>
              <a:ext cx="983160" cy="61304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73026" y="1516559"/>
              <a:ext cx="1906393" cy="769441"/>
            </a:xfrm>
            <a:prstGeom prst="rect">
              <a:avLst/>
            </a:prstGeom>
            <a:noFill/>
          </p:spPr>
          <p:txBody>
            <a:bodyPr wrap="none" rtlCol="0">
              <a:spAutoFit/>
            </a:bodyPr>
            <a:lstStyle/>
            <a:p>
              <a:pPr algn="ctr"/>
              <a:r>
                <a:rPr lang="en-US" sz="2200" b="1" dirty="0">
                  <a:solidFill>
                    <a:srgbClr val="B80000"/>
                  </a:solidFill>
                </a:rPr>
                <a:t>Multiple Initialization</a:t>
              </a:r>
            </a:p>
            <a:p>
              <a:pPr algn="ctr"/>
              <a:r>
                <a:rPr lang="en-US" sz="2200" b="1" dirty="0">
                  <a:solidFill>
                    <a:srgbClr val="B80000"/>
                  </a:solidFill>
                </a:rPr>
                <a:t>expressions</a:t>
              </a:r>
            </a:p>
          </p:txBody>
        </p:sp>
      </p:grpSp>
      <p:grpSp>
        <p:nvGrpSpPr>
          <p:cNvPr id="9" name="Group 21"/>
          <p:cNvGrpSpPr/>
          <p:nvPr/>
        </p:nvGrpSpPr>
        <p:grpSpPr>
          <a:xfrm>
            <a:off x="3960525" y="1355441"/>
            <a:ext cx="2080185" cy="1600201"/>
            <a:chOff x="2859077" y="1600200"/>
            <a:chExt cx="2080185" cy="1600201"/>
          </a:xfrm>
        </p:grpSpPr>
        <p:cxnSp>
          <p:nvCxnSpPr>
            <p:cNvPr id="10" name="Straight Arrow Connector 9"/>
            <p:cNvCxnSpPr>
              <a:stCxn id="11" idx="2"/>
            </p:cNvCxnSpPr>
            <p:nvPr/>
          </p:nvCxnSpPr>
          <p:spPr>
            <a:xfrm rot="16200000" flipH="1">
              <a:off x="3858305" y="2410506"/>
              <a:ext cx="830761" cy="7490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859077" y="1600200"/>
              <a:ext cx="2080185" cy="769441"/>
            </a:xfrm>
            <a:prstGeom prst="rect">
              <a:avLst/>
            </a:prstGeom>
            <a:noFill/>
          </p:spPr>
          <p:txBody>
            <a:bodyPr wrap="none" rtlCol="0">
              <a:spAutoFit/>
            </a:bodyPr>
            <a:lstStyle/>
            <a:p>
              <a:pPr algn="ctr"/>
              <a:r>
                <a:rPr lang="en-US" sz="2200" b="1" dirty="0">
                  <a:solidFill>
                    <a:srgbClr val="B80000"/>
                  </a:solidFill>
                </a:rPr>
                <a:t>Only one </a:t>
              </a:r>
            </a:p>
            <a:p>
              <a:pPr algn="ctr"/>
              <a:r>
                <a:rPr lang="en-US" sz="2200" b="1" dirty="0">
                  <a:solidFill>
                    <a:srgbClr val="B80000"/>
                  </a:solidFill>
                </a:rPr>
                <a:t>Test Condition</a:t>
              </a:r>
            </a:p>
          </p:txBody>
        </p:sp>
      </p:grpSp>
      <p:grpSp>
        <p:nvGrpSpPr>
          <p:cNvPr id="12" name="Group 22"/>
          <p:cNvGrpSpPr/>
          <p:nvPr/>
        </p:nvGrpSpPr>
        <p:grpSpPr>
          <a:xfrm>
            <a:off x="7060178" y="1258456"/>
            <a:ext cx="3374643" cy="1676400"/>
            <a:chOff x="4777106" y="1752600"/>
            <a:chExt cx="4948105" cy="1676400"/>
          </a:xfrm>
        </p:grpSpPr>
        <p:cxnSp>
          <p:nvCxnSpPr>
            <p:cNvPr id="13" name="Straight Arrow Connector 12"/>
            <p:cNvCxnSpPr/>
            <p:nvPr/>
          </p:nvCxnSpPr>
          <p:spPr>
            <a:xfrm rot="10800000" flipV="1">
              <a:off x="5100264" y="2514600"/>
              <a:ext cx="1787660" cy="9144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777106" y="1752600"/>
              <a:ext cx="4948105" cy="769441"/>
            </a:xfrm>
            <a:prstGeom prst="rect">
              <a:avLst/>
            </a:prstGeom>
            <a:noFill/>
          </p:spPr>
          <p:txBody>
            <a:bodyPr wrap="none" rtlCol="0">
              <a:spAutoFit/>
            </a:bodyPr>
            <a:lstStyle/>
            <a:p>
              <a:pPr algn="ctr"/>
              <a:r>
                <a:rPr lang="en-US" sz="2200" b="1" dirty="0">
                  <a:solidFill>
                    <a:srgbClr val="B80000"/>
                  </a:solidFill>
                </a:rPr>
                <a:t>Multiple Increment/Dec </a:t>
              </a:r>
            </a:p>
            <a:p>
              <a:pPr algn="ctr"/>
              <a:r>
                <a:rPr lang="en-US" sz="2200" b="1" dirty="0">
                  <a:solidFill>
                    <a:srgbClr val="B80000"/>
                  </a:solidFill>
                </a:rPr>
                <a:t>expressions</a:t>
              </a:r>
            </a:p>
          </p:txBody>
        </p:sp>
      </p:grpSp>
    </p:spTree>
    <p:extLst>
      <p:ext uri="{BB962C8B-B14F-4D97-AF65-F5344CB8AC3E}">
        <p14:creationId xmlns:p14="http://schemas.microsoft.com/office/powerpoint/2010/main" val="4155965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 – Scope of Variable</a:t>
            </a:r>
          </a:p>
        </p:txBody>
      </p:sp>
      <p:sp>
        <p:nvSpPr>
          <p:cNvPr id="3" name="Content Placeholder 2"/>
          <p:cNvSpPr>
            <a:spLocks noGrp="1"/>
          </p:cNvSpPr>
          <p:nvPr>
            <p:ph idx="1"/>
          </p:nvPr>
        </p:nvSpPr>
        <p:spPr>
          <a:xfrm>
            <a:off x="677334" y="1847276"/>
            <a:ext cx="8596668" cy="4184853"/>
          </a:xfrm>
        </p:spPr>
        <p:txBody>
          <a:bodyPr>
            <a:noAutofit/>
          </a:bodyPr>
          <a:lstStyle/>
          <a:p>
            <a:pPr>
              <a:buNone/>
            </a:pPr>
            <a:r>
              <a:rPr lang="en-US" dirty="0" err="1">
                <a:solidFill>
                  <a:schemeClr val="tx1"/>
                </a:solidFill>
              </a:rPr>
              <a:t>int</a:t>
            </a:r>
            <a:r>
              <a:rPr lang="en-US" dirty="0">
                <a:solidFill>
                  <a:schemeClr val="tx1"/>
                </a:solidFill>
              </a:rPr>
              <a:t> main()</a:t>
            </a:r>
          </a:p>
          <a:p>
            <a:pPr>
              <a:buNone/>
            </a:pPr>
            <a:r>
              <a:rPr lang="en-US" dirty="0">
                <a:solidFill>
                  <a:schemeClr val="tx1"/>
                </a:solidFill>
              </a:rPr>
              <a:t>{</a:t>
            </a:r>
          </a:p>
          <a:p>
            <a:pPr>
              <a:buNone/>
            </a:pPr>
            <a:r>
              <a:rPr lang="en-US" dirty="0">
                <a:solidFill>
                  <a:schemeClr val="tx1"/>
                </a:solidFill>
              </a:rPr>
              <a:t>		</a:t>
            </a:r>
            <a:r>
              <a:rPr lang="en-US" dirty="0" err="1">
                <a:solidFill>
                  <a:schemeClr val="tx1"/>
                </a:solidFill>
              </a:rPr>
              <a:t>int</a:t>
            </a:r>
            <a:r>
              <a:rPr lang="en-US" dirty="0">
                <a:solidFill>
                  <a:schemeClr val="tx1"/>
                </a:solidFill>
              </a:rPr>
              <a:t> j; </a:t>
            </a:r>
          </a:p>
          <a:p>
            <a:pPr>
              <a:buNone/>
            </a:pPr>
            <a:r>
              <a:rPr lang="en-US" dirty="0">
                <a:solidFill>
                  <a:schemeClr val="tx1"/>
                </a:solidFill>
              </a:rPr>
              <a:t>		for(j=0; j&lt;10; </a:t>
            </a:r>
            <a:r>
              <a:rPr lang="en-US" dirty="0" err="1">
                <a:solidFill>
                  <a:schemeClr val="tx1"/>
                </a:solidFill>
              </a:rPr>
              <a:t>j++</a:t>
            </a:r>
            <a:r>
              <a:rPr lang="en-US" dirty="0">
                <a:solidFill>
                  <a:schemeClr val="tx1"/>
                </a:solidFill>
              </a:rPr>
              <a:t>) </a:t>
            </a:r>
            <a:r>
              <a:rPr lang="en-US" b="1" dirty="0">
                <a:solidFill>
                  <a:schemeClr val="tx1"/>
                </a:solidFill>
              </a:rPr>
              <a:t>{</a:t>
            </a:r>
          </a:p>
          <a:p>
            <a:pPr>
              <a:buNone/>
            </a:pPr>
            <a:r>
              <a:rPr lang="en-US" dirty="0">
                <a:solidFill>
                  <a:schemeClr val="tx1"/>
                </a:solidFill>
              </a:rPr>
              <a:t>			</a:t>
            </a:r>
            <a:r>
              <a:rPr lang="en-US" dirty="0" err="1">
                <a:solidFill>
                  <a:schemeClr val="tx1"/>
                </a:solidFill>
              </a:rPr>
              <a:t>int</a:t>
            </a:r>
            <a:r>
              <a:rPr lang="en-US" dirty="0">
                <a:solidFill>
                  <a:schemeClr val="tx1"/>
                </a:solidFill>
              </a:rPr>
              <a:t> k=0;</a:t>
            </a:r>
          </a:p>
          <a:p>
            <a:pPr>
              <a:buNone/>
            </a:pPr>
            <a:r>
              <a:rPr lang="en-US" dirty="0">
                <a:solidFill>
                  <a:schemeClr val="tx1"/>
                </a:solidFill>
              </a:rPr>
              <a:t>			k = j*j;</a:t>
            </a:r>
          </a:p>
          <a:p>
            <a:pPr>
              <a:buNone/>
            </a:pPr>
            <a:r>
              <a:rPr lang="en-US" dirty="0">
                <a:solidFill>
                  <a:schemeClr val="tx1"/>
                </a:solidFill>
              </a:rPr>
              <a:t>			</a:t>
            </a:r>
            <a:r>
              <a:rPr lang="en-US" dirty="0" err="1">
                <a:solidFill>
                  <a:schemeClr val="tx1"/>
                </a:solidFill>
              </a:rPr>
              <a:t>cout</a:t>
            </a:r>
            <a:r>
              <a:rPr lang="en-US" dirty="0">
                <a:solidFill>
                  <a:schemeClr val="tx1"/>
                </a:solidFill>
              </a:rPr>
              <a:t>&lt;&lt;“\</a:t>
            </a:r>
            <a:r>
              <a:rPr lang="en-US" dirty="0" err="1">
                <a:solidFill>
                  <a:schemeClr val="tx1"/>
                </a:solidFill>
              </a:rPr>
              <a:t>nValue</a:t>
            </a:r>
            <a:r>
              <a:rPr lang="en-US" dirty="0">
                <a:solidFill>
                  <a:schemeClr val="tx1"/>
                </a:solidFill>
              </a:rPr>
              <a:t> of k: “&lt;&lt;k;		</a:t>
            </a:r>
          </a:p>
          <a:p>
            <a:pPr>
              <a:buNone/>
            </a:pPr>
            <a:r>
              <a:rPr lang="en-US" b="1" dirty="0">
                <a:solidFill>
                  <a:schemeClr val="tx1"/>
                </a:solidFill>
              </a:rPr>
              <a:t>		}</a:t>
            </a:r>
          </a:p>
          <a:p>
            <a:pPr>
              <a:buNone/>
            </a:pPr>
            <a:r>
              <a:rPr lang="en-US" dirty="0">
                <a:solidFill>
                  <a:srgbClr val="FF0000"/>
                </a:solidFill>
              </a:rPr>
              <a:t>   		// </a:t>
            </a:r>
            <a:r>
              <a:rPr lang="en-US" b="1" dirty="0">
                <a:solidFill>
                  <a:srgbClr val="FF0000"/>
                </a:solidFill>
              </a:rPr>
              <a:t>k = 23; </a:t>
            </a:r>
            <a:r>
              <a:rPr lang="en-US" dirty="0">
                <a:solidFill>
                  <a:srgbClr val="FF0000"/>
                </a:solidFill>
              </a:rPr>
              <a:t>Cannot do this! </a:t>
            </a:r>
          </a:p>
          <a:p>
            <a:pPr>
              <a:buNone/>
            </a:pPr>
            <a:r>
              <a:rPr lang="en-AU" dirty="0">
                <a:solidFill>
                  <a:schemeClr val="tx1"/>
                </a:solidFill>
              </a:rPr>
              <a:t>	return 0;</a:t>
            </a:r>
            <a:endParaRPr lang="en-US" dirty="0">
              <a:solidFill>
                <a:schemeClr val="tx1"/>
              </a:solidFill>
            </a:endParaRPr>
          </a:p>
          <a:p>
            <a:pPr>
              <a:buNone/>
            </a:pPr>
            <a:r>
              <a:rPr lang="en-US" dirty="0">
                <a:solidFill>
                  <a:schemeClr val="tx1"/>
                </a:solidFill>
              </a:rPr>
              <a:t>}</a:t>
            </a:r>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19</a:t>
            </a:fld>
            <a:endParaRPr lang="en-US"/>
          </a:p>
        </p:txBody>
      </p:sp>
    </p:spTree>
    <p:extLst>
      <p:ext uri="{BB962C8B-B14F-4D97-AF65-F5344CB8AC3E}">
        <p14:creationId xmlns:p14="http://schemas.microsoft.com/office/powerpoint/2010/main" val="2604833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4"/>
          <p:cNvSpPr>
            <a:spLocks noGrp="1" noChangeArrowheads="1"/>
          </p:cNvSpPr>
          <p:nvPr>
            <p:ph type="ctrTitle"/>
          </p:nvPr>
        </p:nvSpPr>
        <p:spPr/>
        <p:txBody>
          <a:bodyPr/>
          <a:lstStyle/>
          <a:p>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r>
              <a:rPr lang="en-US" altLang="en-US" sz="6000" b="1" dirty="0">
                <a:latin typeface="Arial" charset="0"/>
              </a:rPr>
              <a:t>The for Loop</a:t>
            </a:r>
            <a:endParaRPr lang="en-US" sz="6000" b="1" dirty="0">
              <a:latin typeface="Arial" charset="0"/>
            </a:endParaRPr>
          </a:p>
        </p:txBody>
      </p:sp>
      <p:sp>
        <p:nvSpPr>
          <p:cNvPr id="14338" name="Rectangle 5"/>
          <p:cNvSpPr>
            <a:spLocks noGrp="1" noChangeArrowheads="1"/>
          </p:cNvSpPr>
          <p:nvPr>
            <p:ph type="subTitle" idx="1"/>
          </p:nvPr>
        </p:nvSpPr>
        <p:spPr/>
        <p:txBody>
          <a:bodyPr>
            <a:noAutofit/>
          </a:bodyPr>
          <a:lstStyle/>
          <a:p>
            <a:pPr eaLnBrk="1" hangingPunct="1"/>
            <a:r>
              <a:rPr lang="en-US" sz="3200" b="1" dirty="0">
                <a:latin typeface="Arial" charset="0"/>
              </a:rPr>
              <a:t> Optional Expressions</a:t>
            </a:r>
          </a:p>
        </p:txBody>
      </p:sp>
    </p:spTree>
    <p:extLst>
      <p:ext uri="{BB962C8B-B14F-4D97-AF65-F5344CB8AC3E}">
        <p14:creationId xmlns:p14="http://schemas.microsoft.com/office/powerpoint/2010/main" val="1050503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21</a:t>
            </a:fld>
            <a:endParaRPr lang="en-US"/>
          </a:p>
        </p:txBody>
      </p:sp>
      <p:sp>
        <p:nvSpPr>
          <p:cNvPr id="6" name="Rectangle 2"/>
          <p:cNvSpPr txBox="1">
            <a:spLocks noChangeArrowheads="1"/>
          </p:cNvSpPr>
          <p:nvPr/>
        </p:nvSpPr>
        <p:spPr>
          <a:xfrm>
            <a:off x="857597" y="304800"/>
            <a:ext cx="7924800" cy="685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The </a:t>
            </a:r>
            <a:r>
              <a:rPr lang="en-US" dirty="0">
                <a:latin typeface="Courier New" pitchFamily="49" charset="0"/>
              </a:rPr>
              <a:t>for</a:t>
            </a:r>
            <a:r>
              <a:rPr lang="en-US" dirty="0"/>
              <a:t> Loop (Syntax)</a:t>
            </a:r>
          </a:p>
        </p:txBody>
      </p:sp>
      <p:sp>
        <p:nvSpPr>
          <p:cNvPr id="9" name="Text Box 4"/>
          <p:cNvSpPr txBox="1">
            <a:spLocks noChangeArrowheads="1"/>
          </p:cNvSpPr>
          <p:nvPr/>
        </p:nvSpPr>
        <p:spPr bwMode="auto">
          <a:xfrm>
            <a:off x="1263650" y="3484731"/>
            <a:ext cx="8340745"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sz="2000" b="1" dirty="0">
                <a:latin typeface="Courier New" pitchFamily="49" charset="0"/>
              </a:rPr>
              <a:t>for ( </a:t>
            </a:r>
            <a:r>
              <a:rPr lang="en-US" sz="2000" b="1" i="1" dirty="0">
                <a:latin typeface="Courier New" pitchFamily="49" charset="0"/>
              </a:rPr>
              <a:t>initialization</a:t>
            </a:r>
            <a:r>
              <a:rPr lang="en-US" sz="2000" b="1" dirty="0">
                <a:latin typeface="Courier New" pitchFamily="49" charset="0"/>
              </a:rPr>
              <a:t> ; </a:t>
            </a:r>
            <a:r>
              <a:rPr lang="en-US" sz="2000" b="1" i="1" dirty="0">
                <a:latin typeface="Courier New" pitchFamily="49" charset="0"/>
              </a:rPr>
              <a:t>condition</a:t>
            </a:r>
            <a:r>
              <a:rPr lang="en-US" sz="2000" b="1" dirty="0">
                <a:latin typeface="Courier New" pitchFamily="49" charset="0"/>
              </a:rPr>
              <a:t> ; </a:t>
            </a:r>
            <a:r>
              <a:rPr lang="en-US" sz="2000" b="1" i="1" dirty="0">
                <a:latin typeface="Courier New" pitchFamily="49" charset="0"/>
              </a:rPr>
              <a:t>variable update</a:t>
            </a:r>
            <a:r>
              <a:rPr lang="en-US" sz="2000" b="1" dirty="0">
                <a:latin typeface="Courier New" pitchFamily="49" charset="0"/>
              </a:rPr>
              <a:t> ){</a:t>
            </a:r>
          </a:p>
          <a:p>
            <a:r>
              <a:rPr lang="en-US" sz="2000" b="1" dirty="0">
                <a:latin typeface="Courier New" pitchFamily="49" charset="0"/>
              </a:rPr>
              <a:t>   </a:t>
            </a:r>
            <a:r>
              <a:rPr lang="en-US" sz="2000" b="1" i="1" dirty="0">
                <a:latin typeface="Courier New" pitchFamily="49" charset="0"/>
              </a:rPr>
              <a:t>statement</a:t>
            </a:r>
            <a:r>
              <a:rPr lang="en-US" sz="2000" b="1" dirty="0">
                <a:latin typeface="Courier New" pitchFamily="49" charset="0"/>
              </a:rPr>
              <a:t>;</a:t>
            </a:r>
          </a:p>
          <a:p>
            <a:r>
              <a:rPr lang="en-US" sz="2000" b="1" dirty="0">
                <a:latin typeface="Courier New" pitchFamily="49" charset="0"/>
              </a:rPr>
              <a:t>}</a:t>
            </a:r>
          </a:p>
        </p:txBody>
      </p:sp>
      <p:grpSp>
        <p:nvGrpSpPr>
          <p:cNvPr id="10" name="Group 20"/>
          <p:cNvGrpSpPr>
            <a:grpSpLocks/>
          </p:cNvGrpSpPr>
          <p:nvPr/>
        </p:nvGrpSpPr>
        <p:grpSpPr bwMode="auto">
          <a:xfrm>
            <a:off x="1447800" y="2117725"/>
            <a:ext cx="2946400" cy="1387475"/>
            <a:chOff x="912" y="1286"/>
            <a:chExt cx="1856" cy="874"/>
          </a:xfrm>
        </p:grpSpPr>
        <p:sp>
          <p:nvSpPr>
            <p:cNvPr id="11" name="Text Box 9"/>
            <p:cNvSpPr txBox="1">
              <a:spLocks noChangeArrowheads="1"/>
            </p:cNvSpPr>
            <p:nvPr/>
          </p:nvSpPr>
          <p:spPr bwMode="auto">
            <a:xfrm>
              <a:off x="912" y="1286"/>
              <a:ext cx="1856"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2000" b="1" dirty="0">
                  <a:solidFill>
                    <a:schemeClr val="hlink"/>
                  </a:solidFill>
                  <a:latin typeface="Arial Unicode MS" pitchFamily="34" charset="-128"/>
                </a:rPr>
                <a:t>The </a:t>
              </a:r>
              <a:r>
                <a:rPr lang="en-US" sz="2000" b="1" i="1" dirty="0">
                  <a:solidFill>
                    <a:schemeClr val="hlink"/>
                  </a:solidFill>
                  <a:latin typeface="Courier New" pitchFamily="49" charset="0"/>
                </a:rPr>
                <a:t>initialization</a:t>
              </a:r>
              <a:endParaRPr lang="en-US" sz="2000" b="1" dirty="0">
                <a:solidFill>
                  <a:schemeClr val="hlink"/>
                </a:solidFill>
                <a:latin typeface="Arial Unicode MS" pitchFamily="34" charset="-128"/>
              </a:endParaRPr>
            </a:p>
            <a:p>
              <a:pPr algn="ctr"/>
              <a:r>
                <a:rPr lang="en-US" sz="2000" b="1" dirty="0">
                  <a:solidFill>
                    <a:schemeClr val="hlink"/>
                  </a:solidFill>
                  <a:latin typeface="Arial Unicode MS" pitchFamily="34" charset="-128"/>
                </a:rPr>
                <a:t>is executed once</a:t>
              </a:r>
            </a:p>
            <a:p>
              <a:pPr algn="ctr"/>
              <a:r>
                <a:rPr lang="en-US" sz="2000" b="1" dirty="0">
                  <a:solidFill>
                    <a:schemeClr val="hlink"/>
                  </a:solidFill>
                  <a:latin typeface="Arial Unicode MS" pitchFamily="34" charset="-128"/>
                </a:rPr>
                <a:t>before the loop begins</a:t>
              </a:r>
              <a:endParaRPr lang="en-US" dirty="0">
                <a:solidFill>
                  <a:schemeClr val="hlink"/>
                </a:solidFill>
                <a:latin typeface="Arial Unicode MS" pitchFamily="34" charset="-128"/>
              </a:endParaRPr>
            </a:p>
          </p:txBody>
        </p:sp>
        <p:sp>
          <p:nvSpPr>
            <p:cNvPr id="12" name="Line 10"/>
            <p:cNvSpPr>
              <a:spLocks noChangeShapeType="1"/>
            </p:cNvSpPr>
            <p:nvPr/>
          </p:nvSpPr>
          <p:spPr bwMode="auto">
            <a:xfrm>
              <a:off x="1824" y="1920"/>
              <a:ext cx="96" cy="240"/>
            </a:xfrm>
            <a:prstGeom prst="line">
              <a:avLst/>
            </a:prstGeom>
            <a:noFill/>
            <a:ln w="31750">
              <a:solidFill>
                <a:srgbClr val="FF0000"/>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 name="Group 21"/>
          <p:cNvGrpSpPr>
            <a:grpSpLocks/>
          </p:cNvGrpSpPr>
          <p:nvPr/>
        </p:nvGrpSpPr>
        <p:grpSpPr bwMode="auto">
          <a:xfrm>
            <a:off x="4800600" y="2117725"/>
            <a:ext cx="3389313" cy="1371600"/>
            <a:chOff x="3024" y="1248"/>
            <a:chExt cx="2135" cy="864"/>
          </a:xfrm>
        </p:grpSpPr>
        <p:sp>
          <p:nvSpPr>
            <p:cNvPr id="14" name="Text Box 12"/>
            <p:cNvSpPr txBox="1">
              <a:spLocks noChangeArrowheads="1"/>
            </p:cNvSpPr>
            <p:nvPr/>
          </p:nvSpPr>
          <p:spPr bwMode="auto">
            <a:xfrm>
              <a:off x="3024" y="1248"/>
              <a:ext cx="2135"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sz="2000" b="1">
                  <a:solidFill>
                    <a:schemeClr val="hlink"/>
                  </a:solidFill>
                  <a:latin typeface="Arial Unicode MS" pitchFamily="34" charset="-128"/>
                </a:rPr>
                <a:t>The </a:t>
              </a:r>
              <a:r>
                <a:rPr lang="en-US" sz="2000" b="1" i="1">
                  <a:solidFill>
                    <a:schemeClr val="hlink"/>
                  </a:solidFill>
                  <a:latin typeface="Courier New" pitchFamily="49" charset="0"/>
                </a:rPr>
                <a:t>statement</a:t>
              </a:r>
              <a:r>
                <a:rPr lang="en-US" sz="2000" b="1">
                  <a:solidFill>
                    <a:schemeClr val="hlink"/>
                  </a:solidFill>
                  <a:latin typeface="Arial Unicode MS" pitchFamily="34" charset="-128"/>
                </a:rPr>
                <a:t> is</a:t>
              </a:r>
            </a:p>
            <a:p>
              <a:pPr algn="ctr"/>
              <a:r>
                <a:rPr lang="en-US" sz="2000" b="1">
                  <a:solidFill>
                    <a:schemeClr val="hlink"/>
                  </a:solidFill>
                  <a:latin typeface="Arial Unicode MS" pitchFamily="34" charset="-128"/>
                </a:rPr>
                <a:t>executed until the</a:t>
              </a:r>
            </a:p>
            <a:p>
              <a:pPr algn="ctr"/>
              <a:r>
                <a:rPr lang="en-US" sz="2000" b="1" i="1">
                  <a:solidFill>
                    <a:schemeClr val="hlink"/>
                  </a:solidFill>
                  <a:latin typeface="Courier New" pitchFamily="49" charset="0"/>
                </a:rPr>
                <a:t>condition</a:t>
              </a:r>
              <a:r>
                <a:rPr lang="en-US" sz="2000" b="1">
                  <a:solidFill>
                    <a:schemeClr val="hlink"/>
                  </a:solidFill>
                  <a:latin typeface="Arial Unicode MS" pitchFamily="34" charset="-128"/>
                </a:rPr>
                <a:t> becomes false</a:t>
              </a:r>
              <a:endParaRPr lang="en-US">
                <a:solidFill>
                  <a:schemeClr val="hlink"/>
                </a:solidFill>
                <a:latin typeface="Arial Unicode MS" pitchFamily="34" charset="-128"/>
              </a:endParaRPr>
            </a:p>
          </p:txBody>
        </p:sp>
        <p:sp>
          <p:nvSpPr>
            <p:cNvPr id="15" name="Line 13"/>
            <p:cNvSpPr>
              <a:spLocks noChangeShapeType="1"/>
            </p:cNvSpPr>
            <p:nvPr/>
          </p:nvSpPr>
          <p:spPr bwMode="auto">
            <a:xfrm flipH="1">
              <a:off x="3648" y="1872"/>
              <a:ext cx="192" cy="240"/>
            </a:xfrm>
            <a:prstGeom prst="line">
              <a:avLst/>
            </a:prstGeom>
            <a:noFill/>
            <a:ln w="31750">
              <a:solidFill>
                <a:srgbClr val="FF0000"/>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 name="Group 22"/>
          <p:cNvGrpSpPr>
            <a:grpSpLocks/>
          </p:cNvGrpSpPr>
          <p:nvPr/>
        </p:nvGrpSpPr>
        <p:grpSpPr bwMode="auto">
          <a:xfrm>
            <a:off x="4114800" y="4159250"/>
            <a:ext cx="4586288" cy="1177925"/>
            <a:chOff x="2592" y="2534"/>
            <a:chExt cx="2889" cy="742"/>
          </a:xfrm>
        </p:grpSpPr>
        <p:sp>
          <p:nvSpPr>
            <p:cNvPr id="17" name="Text Box 15"/>
            <p:cNvSpPr txBox="1">
              <a:spLocks noChangeArrowheads="1"/>
            </p:cNvSpPr>
            <p:nvPr/>
          </p:nvSpPr>
          <p:spPr bwMode="auto">
            <a:xfrm>
              <a:off x="2592" y="2830"/>
              <a:ext cx="2889" cy="4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sz="2000" b="1" dirty="0">
                  <a:solidFill>
                    <a:schemeClr val="hlink"/>
                  </a:solidFill>
                  <a:latin typeface="Arial Unicode MS" pitchFamily="34" charset="-128"/>
                </a:rPr>
                <a:t>The </a:t>
              </a:r>
              <a:r>
                <a:rPr lang="en-US" sz="2000" b="1" i="1" dirty="0">
                  <a:solidFill>
                    <a:schemeClr val="hlink"/>
                  </a:solidFill>
                  <a:latin typeface="Courier New" pitchFamily="49" charset="0"/>
                </a:rPr>
                <a:t>variable update</a:t>
              </a:r>
              <a:r>
                <a:rPr lang="en-US" sz="2000" b="1" dirty="0">
                  <a:solidFill>
                    <a:schemeClr val="hlink"/>
                  </a:solidFill>
                  <a:latin typeface="Arial Unicode MS" pitchFamily="34" charset="-128"/>
                </a:rPr>
                <a:t> portion is executed at the end of each iteration</a:t>
              </a:r>
            </a:p>
          </p:txBody>
        </p:sp>
        <p:sp>
          <p:nvSpPr>
            <p:cNvPr id="18" name="Line 16"/>
            <p:cNvSpPr>
              <a:spLocks noChangeShapeType="1"/>
            </p:cNvSpPr>
            <p:nvPr/>
          </p:nvSpPr>
          <p:spPr bwMode="auto">
            <a:xfrm flipV="1">
              <a:off x="4217" y="2534"/>
              <a:ext cx="199" cy="298"/>
            </a:xfrm>
            <a:prstGeom prst="line">
              <a:avLst/>
            </a:prstGeom>
            <a:noFill/>
            <a:ln w="31750">
              <a:solidFill>
                <a:srgbClr val="FF0000"/>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3640170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for Loop – </a:t>
            </a:r>
            <a:r>
              <a:rPr lang="en-AU"/>
              <a:t>Optional Expression</a:t>
            </a:r>
            <a:endParaRPr lang="en-US" dirty="0"/>
          </a:p>
        </p:txBody>
      </p:sp>
      <p:sp>
        <p:nvSpPr>
          <p:cNvPr id="3" name="Content Placeholder 2"/>
          <p:cNvSpPr>
            <a:spLocks noGrp="1"/>
          </p:cNvSpPr>
          <p:nvPr>
            <p:ph sz="half" idx="1"/>
          </p:nvPr>
        </p:nvSpPr>
        <p:spPr>
          <a:xfrm>
            <a:off x="677334" y="1736436"/>
            <a:ext cx="4184035" cy="4304925"/>
          </a:xfrm>
        </p:spPr>
        <p:txBody>
          <a:bodyPr>
            <a:noAutofit/>
          </a:bodyPr>
          <a:lstStyle/>
          <a:p>
            <a:r>
              <a:rPr lang="en-AU" sz="2000" dirty="0">
                <a:solidFill>
                  <a:schemeClr val="tx1"/>
                </a:solidFill>
              </a:rPr>
              <a:t>Option 1</a:t>
            </a:r>
            <a:endParaRPr lang="en-US" sz="2000" dirty="0">
              <a:solidFill>
                <a:schemeClr val="tx1"/>
              </a:solidFill>
            </a:endParaRPr>
          </a:p>
          <a:p>
            <a:pPr>
              <a:buNone/>
            </a:pPr>
            <a:r>
              <a:rPr lang="en-US" sz="2000" dirty="0" err="1">
                <a:solidFill>
                  <a:schemeClr val="tx1"/>
                </a:solidFill>
              </a:rPr>
              <a:t>int</a:t>
            </a:r>
            <a:r>
              <a:rPr lang="en-US" sz="2000" dirty="0">
                <a:solidFill>
                  <a:schemeClr val="tx1"/>
                </a:solidFill>
              </a:rPr>
              <a:t> j=0;</a:t>
            </a:r>
          </a:p>
          <a:p>
            <a:pPr>
              <a:buNone/>
            </a:pPr>
            <a:r>
              <a:rPr lang="en-US" sz="2000" dirty="0">
                <a:solidFill>
                  <a:srgbClr val="FF0000"/>
                </a:solidFill>
              </a:rPr>
              <a:t>for(; j&lt;10; </a:t>
            </a:r>
            <a:r>
              <a:rPr lang="en-US" sz="2000" dirty="0" err="1">
                <a:solidFill>
                  <a:srgbClr val="FF0000"/>
                </a:solidFill>
              </a:rPr>
              <a:t>j++</a:t>
            </a:r>
            <a:r>
              <a:rPr lang="en-US" sz="2000" dirty="0">
                <a:solidFill>
                  <a:srgbClr val="FF0000"/>
                </a:solidFill>
              </a:rPr>
              <a:t>) </a:t>
            </a:r>
            <a:endParaRPr lang="en-US" sz="2000" b="1" dirty="0">
              <a:solidFill>
                <a:srgbClr val="FF0000"/>
              </a:solidFill>
            </a:endParaRPr>
          </a:p>
          <a:p>
            <a:pPr>
              <a:buNone/>
            </a:pPr>
            <a:r>
              <a:rPr lang="en-US" sz="2000" dirty="0">
                <a:solidFill>
                  <a:schemeClr val="tx1"/>
                </a:solidFill>
              </a:rPr>
              <a:t>		</a:t>
            </a:r>
            <a:r>
              <a:rPr lang="en-US" sz="2000" dirty="0" err="1">
                <a:solidFill>
                  <a:schemeClr val="tx1"/>
                </a:solidFill>
              </a:rPr>
              <a:t>cout</a:t>
            </a:r>
            <a:r>
              <a:rPr lang="en-US" sz="2000" dirty="0">
                <a:solidFill>
                  <a:schemeClr val="tx1"/>
                </a:solidFill>
              </a:rPr>
              <a:t>&lt;&lt;“\</a:t>
            </a:r>
            <a:r>
              <a:rPr lang="en-US" sz="2000" dirty="0" err="1">
                <a:solidFill>
                  <a:schemeClr val="tx1"/>
                </a:solidFill>
              </a:rPr>
              <a:t>nHello</a:t>
            </a:r>
            <a:r>
              <a:rPr lang="en-US" sz="2000" dirty="0">
                <a:solidFill>
                  <a:schemeClr val="tx1"/>
                </a:solidFill>
              </a:rPr>
              <a:t> world“;</a:t>
            </a:r>
          </a:p>
          <a:p>
            <a:r>
              <a:rPr lang="en-AU" sz="2000" dirty="0">
                <a:solidFill>
                  <a:schemeClr val="tx1"/>
                </a:solidFill>
              </a:rPr>
              <a:t>Option 2</a:t>
            </a:r>
            <a:endParaRPr lang="en-US" sz="2000" dirty="0">
              <a:solidFill>
                <a:schemeClr val="tx1"/>
              </a:solidFill>
            </a:endParaRPr>
          </a:p>
          <a:p>
            <a:pPr>
              <a:buNone/>
            </a:pPr>
            <a:r>
              <a:rPr lang="en-US" sz="2000" dirty="0" err="1">
                <a:solidFill>
                  <a:schemeClr val="tx1"/>
                </a:solidFill>
              </a:rPr>
              <a:t>int</a:t>
            </a:r>
            <a:r>
              <a:rPr lang="en-US" sz="2000" dirty="0">
                <a:solidFill>
                  <a:schemeClr val="tx1"/>
                </a:solidFill>
              </a:rPr>
              <a:t> j;</a:t>
            </a:r>
          </a:p>
          <a:p>
            <a:pPr>
              <a:buNone/>
            </a:pPr>
            <a:r>
              <a:rPr lang="en-US" sz="2000" dirty="0">
                <a:solidFill>
                  <a:srgbClr val="FF0000"/>
                </a:solidFill>
              </a:rPr>
              <a:t>for(j=0; j&lt;10</a:t>
            </a:r>
            <a:r>
              <a:rPr lang="en-US" sz="2000">
                <a:solidFill>
                  <a:srgbClr val="FF0000"/>
                </a:solidFill>
              </a:rPr>
              <a:t>; ) </a:t>
            </a:r>
            <a:endParaRPr lang="en-US" sz="2000" b="1" dirty="0">
              <a:solidFill>
                <a:srgbClr val="FF0000"/>
              </a:solidFill>
            </a:endParaRPr>
          </a:p>
          <a:p>
            <a:pPr>
              <a:buNone/>
            </a:pPr>
            <a:r>
              <a:rPr lang="en-US" sz="2000" dirty="0">
                <a:solidFill>
                  <a:schemeClr val="tx1"/>
                </a:solidFill>
              </a:rPr>
              <a:t>	{</a:t>
            </a:r>
          </a:p>
          <a:p>
            <a:pPr>
              <a:buNone/>
            </a:pPr>
            <a:r>
              <a:rPr lang="en-US" sz="2000" dirty="0">
                <a:solidFill>
                  <a:schemeClr val="tx1"/>
                </a:solidFill>
              </a:rPr>
              <a:t>		</a:t>
            </a:r>
            <a:r>
              <a:rPr lang="en-US" sz="2000" dirty="0" err="1">
                <a:solidFill>
                  <a:schemeClr val="tx1"/>
                </a:solidFill>
              </a:rPr>
              <a:t>cout</a:t>
            </a:r>
            <a:r>
              <a:rPr lang="en-US" sz="2000" dirty="0">
                <a:solidFill>
                  <a:schemeClr val="tx1"/>
                </a:solidFill>
              </a:rPr>
              <a:t>&lt;&lt;“\</a:t>
            </a:r>
            <a:r>
              <a:rPr lang="en-US" sz="2000" dirty="0" err="1">
                <a:solidFill>
                  <a:schemeClr val="tx1"/>
                </a:solidFill>
              </a:rPr>
              <a:t>nHello</a:t>
            </a:r>
            <a:r>
              <a:rPr lang="en-US" sz="2000" dirty="0">
                <a:solidFill>
                  <a:schemeClr val="tx1"/>
                </a:solidFill>
              </a:rPr>
              <a:t> world“;</a:t>
            </a:r>
          </a:p>
          <a:p>
            <a:pPr>
              <a:buNone/>
            </a:pPr>
            <a:r>
              <a:rPr lang="en-AU" sz="2000" dirty="0">
                <a:solidFill>
                  <a:schemeClr val="tx1"/>
                </a:solidFill>
              </a:rPr>
              <a:t>	 </a:t>
            </a:r>
            <a:r>
              <a:rPr lang="en-AU" sz="2000" dirty="0" err="1">
                <a:solidFill>
                  <a:srgbClr val="FF0000"/>
                </a:solidFill>
              </a:rPr>
              <a:t>j++</a:t>
            </a:r>
            <a:r>
              <a:rPr lang="en-AU" sz="2000" dirty="0">
                <a:solidFill>
                  <a:srgbClr val="FF0000"/>
                </a:solidFill>
              </a:rPr>
              <a:t>;</a:t>
            </a:r>
          </a:p>
          <a:p>
            <a:pPr>
              <a:buNone/>
            </a:pPr>
            <a:r>
              <a:rPr lang="en-AU" sz="2000" dirty="0">
                <a:solidFill>
                  <a:schemeClr val="tx1"/>
                </a:solidFill>
              </a:rPr>
              <a:t>	}</a:t>
            </a:r>
            <a:endParaRPr lang="en-US" sz="2000" dirty="0">
              <a:solidFill>
                <a:schemeClr val="tx1"/>
              </a:solidFill>
            </a:endParaRPr>
          </a:p>
          <a:p>
            <a:endParaRPr lang="en-US" sz="2000" dirty="0">
              <a:solidFill>
                <a:schemeClr val="tx1"/>
              </a:solidFill>
            </a:endParaRPr>
          </a:p>
        </p:txBody>
      </p:sp>
      <p:sp>
        <p:nvSpPr>
          <p:cNvPr id="9" name="Content Placeholder 8"/>
          <p:cNvSpPr>
            <a:spLocks noGrp="1"/>
          </p:cNvSpPr>
          <p:nvPr>
            <p:ph sz="half" idx="2"/>
          </p:nvPr>
        </p:nvSpPr>
        <p:spPr>
          <a:xfrm>
            <a:off x="4618912" y="1856509"/>
            <a:ext cx="4184034" cy="4184853"/>
          </a:xfrm>
        </p:spPr>
        <p:txBody>
          <a:bodyPr>
            <a:normAutofit/>
          </a:bodyPr>
          <a:lstStyle/>
          <a:p>
            <a:r>
              <a:rPr lang="en-AU" sz="2000" dirty="0">
                <a:solidFill>
                  <a:schemeClr val="tx1"/>
                </a:solidFill>
              </a:rPr>
              <a:t>Option 3</a:t>
            </a:r>
            <a:endParaRPr lang="en-US" sz="2000" dirty="0">
              <a:solidFill>
                <a:schemeClr val="tx1"/>
              </a:solidFill>
            </a:endParaRPr>
          </a:p>
          <a:p>
            <a:pPr>
              <a:buNone/>
            </a:pPr>
            <a:r>
              <a:rPr lang="en-US" sz="2000" dirty="0" err="1">
                <a:solidFill>
                  <a:schemeClr val="tx1"/>
                </a:solidFill>
              </a:rPr>
              <a:t>int</a:t>
            </a:r>
            <a:r>
              <a:rPr lang="en-US" sz="2000" dirty="0">
                <a:solidFill>
                  <a:schemeClr val="tx1"/>
                </a:solidFill>
              </a:rPr>
              <a:t> j=0;</a:t>
            </a:r>
          </a:p>
          <a:p>
            <a:pPr>
              <a:buNone/>
            </a:pPr>
            <a:r>
              <a:rPr lang="en-US" sz="2000" dirty="0">
                <a:solidFill>
                  <a:srgbClr val="FF0000"/>
                </a:solidFill>
              </a:rPr>
              <a:t>for(; j&lt;10; ) </a:t>
            </a:r>
            <a:endParaRPr lang="en-US" sz="2000" b="1" dirty="0">
              <a:solidFill>
                <a:srgbClr val="FF0000"/>
              </a:solidFill>
            </a:endParaRPr>
          </a:p>
          <a:p>
            <a:pPr>
              <a:buNone/>
            </a:pPr>
            <a:r>
              <a:rPr lang="en-US" sz="2000" dirty="0">
                <a:solidFill>
                  <a:schemeClr val="tx1"/>
                </a:solidFill>
              </a:rPr>
              <a:t>	{</a:t>
            </a:r>
          </a:p>
          <a:p>
            <a:pPr>
              <a:buNone/>
            </a:pPr>
            <a:r>
              <a:rPr lang="en-US" sz="2000" dirty="0">
                <a:solidFill>
                  <a:schemeClr val="tx1"/>
                </a:solidFill>
              </a:rPr>
              <a:t>		</a:t>
            </a:r>
            <a:r>
              <a:rPr lang="en-US" sz="2000" dirty="0" err="1">
                <a:solidFill>
                  <a:schemeClr val="tx1"/>
                </a:solidFill>
              </a:rPr>
              <a:t>cout</a:t>
            </a:r>
            <a:r>
              <a:rPr lang="en-US" sz="2000" dirty="0">
                <a:solidFill>
                  <a:schemeClr val="tx1"/>
                </a:solidFill>
              </a:rPr>
              <a:t>&lt;&lt;“\</a:t>
            </a:r>
            <a:r>
              <a:rPr lang="en-US" sz="2000" dirty="0" err="1">
                <a:solidFill>
                  <a:schemeClr val="tx1"/>
                </a:solidFill>
              </a:rPr>
              <a:t>nHello</a:t>
            </a:r>
            <a:r>
              <a:rPr lang="en-US" sz="2000" dirty="0">
                <a:solidFill>
                  <a:schemeClr val="tx1"/>
                </a:solidFill>
              </a:rPr>
              <a:t> world“;</a:t>
            </a:r>
          </a:p>
          <a:p>
            <a:pPr>
              <a:buNone/>
            </a:pPr>
            <a:r>
              <a:rPr lang="en-AU" sz="2000" dirty="0">
                <a:solidFill>
                  <a:schemeClr val="tx1"/>
                </a:solidFill>
              </a:rPr>
              <a:t>	 </a:t>
            </a:r>
            <a:r>
              <a:rPr lang="en-AU" sz="2000" dirty="0" err="1">
                <a:solidFill>
                  <a:schemeClr val="tx1"/>
                </a:solidFill>
              </a:rPr>
              <a:t>j++</a:t>
            </a:r>
            <a:r>
              <a:rPr lang="en-AU" sz="2000" dirty="0">
                <a:solidFill>
                  <a:schemeClr val="tx1"/>
                </a:solidFill>
              </a:rPr>
              <a:t>;</a:t>
            </a:r>
          </a:p>
          <a:p>
            <a:pPr>
              <a:buNone/>
            </a:pPr>
            <a:r>
              <a:rPr lang="en-AU" sz="2000" dirty="0">
                <a:solidFill>
                  <a:schemeClr val="tx1"/>
                </a:solidFill>
              </a:rPr>
              <a:t>	}</a:t>
            </a:r>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22</a:t>
            </a:fld>
            <a:endParaRPr lang="en-US"/>
          </a:p>
        </p:txBody>
      </p:sp>
      <p:sp>
        <p:nvSpPr>
          <p:cNvPr id="10" name="TextBox 9"/>
          <p:cNvSpPr txBox="1"/>
          <p:nvPr/>
        </p:nvSpPr>
        <p:spPr>
          <a:xfrm>
            <a:off x="8590591" y="1708737"/>
            <a:ext cx="1514764" cy="3508653"/>
          </a:xfrm>
          <a:prstGeom prst="rect">
            <a:avLst/>
          </a:prstGeom>
          <a:noFill/>
        </p:spPr>
        <p:txBody>
          <a:bodyPr wrap="square" rtlCol="0">
            <a:spAutoFit/>
          </a:bodyPr>
          <a:lstStyle/>
          <a:p>
            <a:r>
              <a:rPr lang="en-AU" sz="2400" b="1" dirty="0"/>
              <a:t>Output:</a:t>
            </a:r>
          </a:p>
          <a:p>
            <a:endParaRPr lang="en-AU" b="1" dirty="0"/>
          </a:p>
          <a:p>
            <a:r>
              <a:rPr lang="en-AU" dirty="0"/>
              <a:t>Hello world</a:t>
            </a:r>
          </a:p>
          <a:p>
            <a:r>
              <a:rPr lang="en-AU" dirty="0"/>
              <a:t>Hello world</a:t>
            </a:r>
          </a:p>
          <a:p>
            <a:r>
              <a:rPr lang="en-AU" dirty="0"/>
              <a:t>Hello world</a:t>
            </a:r>
          </a:p>
          <a:p>
            <a:r>
              <a:rPr lang="en-AU" dirty="0"/>
              <a:t>Hello world</a:t>
            </a:r>
            <a:endParaRPr lang="en-US" dirty="0"/>
          </a:p>
          <a:p>
            <a:r>
              <a:rPr lang="en-AU" dirty="0"/>
              <a:t>Hello world</a:t>
            </a:r>
          </a:p>
          <a:p>
            <a:r>
              <a:rPr lang="en-AU" dirty="0"/>
              <a:t>Hello world</a:t>
            </a:r>
            <a:endParaRPr lang="en-US" dirty="0"/>
          </a:p>
          <a:p>
            <a:r>
              <a:rPr lang="en-AU" dirty="0"/>
              <a:t>Hello world</a:t>
            </a:r>
          </a:p>
          <a:p>
            <a:r>
              <a:rPr lang="en-AU" dirty="0"/>
              <a:t>Hello world</a:t>
            </a:r>
            <a:endParaRPr lang="en-US" dirty="0"/>
          </a:p>
          <a:p>
            <a:r>
              <a:rPr lang="en-AU" dirty="0"/>
              <a:t>Hello world</a:t>
            </a:r>
          </a:p>
          <a:p>
            <a:r>
              <a:rPr lang="en-AU" dirty="0"/>
              <a:t>Hello world</a:t>
            </a:r>
            <a:endParaRPr lang="en-US" dirty="0"/>
          </a:p>
        </p:txBody>
      </p:sp>
    </p:spTree>
    <p:extLst>
      <p:ext uri="{BB962C8B-B14F-4D97-AF65-F5344CB8AC3E}">
        <p14:creationId xmlns:p14="http://schemas.microsoft.com/office/powerpoint/2010/main" val="891112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for Loop – </a:t>
            </a:r>
            <a:r>
              <a:rPr lang="en-AU"/>
              <a:t>Optional Expression</a:t>
            </a:r>
            <a:endParaRPr lang="en-US" dirty="0"/>
          </a:p>
        </p:txBody>
      </p:sp>
      <p:sp>
        <p:nvSpPr>
          <p:cNvPr id="3" name="Content Placeholder 2"/>
          <p:cNvSpPr>
            <a:spLocks noGrp="1"/>
          </p:cNvSpPr>
          <p:nvPr>
            <p:ph idx="1"/>
          </p:nvPr>
        </p:nvSpPr>
        <p:spPr>
          <a:xfrm>
            <a:off x="677334" y="1800374"/>
            <a:ext cx="8596668" cy="4351044"/>
          </a:xfrm>
        </p:spPr>
        <p:txBody>
          <a:bodyPr>
            <a:noAutofit/>
          </a:bodyPr>
          <a:lstStyle/>
          <a:p>
            <a:r>
              <a:rPr lang="en-AU" sz="2000" dirty="0">
                <a:solidFill>
                  <a:schemeClr val="tx1"/>
                </a:solidFill>
              </a:rPr>
              <a:t>Option 4</a:t>
            </a:r>
            <a:endParaRPr lang="en-US" sz="2000" dirty="0">
              <a:solidFill>
                <a:schemeClr val="tx1"/>
              </a:solidFill>
            </a:endParaRPr>
          </a:p>
          <a:p>
            <a:pPr>
              <a:buNone/>
            </a:pPr>
            <a:r>
              <a:rPr lang="en-US" sz="2000" dirty="0" err="1">
                <a:solidFill>
                  <a:schemeClr val="tx1"/>
                </a:solidFill>
              </a:rPr>
              <a:t>int</a:t>
            </a:r>
            <a:r>
              <a:rPr lang="en-US" sz="2000" dirty="0">
                <a:solidFill>
                  <a:schemeClr val="tx1"/>
                </a:solidFill>
              </a:rPr>
              <a:t> j=0;</a:t>
            </a:r>
          </a:p>
          <a:p>
            <a:pPr>
              <a:buNone/>
            </a:pPr>
            <a:r>
              <a:rPr lang="en-US" sz="2000" dirty="0">
                <a:solidFill>
                  <a:srgbClr val="FF0000"/>
                </a:solidFill>
              </a:rPr>
              <a:t>for(; ; ) </a:t>
            </a:r>
            <a:endParaRPr lang="en-US" sz="2000" b="1" dirty="0">
              <a:solidFill>
                <a:srgbClr val="FF0000"/>
              </a:solidFill>
            </a:endParaRPr>
          </a:p>
          <a:p>
            <a:pPr>
              <a:buNone/>
            </a:pPr>
            <a:r>
              <a:rPr lang="en-US" sz="2000" dirty="0">
                <a:solidFill>
                  <a:schemeClr val="tx1"/>
                </a:solidFill>
              </a:rPr>
              <a:t>	{</a:t>
            </a:r>
          </a:p>
          <a:p>
            <a:pPr>
              <a:buNone/>
            </a:pPr>
            <a:r>
              <a:rPr lang="en-US" sz="2000" dirty="0">
                <a:solidFill>
                  <a:schemeClr val="tx1"/>
                </a:solidFill>
              </a:rPr>
              <a:t>		</a:t>
            </a:r>
            <a:r>
              <a:rPr lang="en-US" sz="2000" dirty="0" err="1">
                <a:solidFill>
                  <a:schemeClr val="tx1"/>
                </a:solidFill>
              </a:rPr>
              <a:t>cout</a:t>
            </a:r>
            <a:r>
              <a:rPr lang="en-US" sz="2000" dirty="0">
                <a:solidFill>
                  <a:schemeClr val="tx1"/>
                </a:solidFill>
              </a:rPr>
              <a:t>&lt;&lt;“\</a:t>
            </a:r>
            <a:r>
              <a:rPr lang="en-US" sz="2000" dirty="0" err="1">
                <a:solidFill>
                  <a:schemeClr val="tx1"/>
                </a:solidFill>
              </a:rPr>
              <a:t>nHello</a:t>
            </a:r>
            <a:r>
              <a:rPr lang="en-US" sz="2000" dirty="0">
                <a:solidFill>
                  <a:schemeClr val="tx1"/>
                </a:solidFill>
              </a:rPr>
              <a:t> world“;</a:t>
            </a:r>
          </a:p>
          <a:p>
            <a:pPr>
              <a:buNone/>
            </a:pPr>
            <a:r>
              <a:rPr lang="en-AU" sz="2000" dirty="0">
                <a:solidFill>
                  <a:schemeClr val="tx1"/>
                </a:solidFill>
              </a:rPr>
              <a:t>	 </a:t>
            </a:r>
            <a:r>
              <a:rPr lang="en-AU" sz="2000" dirty="0" err="1">
                <a:solidFill>
                  <a:schemeClr val="tx1"/>
                </a:solidFill>
              </a:rPr>
              <a:t>j++</a:t>
            </a:r>
            <a:r>
              <a:rPr lang="en-AU" sz="2000" dirty="0">
                <a:solidFill>
                  <a:schemeClr val="tx1"/>
                </a:solidFill>
              </a:rPr>
              <a:t>;</a:t>
            </a:r>
          </a:p>
          <a:p>
            <a:pPr>
              <a:buNone/>
            </a:pPr>
            <a:r>
              <a:rPr lang="en-AU" sz="2000" dirty="0">
                <a:solidFill>
                  <a:schemeClr val="tx1"/>
                </a:solidFill>
              </a:rPr>
              <a:t>	}</a:t>
            </a:r>
          </a:p>
          <a:p>
            <a:r>
              <a:rPr lang="en-AU" sz="2000" dirty="0">
                <a:solidFill>
                  <a:schemeClr val="tx1"/>
                </a:solidFill>
              </a:rPr>
              <a:t>Infinite loop</a:t>
            </a:r>
            <a:endParaRPr lang="en-US" sz="2000" dirty="0">
              <a:solidFill>
                <a:schemeClr val="tx1"/>
              </a:solidFill>
            </a:endParaRPr>
          </a:p>
        </p:txBody>
      </p:sp>
      <p:sp>
        <p:nvSpPr>
          <p:cNvPr id="4" name="Footer Placeholder 3"/>
          <p:cNvSpPr>
            <a:spLocks noGrp="1"/>
          </p:cNvSpPr>
          <p:nvPr>
            <p:ph type="ftr" sz="quarter" idx="11"/>
          </p:nvPr>
        </p:nvSpPr>
        <p:spPr/>
        <p:txBody>
          <a:bodyPr/>
          <a:lstStyle/>
          <a:p>
            <a:r>
              <a:rPr lang="en-US" dirty="0"/>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23</a:t>
            </a:fld>
            <a:endParaRPr lang="en-US"/>
          </a:p>
        </p:txBody>
      </p:sp>
    </p:spTree>
    <p:extLst>
      <p:ext uri="{BB962C8B-B14F-4D97-AF65-F5344CB8AC3E}">
        <p14:creationId xmlns:p14="http://schemas.microsoft.com/office/powerpoint/2010/main" val="2132993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4"/>
          <p:cNvSpPr>
            <a:spLocks noGrp="1" noChangeArrowheads="1"/>
          </p:cNvSpPr>
          <p:nvPr>
            <p:ph type="ctrTitle"/>
          </p:nvPr>
        </p:nvSpPr>
        <p:spPr/>
        <p:txBody>
          <a:bodyPr/>
          <a:lstStyle/>
          <a:p>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br>
              <a:rPr lang="en-US" altLang="en-US" sz="6000" b="1" dirty="0">
                <a:latin typeface="Arial" charset="0"/>
              </a:rPr>
            </a:br>
            <a:r>
              <a:rPr lang="en-US" altLang="en-US" sz="6000" b="1" dirty="0">
                <a:latin typeface="Arial" charset="0"/>
              </a:rPr>
              <a:t>break &amp; continue</a:t>
            </a:r>
            <a:endParaRPr lang="en-US" sz="6000" b="1" dirty="0">
              <a:latin typeface="Arial" charset="0"/>
            </a:endParaRPr>
          </a:p>
        </p:txBody>
      </p:sp>
      <p:sp>
        <p:nvSpPr>
          <p:cNvPr id="14338" name="Rectangle 5"/>
          <p:cNvSpPr>
            <a:spLocks noGrp="1" noChangeArrowheads="1"/>
          </p:cNvSpPr>
          <p:nvPr>
            <p:ph type="subTitle" idx="1"/>
          </p:nvPr>
        </p:nvSpPr>
        <p:spPr/>
        <p:txBody>
          <a:bodyPr>
            <a:noAutofit/>
          </a:bodyPr>
          <a:lstStyle/>
          <a:p>
            <a:r>
              <a:rPr lang="en-US" altLang="en-US" sz="3200" dirty="0"/>
              <a:t>Used to alter the flow of control</a:t>
            </a:r>
          </a:p>
          <a:p>
            <a:pPr eaLnBrk="1" hangingPunct="1"/>
            <a:endParaRPr lang="en-US" sz="3200" b="1" dirty="0">
              <a:latin typeface="Arial" charset="0"/>
            </a:endParaRPr>
          </a:p>
        </p:txBody>
      </p:sp>
    </p:spTree>
    <p:extLst>
      <p:ext uri="{BB962C8B-B14F-4D97-AF65-F5344CB8AC3E}">
        <p14:creationId xmlns:p14="http://schemas.microsoft.com/office/powerpoint/2010/main" val="2513762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AU" dirty="0"/>
              <a:t>The break statement</a:t>
            </a:r>
            <a:endParaRPr lang="en-US" dirty="0"/>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25</a:t>
            </a:fld>
            <a:endParaRPr lang="en-US"/>
          </a:p>
        </p:txBody>
      </p:sp>
      <p:sp>
        <p:nvSpPr>
          <p:cNvPr id="13" name="Rectangle 3"/>
          <p:cNvSpPr>
            <a:spLocks noGrp="1" noChangeArrowheads="1"/>
          </p:cNvSpPr>
          <p:nvPr>
            <p:ph idx="1"/>
          </p:nvPr>
        </p:nvSpPr>
        <p:spPr>
          <a:xfrm>
            <a:off x="677333" y="1690255"/>
            <a:ext cx="9140921" cy="4351107"/>
          </a:xfrm>
        </p:spPr>
        <p:txBody>
          <a:bodyPr>
            <a:normAutofit/>
          </a:bodyPr>
          <a:lstStyle/>
          <a:p>
            <a:pPr algn="just">
              <a:spcBef>
                <a:spcPct val="70000"/>
              </a:spcBef>
            </a:pPr>
            <a:r>
              <a:rPr lang="en-US" altLang="en-US" sz="2800" dirty="0"/>
              <a:t>break statement is used for two purposes:</a:t>
            </a:r>
          </a:p>
          <a:p>
            <a:pPr marL="742950" lvl="2" indent="-342900" algn="just">
              <a:spcBef>
                <a:spcPct val="70000"/>
              </a:spcBef>
            </a:pPr>
            <a:r>
              <a:rPr lang="en-US" altLang="en-US" sz="2400" dirty="0"/>
              <a:t>To exit early from a loop </a:t>
            </a:r>
            <a:r>
              <a:rPr lang="en-US" sz="2400" dirty="0"/>
              <a:t>even if the loop condition is true</a:t>
            </a:r>
            <a:endParaRPr lang="en-US" altLang="en-US" sz="2400" dirty="0"/>
          </a:p>
          <a:p>
            <a:pPr marL="742950" lvl="2" indent="-342900" algn="just">
              <a:spcBef>
                <a:spcPct val="70000"/>
              </a:spcBef>
            </a:pPr>
            <a:r>
              <a:rPr lang="en-US" altLang="en-US" sz="2400" dirty="0"/>
              <a:t>To skip the remainder of the switch structure</a:t>
            </a:r>
          </a:p>
          <a:p>
            <a:pPr algn="just">
              <a:spcBef>
                <a:spcPct val="70000"/>
              </a:spcBef>
            </a:pPr>
            <a:r>
              <a:rPr lang="en-US" altLang="en-US" sz="2800" dirty="0"/>
              <a:t>After the break statement executes, the program continues with the first statement after the structure</a:t>
            </a:r>
          </a:p>
        </p:txBody>
      </p:sp>
    </p:spTree>
    <p:extLst>
      <p:ext uri="{BB962C8B-B14F-4D97-AF65-F5344CB8AC3E}">
        <p14:creationId xmlns:p14="http://schemas.microsoft.com/office/powerpoint/2010/main" val="616405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break</a:t>
            </a:r>
            <a:endParaRPr lang="en-US" dirty="0"/>
          </a:p>
        </p:txBody>
      </p:sp>
      <p:sp>
        <p:nvSpPr>
          <p:cNvPr id="3" name="Content Placeholder 2"/>
          <p:cNvSpPr>
            <a:spLocks noGrp="1"/>
          </p:cNvSpPr>
          <p:nvPr>
            <p:ph sz="half" idx="1"/>
          </p:nvPr>
        </p:nvSpPr>
        <p:spPr>
          <a:xfrm>
            <a:off x="677334" y="1708737"/>
            <a:ext cx="4184035" cy="4332624"/>
          </a:xfrm>
        </p:spPr>
        <p:txBody>
          <a:bodyPr>
            <a:noAutofit/>
          </a:bodyPr>
          <a:lstStyle/>
          <a:p>
            <a:r>
              <a:rPr lang="en-AU" sz="2000" dirty="0">
                <a:solidFill>
                  <a:schemeClr val="tx1"/>
                </a:solidFill>
              </a:rPr>
              <a:t>Option 4</a:t>
            </a:r>
            <a:endParaRPr lang="en-US" sz="2000" dirty="0">
              <a:solidFill>
                <a:schemeClr val="tx1"/>
              </a:solidFill>
            </a:endParaRPr>
          </a:p>
          <a:p>
            <a:pPr>
              <a:buNone/>
            </a:pPr>
            <a:r>
              <a:rPr lang="en-US" sz="2000" dirty="0" err="1">
                <a:solidFill>
                  <a:schemeClr val="tx1"/>
                </a:solidFill>
              </a:rPr>
              <a:t>int</a:t>
            </a:r>
            <a:r>
              <a:rPr lang="en-US" sz="2000" dirty="0">
                <a:solidFill>
                  <a:schemeClr val="tx1"/>
                </a:solidFill>
              </a:rPr>
              <a:t> j=0;</a:t>
            </a:r>
          </a:p>
          <a:p>
            <a:pPr>
              <a:buNone/>
            </a:pPr>
            <a:r>
              <a:rPr lang="en-US" sz="2000" dirty="0">
                <a:solidFill>
                  <a:schemeClr val="tx1"/>
                </a:solidFill>
              </a:rPr>
              <a:t>for(; ; ) </a:t>
            </a:r>
            <a:endParaRPr lang="en-US" sz="2000" b="1" dirty="0">
              <a:solidFill>
                <a:schemeClr val="tx1"/>
              </a:solidFill>
            </a:endParaRPr>
          </a:p>
          <a:p>
            <a:pPr>
              <a:buNone/>
            </a:pPr>
            <a:r>
              <a:rPr lang="en-US" sz="2000" dirty="0">
                <a:solidFill>
                  <a:schemeClr val="tx1"/>
                </a:solidFill>
              </a:rPr>
              <a:t>	{</a:t>
            </a:r>
          </a:p>
          <a:p>
            <a:pPr>
              <a:buNone/>
            </a:pPr>
            <a:r>
              <a:rPr lang="en-US" sz="2000" dirty="0">
                <a:solidFill>
                  <a:schemeClr val="tx1"/>
                </a:solidFill>
              </a:rPr>
              <a:t>		</a:t>
            </a:r>
            <a:r>
              <a:rPr lang="en-US" sz="2000" dirty="0" err="1">
                <a:solidFill>
                  <a:schemeClr val="tx1"/>
                </a:solidFill>
              </a:rPr>
              <a:t>cout</a:t>
            </a:r>
            <a:r>
              <a:rPr lang="en-US" sz="2000" dirty="0">
                <a:solidFill>
                  <a:schemeClr val="tx1"/>
                </a:solidFill>
              </a:rPr>
              <a:t>&lt;&lt;“\</a:t>
            </a:r>
            <a:r>
              <a:rPr lang="en-US" sz="2000" dirty="0" err="1">
                <a:solidFill>
                  <a:schemeClr val="tx1"/>
                </a:solidFill>
              </a:rPr>
              <a:t>nHello</a:t>
            </a:r>
            <a:r>
              <a:rPr lang="en-US" sz="2000" dirty="0">
                <a:solidFill>
                  <a:schemeClr val="tx1"/>
                </a:solidFill>
              </a:rPr>
              <a:t> world“;</a:t>
            </a:r>
          </a:p>
          <a:p>
            <a:pPr>
              <a:buNone/>
            </a:pPr>
            <a:r>
              <a:rPr lang="en-AU" sz="2000" dirty="0">
                <a:solidFill>
                  <a:schemeClr val="tx1"/>
                </a:solidFill>
              </a:rPr>
              <a:t>	 </a:t>
            </a:r>
            <a:r>
              <a:rPr lang="en-AU" sz="2000" dirty="0" err="1">
                <a:solidFill>
                  <a:schemeClr val="tx1"/>
                </a:solidFill>
              </a:rPr>
              <a:t>j++</a:t>
            </a:r>
            <a:r>
              <a:rPr lang="en-AU" sz="2000" dirty="0">
                <a:solidFill>
                  <a:schemeClr val="tx1"/>
                </a:solidFill>
              </a:rPr>
              <a:t>;</a:t>
            </a:r>
          </a:p>
          <a:p>
            <a:pPr>
              <a:buNone/>
            </a:pPr>
            <a:r>
              <a:rPr lang="en-AU" sz="2000" dirty="0">
                <a:solidFill>
                  <a:schemeClr val="tx1"/>
                </a:solidFill>
              </a:rPr>
              <a:t>	}</a:t>
            </a:r>
          </a:p>
          <a:p>
            <a:r>
              <a:rPr lang="en-AU" sz="2000" dirty="0">
                <a:solidFill>
                  <a:schemeClr val="tx1"/>
                </a:solidFill>
              </a:rPr>
              <a:t>Infinite loop</a:t>
            </a:r>
            <a:endParaRPr lang="en-US" sz="2000" dirty="0">
              <a:solidFill>
                <a:schemeClr val="tx1"/>
              </a:solidFill>
            </a:endParaRPr>
          </a:p>
        </p:txBody>
      </p:sp>
      <p:sp>
        <p:nvSpPr>
          <p:cNvPr id="6" name="Content Placeholder 5"/>
          <p:cNvSpPr>
            <a:spLocks noGrp="1"/>
          </p:cNvSpPr>
          <p:nvPr>
            <p:ph sz="half" idx="2"/>
          </p:nvPr>
        </p:nvSpPr>
        <p:spPr>
          <a:xfrm>
            <a:off x="4378773" y="1616365"/>
            <a:ext cx="4184034" cy="4424998"/>
          </a:xfrm>
        </p:spPr>
        <p:txBody>
          <a:bodyPr>
            <a:normAutofit/>
          </a:bodyPr>
          <a:lstStyle/>
          <a:p>
            <a:r>
              <a:rPr lang="en-AU" sz="2400" dirty="0">
                <a:solidFill>
                  <a:schemeClr val="tx1"/>
                </a:solidFill>
              </a:rPr>
              <a:t>Option 4</a:t>
            </a:r>
            <a:r>
              <a:rPr lang="en-US" sz="2400" dirty="0">
                <a:solidFill>
                  <a:schemeClr val="tx1"/>
                </a:solidFill>
              </a:rPr>
              <a:t> (Corrected)</a:t>
            </a:r>
          </a:p>
          <a:p>
            <a:pPr>
              <a:buNone/>
            </a:pPr>
            <a:r>
              <a:rPr lang="en-US" sz="2400" dirty="0" err="1">
                <a:solidFill>
                  <a:schemeClr val="tx1"/>
                </a:solidFill>
              </a:rPr>
              <a:t>int</a:t>
            </a:r>
            <a:r>
              <a:rPr lang="en-US" sz="2400" dirty="0">
                <a:solidFill>
                  <a:schemeClr val="tx1"/>
                </a:solidFill>
              </a:rPr>
              <a:t> j=0;</a:t>
            </a:r>
          </a:p>
          <a:p>
            <a:pPr>
              <a:buNone/>
            </a:pPr>
            <a:r>
              <a:rPr lang="en-US" sz="2400" dirty="0">
                <a:solidFill>
                  <a:schemeClr val="tx1"/>
                </a:solidFill>
              </a:rPr>
              <a:t>for(; ; ) </a:t>
            </a:r>
            <a:endParaRPr lang="en-US" sz="2400" b="1" dirty="0">
              <a:solidFill>
                <a:schemeClr val="tx1"/>
              </a:solidFill>
            </a:endParaRPr>
          </a:p>
          <a:p>
            <a:pPr>
              <a:buNone/>
            </a:pPr>
            <a:r>
              <a:rPr lang="en-US" sz="2400" dirty="0">
                <a:solidFill>
                  <a:schemeClr val="tx1"/>
                </a:solidFill>
              </a:rPr>
              <a:t>	{</a:t>
            </a:r>
          </a:p>
          <a:p>
            <a:pPr>
              <a:buNone/>
            </a:pPr>
            <a:r>
              <a:rPr lang="en-AU" sz="2400" dirty="0">
                <a:solidFill>
                  <a:schemeClr val="tx1"/>
                </a:solidFill>
              </a:rPr>
              <a:t>		</a:t>
            </a:r>
            <a:r>
              <a:rPr lang="en-AU" sz="2400" dirty="0">
                <a:solidFill>
                  <a:srgbClr val="FF0000"/>
                </a:solidFill>
              </a:rPr>
              <a:t>if(j &gt;= 10)</a:t>
            </a:r>
          </a:p>
          <a:p>
            <a:pPr>
              <a:buNone/>
            </a:pPr>
            <a:r>
              <a:rPr lang="en-AU" sz="2400" dirty="0">
                <a:solidFill>
                  <a:srgbClr val="FF0000"/>
                </a:solidFill>
              </a:rPr>
              <a:t>			break;</a:t>
            </a:r>
            <a:endParaRPr lang="en-US" sz="2400" dirty="0">
              <a:solidFill>
                <a:srgbClr val="FF0000"/>
              </a:solidFill>
            </a:endParaRPr>
          </a:p>
          <a:p>
            <a:pPr>
              <a:buNone/>
            </a:pPr>
            <a:r>
              <a:rPr lang="en-US" sz="2400" dirty="0">
                <a:solidFill>
                  <a:schemeClr val="tx1"/>
                </a:solidFill>
              </a:rPr>
              <a:t>		</a:t>
            </a:r>
            <a:r>
              <a:rPr lang="en-US" sz="2400" dirty="0" err="1">
                <a:solidFill>
                  <a:schemeClr val="tx1"/>
                </a:solidFill>
              </a:rPr>
              <a:t>cout</a:t>
            </a:r>
            <a:r>
              <a:rPr lang="en-US" sz="2400" dirty="0">
                <a:solidFill>
                  <a:schemeClr val="tx1"/>
                </a:solidFill>
              </a:rPr>
              <a:t>&lt;&lt;“\</a:t>
            </a:r>
            <a:r>
              <a:rPr lang="en-US" sz="2400" dirty="0" err="1">
                <a:solidFill>
                  <a:schemeClr val="tx1"/>
                </a:solidFill>
              </a:rPr>
              <a:t>nHello</a:t>
            </a:r>
            <a:r>
              <a:rPr lang="en-US" sz="2400" dirty="0">
                <a:solidFill>
                  <a:schemeClr val="tx1"/>
                </a:solidFill>
              </a:rPr>
              <a:t> world“;</a:t>
            </a:r>
          </a:p>
          <a:p>
            <a:pPr>
              <a:buNone/>
            </a:pPr>
            <a:r>
              <a:rPr lang="en-AU" sz="2400" dirty="0">
                <a:solidFill>
                  <a:schemeClr val="tx1"/>
                </a:solidFill>
              </a:rPr>
              <a:t>	 </a:t>
            </a:r>
            <a:r>
              <a:rPr lang="en-AU" sz="2400" dirty="0" err="1">
                <a:solidFill>
                  <a:schemeClr val="tx1"/>
                </a:solidFill>
              </a:rPr>
              <a:t>j++</a:t>
            </a:r>
            <a:r>
              <a:rPr lang="en-AU" sz="2400" dirty="0">
                <a:solidFill>
                  <a:schemeClr val="tx1"/>
                </a:solidFill>
              </a:rPr>
              <a:t>;</a:t>
            </a:r>
          </a:p>
          <a:p>
            <a:pPr>
              <a:buNone/>
            </a:pPr>
            <a:r>
              <a:rPr lang="en-AU" sz="2400" dirty="0">
                <a:solidFill>
                  <a:schemeClr val="tx1"/>
                </a:solidFill>
              </a:rPr>
              <a:t>	}</a:t>
            </a:r>
          </a:p>
          <a:p>
            <a:endParaRPr lang="en-US" sz="2400" dirty="0"/>
          </a:p>
        </p:txBody>
      </p:sp>
      <p:sp>
        <p:nvSpPr>
          <p:cNvPr id="4" name="Footer Placeholder 3"/>
          <p:cNvSpPr>
            <a:spLocks noGrp="1"/>
          </p:cNvSpPr>
          <p:nvPr>
            <p:ph type="ftr" sz="quarter" idx="11"/>
          </p:nvPr>
        </p:nvSpPr>
        <p:spPr/>
        <p:txBody>
          <a:bodyPr/>
          <a:lstStyle/>
          <a:p>
            <a:r>
              <a:rPr lang="en-US" dirty="0"/>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26</a:t>
            </a:fld>
            <a:endParaRPr lang="en-US"/>
          </a:p>
        </p:txBody>
      </p:sp>
      <p:sp>
        <p:nvSpPr>
          <p:cNvPr id="7" name="TextBox 6"/>
          <p:cNvSpPr txBox="1"/>
          <p:nvPr/>
        </p:nvSpPr>
        <p:spPr>
          <a:xfrm>
            <a:off x="8784625" y="1708737"/>
            <a:ext cx="1514764" cy="3508653"/>
          </a:xfrm>
          <a:prstGeom prst="rect">
            <a:avLst/>
          </a:prstGeom>
          <a:noFill/>
        </p:spPr>
        <p:txBody>
          <a:bodyPr wrap="square" rtlCol="0">
            <a:spAutoFit/>
          </a:bodyPr>
          <a:lstStyle/>
          <a:p>
            <a:r>
              <a:rPr lang="en-AU" sz="2400" b="1" dirty="0"/>
              <a:t>Output:</a:t>
            </a:r>
          </a:p>
          <a:p>
            <a:endParaRPr lang="en-AU" b="1" dirty="0"/>
          </a:p>
          <a:p>
            <a:r>
              <a:rPr lang="en-AU" dirty="0"/>
              <a:t>Hello world</a:t>
            </a:r>
          </a:p>
          <a:p>
            <a:r>
              <a:rPr lang="en-AU" dirty="0"/>
              <a:t>Hello world</a:t>
            </a:r>
          </a:p>
          <a:p>
            <a:r>
              <a:rPr lang="en-AU" dirty="0"/>
              <a:t>Hello world</a:t>
            </a:r>
          </a:p>
          <a:p>
            <a:r>
              <a:rPr lang="en-AU" dirty="0"/>
              <a:t>Hello world</a:t>
            </a:r>
            <a:endParaRPr lang="en-US" dirty="0"/>
          </a:p>
          <a:p>
            <a:r>
              <a:rPr lang="en-AU" dirty="0"/>
              <a:t>Hello world</a:t>
            </a:r>
          </a:p>
          <a:p>
            <a:r>
              <a:rPr lang="en-AU" dirty="0"/>
              <a:t>Hello world</a:t>
            </a:r>
            <a:endParaRPr lang="en-US" dirty="0"/>
          </a:p>
          <a:p>
            <a:r>
              <a:rPr lang="en-AU" dirty="0"/>
              <a:t>Hello world</a:t>
            </a:r>
          </a:p>
          <a:p>
            <a:r>
              <a:rPr lang="en-AU" dirty="0"/>
              <a:t>Hello world</a:t>
            </a:r>
            <a:endParaRPr lang="en-US" dirty="0"/>
          </a:p>
          <a:p>
            <a:r>
              <a:rPr lang="en-AU" dirty="0"/>
              <a:t>Hello world</a:t>
            </a:r>
          </a:p>
          <a:p>
            <a:r>
              <a:rPr lang="en-AU" dirty="0"/>
              <a:t>Hello world</a:t>
            </a:r>
            <a:endParaRPr lang="en-US" dirty="0"/>
          </a:p>
        </p:txBody>
      </p:sp>
    </p:spTree>
    <p:extLst>
      <p:ext uri="{BB962C8B-B14F-4D97-AF65-F5344CB8AC3E}">
        <p14:creationId xmlns:p14="http://schemas.microsoft.com/office/powerpoint/2010/main" val="2905423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continue Statement</a:t>
            </a:r>
            <a:endParaRPr lang="en-US" dirty="0"/>
          </a:p>
        </p:txBody>
      </p:sp>
      <p:sp>
        <p:nvSpPr>
          <p:cNvPr id="7" name="Content Placeholder 6"/>
          <p:cNvSpPr>
            <a:spLocks noGrp="1"/>
          </p:cNvSpPr>
          <p:nvPr>
            <p:ph idx="1"/>
          </p:nvPr>
        </p:nvSpPr>
        <p:spPr>
          <a:xfrm>
            <a:off x="677333" y="1819565"/>
            <a:ext cx="9094739" cy="4221798"/>
          </a:xfrm>
        </p:spPr>
        <p:txBody>
          <a:bodyPr>
            <a:normAutofit fontScale="92500" lnSpcReduction="10000"/>
          </a:bodyPr>
          <a:lstStyle/>
          <a:p>
            <a:pPr>
              <a:spcBef>
                <a:spcPct val="70000"/>
              </a:spcBef>
            </a:pPr>
            <a:r>
              <a:rPr lang="en-US" altLang="en-US" sz="3200" dirty="0"/>
              <a:t>continue is used in while, for, and do…while structures</a:t>
            </a:r>
          </a:p>
          <a:p>
            <a:pPr>
              <a:spcBef>
                <a:spcPct val="70000"/>
              </a:spcBef>
            </a:pPr>
            <a:r>
              <a:rPr lang="en-US" altLang="en-US" sz="3200" dirty="0"/>
              <a:t>When executed in a loop It skips remaining statements </a:t>
            </a:r>
            <a:r>
              <a:rPr lang="en-US" sz="3200" dirty="0"/>
              <a:t>after the continue statement</a:t>
            </a:r>
            <a:endParaRPr lang="en-US" altLang="en-US" sz="3200" dirty="0"/>
          </a:p>
          <a:p>
            <a:pPr>
              <a:spcBef>
                <a:spcPct val="70000"/>
              </a:spcBef>
            </a:pPr>
            <a:r>
              <a:rPr lang="en-US" sz="3200" dirty="0"/>
              <a:t>Skips to the bottom of the loop</a:t>
            </a:r>
          </a:p>
          <a:p>
            <a:pPr lvl="1">
              <a:spcBef>
                <a:spcPct val="70000"/>
              </a:spcBef>
            </a:pPr>
            <a:r>
              <a:rPr lang="en-US" sz="3000" dirty="0"/>
              <a:t>Update statement is executed in for loops</a:t>
            </a:r>
          </a:p>
          <a:p>
            <a:pPr lvl="1">
              <a:spcBef>
                <a:spcPct val="70000"/>
              </a:spcBef>
            </a:pPr>
            <a:r>
              <a:rPr lang="en-US" sz="3000" dirty="0"/>
              <a:t>Condition check is evaluated in do…while loops </a:t>
            </a:r>
            <a:r>
              <a:rPr lang="en-US" altLang="en-US" sz="3000" dirty="0"/>
              <a:t> </a:t>
            </a:r>
          </a:p>
          <a:p>
            <a:endParaRPr lang="en-US" sz="2400" dirty="0"/>
          </a:p>
        </p:txBody>
      </p:sp>
      <p:sp>
        <p:nvSpPr>
          <p:cNvPr id="5" name="Footer Placeholder 4"/>
          <p:cNvSpPr>
            <a:spLocks noGrp="1"/>
          </p:cNvSpPr>
          <p:nvPr>
            <p:ph type="ftr" sz="quarter" idx="11"/>
          </p:nvPr>
        </p:nvSpPr>
        <p:spPr/>
        <p:txBody>
          <a:bodyPr/>
          <a:lstStyle/>
          <a:p>
            <a:r>
              <a:rPr lang="en-US"/>
              <a:t>Introduction to Computer Programming</a:t>
            </a:r>
          </a:p>
        </p:txBody>
      </p:sp>
      <p:sp>
        <p:nvSpPr>
          <p:cNvPr id="6" name="Slide Number Placeholder 5"/>
          <p:cNvSpPr>
            <a:spLocks noGrp="1"/>
          </p:cNvSpPr>
          <p:nvPr>
            <p:ph type="sldNum" sz="quarter" idx="12"/>
          </p:nvPr>
        </p:nvSpPr>
        <p:spPr/>
        <p:txBody>
          <a:bodyPr/>
          <a:lstStyle/>
          <a:p>
            <a:fld id="{B10F10AB-30EA-4782-BF5E-1F5F70051DED}" type="slidenum">
              <a:rPr lang="en-US" smtClean="0"/>
              <a:t>27</a:t>
            </a:fld>
            <a:endParaRPr lang="en-US"/>
          </a:p>
        </p:txBody>
      </p:sp>
    </p:spTree>
    <p:extLst>
      <p:ext uri="{BB962C8B-B14F-4D97-AF65-F5344CB8AC3E}">
        <p14:creationId xmlns:p14="http://schemas.microsoft.com/office/powerpoint/2010/main" val="1652104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Continue example</a:t>
            </a:r>
            <a:endParaRPr lang="en-US" dirty="0"/>
          </a:p>
        </p:txBody>
      </p:sp>
      <p:sp>
        <p:nvSpPr>
          <p:cNvPr id="3" name="Content Placeholder 2"/>
          <p:cNvSpPr>
            <a:spLocks noGrp="1"/>
          </p:cNvSpPr>
          <p:nvPr>
            <p:ph idx="1"/>
          </p:nvPr>
        </p:nvSpPr>
        <p:spPr>
          <a:xfrm>
            <a:off x="677334" y="1708727"/>
            <a:ext cx="8596668" cy="4332635"/>
          </a:xfrm>
        </p:spPr>
        <p:txBody>
          <a:bodyPr>
            <a:normAutofit fontScale="92500" lnSpcReduction="20000"/>
          </a:bodyPr>
          <a:lstStyle/>
          <a:p>
            <a:pPr marL="0" lvl="1" indent="0">
              <a:buNone/>
            </a:pPr>
            <a:r>
              <a:rPr lang="en-AU" sz="2400" dirty="0" err="1"/>
              <a:t>int</a:t>
            </a:r>
            <a:r>
              <a:rPr lang="en-AU" sz="2400" dirty="0"/>
              <a:t> main()</a:t>
            </a:r>
          </a:p>
          <a:p>
            <a:pPr marL="0" lvl="1" indent="0">
              <a:buNone/>
            </a:pPr>
            <a:r>
              <a:rPr lang="en-AU" sz="2400" dirty="0"/>
              <a:t>{</a:t>
            </a:r>
          </a:p>
          <a:p>
            <a:pPr marL="0" lvl="1" indent="0">
              <a:buNone/>
            </a:pPr>
            <a:r>
              <a:rPr lang="en-AU" sz="2400" dirty="0"/>
              <a:t>	</a:t>
            </a:r>
            <a:r>
              <a:rPr lang="en-AU" sz="2400" dirty="0" err="1"/>
              <a:t>int</a:t>
            </a:r>
            <a:r>
              <a:rPr lang="en-AU" sz="2400" dirty="0"/>
              <a:t> </a:t>
            </a:r>
            <a:r>
              <a:rPr lang="en-AU" sz="2400" dirty="0" err="1"/>
              <a:t>i</a:t>
            </a:r>
            <a:r>
              <a:rPr lang="en-AU" sz="2400" dirty="0"/>
              <a:t>;</a:t>
            </a:r>
          </a:p>
          <a:p>
            <a:pPr marL="0" lvl="1" indent="0">
              <a:buNone/>
            </a:pPr>
            <a:r>
              <a:rPr lang="en-AU" sz="2400" dirty="0"/>
              <a:t>	for( </a:t>
            </a:r>
            <a:r>
              <a:rPr lang="en-AU" sz="2400" dirty="0" err="1"/>
              <a:t>i</a:t>
            </a:r>
            <a:r>
              <a:rPr lang="en-AU" sz="2400" dirty="0"/>
              <a:t>=0; </a:t>
            </a:r>
            <a:r>
              <a:rPr lang="en-AU" sz="2400" dirty="0" err="1"/>
              <a:t>i</a:t>
            </a:r>
            <a:r>
              <a:rPr lang="en-AU" sz="2400" dirty="0"/>
              <a:t>&lt;10; </a:t>
            </a:r>
            <a:r>
              <a:rPr lang="en-AU" sz="2400" dirty="0" err="1"/>
              <a:t>i</a:t>
            </a:r>
            <a:r>
              <a:rPr lang="en-AU" sz="2400" dirty="0"/>
              <a:t>++)</a:t>
            </a:r>
          </a:p>
          <a:p>
            <a:pPr marL="0" lvl="1" indent="0">
              <a:buNone/>
            </a:pPr>
            <a:r>
              <a:rPr lang="en-AU" sz="2400" dirty="0"/>
              <a:t>	{</a:t>
            </a:r>
          </a:p>
          <a:p>
            <a:pPr marL="0" lvl="1" indent="0">
              <a:buNone/>
            </a:pPr>
            <a:r>
              <a:rPr lang="en-AU" sz="2400" dirty="0"/>
              <a:t>		</a:t>
            </a:r>
            <a:r>
              <a:rPr lang="en-AU" sz="2400" dirty="0" err="1"/>
              <a:t>cout</a:t>
            </a:r>
            <a:r>
              <a:rPr lang="en-AU" sz="2400" dirty="0"/>
              <a:t>&lt;&lt;“Hello World”&lt;&lt;</a:t>
            </a:r>
            <a:r>
              <a:rPr lang="en-AU" sz="2400" dirty="0" err="1"/>
              <a:t>endl</a:t>
            </a:r>
            <a:r>
              <a:rPr lang="en-AU" sz="2400" dirty="0"/>
              <a:t>;</a:t>
            </a:r>
          </a:p>
          <a:p>
            <a:pPr marL="0" lvl="1" indent="0">
              <a:buNone/>
            </a:pPr>
            <a:r>
              <a:rPr lang="en-AU" sz="2400" dirty="0"/>
              <a:t>		</a:t>
            </a:r>
            <a:r>
              <a:rPr lang="en-AU" sz="2400" dirty="0">
                <a:solidFill>
                  <a:srgbClr val="FF0000"/>
                </a:solidFill>
              </a:rPr>
              <a:t>continue;</a:t>
            </a:r>
          </a:p>
          <a:p>
            <a:pPr marL="0" lvl="1" indent="0">
              <a:buNone/>
            </a:pPr>
            <a:r>
              <a:rPr lang="en-AU" sz="2400" dirty="0"/>
              <a:t>		</a:t>
            </a:r>
            <a:r>
              <a:rPr lang="en-AU" sz="2400" dirty="0" err="1"/>
              <a:t>cout</a:t>
            </a:r>
            <a:r>
              <a:rPr lang="en-AU" sz="2400" dirty="0"/>
              <a:t>&lt;&lt;“This line will never be executed”&lt;&lt;</a:t>
            </a:r>
            <a:r>
              <a:rPr lang="en-AU" sz="2400" dirty="0" err="1"/>
              <a:t>endl</a:t>
            </a:r>
            <a:r>
              <a:rPr lang="en-AU" sz="2400" dirty="0"/>
              <a:t>;</a:t>
            </a:r>
          </a:p>
          <a:p>
            <a:pPr marL="0" lvl="1" indent="0">
              <a:buNone/>
            </a:pPr>
            <a:r>
              <a:rPr lang="en-AU" sz="2400" dirty="0"/>
              <a:t>	}</a:t>
            </a:r>
          </a:p>
          <a:p>
            <a:pPr marL="0" lvl="1" indent="0">
              <a:buNone/>
            </a:pPr>
            <a:r>
              <a:rPr lang="en-AU" sz="2400" dirty="0"/>
              <a:t>	return 0;</a:t>
            </a:r>
          </a:p>
          <a:p>
            <a:pPr marL="0" lvl="1" indent="0">
              <a:buNone/>
            </a:pPr>
            <a:r>
              <a:rPr lang="en-AU" sz="2400" dirty="0"/>
              <a:t>}</a:t>
            </a:r>
          </a:p>
          <a:p>
            <a:endParaRPr lang="en-US" dirty="0"/>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28</a:t>
            </a:fld>
            <a:endParaRPr lang="en-US"/>
          </a:p>
        </p:txBody>
      </p:sp>
      <p:sp>
        <p:nvSpPr>
          <p:cNvPr id="6" name="TextBox 5"/>
          <p:cNvSpPr txBox="1"/>
          <p:nvPr/>
        </p:nvSpPr>
        <p:spPr>
          <a:xfrm>
            <a:off x="8784625" y="1708737"/>
            <a:ext cx="1514764" cy="3508653"/>
          </a:xfrm>
          <a:prstGeom prst="rect">
            <a:avLst/>
          </a:prstGeom>
          <a:noFill/>
        </p:spPr>
        <p:txBody>
          <a:bodyPr wrap="square" rtlCol="0">
            <a:spAutoFit/>
          </a:bodyPr>
          <a:lstStyle/>
          <a:p>
            <a:r>
              <a:rPr lang="en-AU" sz="2400" b="1" dirty="0"/>
              <a:t>Output:</a:t>
            </a:r>
          </a:p>
          <a:p>
            <a:endParaRPr lang="en-AU" b="1" dirty="0"/>
          </a:p>
          <a:p>
            <a:r>
              <a:rPr lang="en-AU" dirty="0"/>
              <a:t>Hello world</a:t>
            </a:r>
          </a:p>
          <a:p>
            <a:r>
              <a:rPr lang="en-AU" dirty="0"/>
              <a:t>Hello world</a:t>
            </a:r>
          </a:p>
          <a:p>
            <a:r>
              <a:rPr lang="en-AU" dirty="0"/>
              <a:t>Hello world</a:t>
            </a:r>
          </a:p>
          <a:p>
            <a:r>
              <a:rPr lang="en-AU" dirty="0"/>
              <a:t>Hello world</a:t>
            </a:r>
            <a:endParaRPr lang="en-US" dirty="0"/>
          </a:p>
          <a:p>
            <a:r>
              <a:rPr lang="en-AU" dirty="0"/>
              <a:t>Hello world</a:t>
            </a:r>
          </a:p>
          <a:p>
            <a:r>
              <a:rPr lang="en-AU" dirty="0"/>
              <a:t>Hello world</a:t>
            </a:r>
            <a:endParaRPr lang="en-US" dirty="0"/>
          </a:p>
          <a:p>
            <a:r>
              <a:rPr lang="en-AU" dirty="0"/>
              <a:t>Hello world</a:t>
            </a:r>
          </a:p>
          <a:p>
            <a:r>
              <a:rPr lang="en-AU" dirty="0"/>
              <a:t>Hello world</a:t>
            </a:r>
            <a:endParaRPr lang="en-US" dirty="0"/>
          </a:p>
          <a:p>
            <a:r>
              <a:rPr lang="en-AU" dirty="0"/>
              <a:t>Hello world</a:t>
            </a:r>
          </a:p>
          <a:p>
            <a:r>
              <a:rPr lang="en-AU" dirty="0"/>
              <a:t>Hello world</a:t>
            </a:r>
            <a:endParaRPr lang="en-US" dirty="0"/>
          </a:p>
        </p:txBody>
      </p:sp>
    </p:spTree>
    <p:extLst>
      <p:ext uri="{BB962C8B-B14F-4D97-AF65-F5344CB8AC3E}">
        <p14:creationId xmlns:p14="http://schemas.microsoft.com/office/powerpoint/2010/main" val="679585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79055"/>
          </a:xfrm>
        </p:spPr>
        <p:txBody>
          <a:bodyPr>
            <a:normAutofit/>
          </a:bodyPr>
          <a:lstStyle/>
          <a:p>
            <a:r>
              <a:rPr lang="en-AU" dirty="0"/>
              <a:t>Sum of +</a:t>
            </a:r>
            <a:r>
              <a:rPr lang="en-AU" dirty="0" err="1"/>
              <a:t>ve</a:t>
            </a:r>
            <a:r>
              <a:rPr lang="en-AU" dirty="0"/>
              <a:t> values entered by user</a:t>
            </a:r>
            <a:endParaRPr lang="en-US" dirty="0"/>
          </a:p>
        </p:txBody>
      </p:sp>
      <p:sp>
        <p:nvSpPr>
          <p:cNvPr id="3" name="Content Placeholder 2"/>
          <p:cNvSpPr>
            <a:spLocks noGrp="1"/>
          </p:cNvSpPr>
          <p:nvPr>
            <p:ph idx="1"/>
          </p:nvPr>
        </p:nvSpPr>
        <p:spPr>
          <a:xfrm>
            <a:off x="677334" y="1376223"/>
            <a:ext cx="7090448" cy="4545071"/>
          </a:xfrm>
        </p:spPr>
        <p:txBody>
          <a:bodyPr>
            <a:noAutofit/>
          </a:bodyPr>
          <a:lstStyle/>
          <a:p>
            <a:pPr marL="0" indent="0">
              <a:spcBef>
                <a:spcPts val="0"/>
              </a:spcBef>
              <a:buNone/>
            </a:pPr>
            <a:r>
              <a:rPr lang="en-US" sz="2800" dirty="0" err="1"/>
              <a:t>int</a:t>
            </a:r>
            <a:r>
              <a:rPr lang="en-US" sz="2800" dirty="0"/>
              <a:t> v = -1, total = 0;</a:t>
            </a:r>
          </a:p>
          <a:p>
            <a:pPr marL="0" indent="0">
              <a:spcBef>
                <a:spcPts val="0"/>
              </a:spcBef>
              <a:buNone/>
            </a:pPr>
            <a:r>
              <a:rPr lang="en-US" sz="2800" dirty="0"/>
              <a:t>for(</a:t>
            </a:r>
            <a:r>
              <a:rPr lang="en-US" sz="2800" dirty="0" err="1"/>
              <a:t>int</a:t>
            </a:r>
            <a:r>
              <a:rPr lang="en-US" sz="2800" dirty="0"/>
              <a:t> </a:t>
            </a:r>
            <a:r>
              <a:rPr lang="en-US" sz="2800" dirty="0" err="1"/>
              <a:t>i</a:t>
            </a:r>
            <a:r>
              <a:rPr lang="en-US" sz="2800" dirty="0"/>
              <a:t>=1; </a:t>
            </a:r>
            <a:r>
              <a:rPr lang="en-US" sz="2800" dirty="0" err="1"/>
              <a:t>i</a:t>
            </a:r>
            <a:r>
              <a:rPr lang="en-US" sz="2800" dirty="0"/>
              <a:t>&lt;=5; </a:t>
            </a:r>
            <a:r>
              <a:rPr lang="en-US" sz="2800" dirty="0" err="1"/>
              <a:t>i</a:t>
            </a:r>
            <a:r>
              <a:rPr lang="en-US" sz="2800" dirty="0"/>
              <a:t>++)</a:t>
            </a:r>
          </a:p>
          <a:p>
            <a:pPr marL="0" indent="0">
              <a:spcBef>
                <a:spcPts val="0"/>
              </a:spcBef>
              <a:buNone/>
            </a:pPr>
            <a:r>
              <a:rPr lang="en-US" sz="2800" dirty="0"/>
              <a:t>{</a:t>
            </a:r>
          </a:p>
          <a:p>
            <a:pPr marL="457200" lvl="1" indent="0">
              <a:spcBef>
                <a:spcPts val="0"/>
              </a:spcBef>
              <a:buNone/>
            </a:pPr>
            <a:r>
              <a:rPr lang="en-US" sz="2800" dirty="0" err="1"/>
              <a:t>cout</a:t>
            </a:r>
            <a:r>
              <a:rPr lang="en-US" sz="2800" dirty="0"/>
              <a:t> &lt;&lt; "Enter a positive value " &lt;&lt; </a:t>
            </a:r>
            <a:r>
              <a:rPr lang="en-US" sz="2800" dirty="0" err="1"/>
              <a:t>endl</a:t>
            </a:r>
            <a:r>
              <a:rPr lang="en-US" sz="2800" dirty="0"/>
              <a:t>;</a:t>
            </a:r>
          </a:p>
          <a:p>
            <a:pPr marL="457200" lvl="1" indent="0">
              <a:spcBef>
                <a:spcPts val="0"/>
              </a:spcBef>
              <a:buNone/>
            </a:pPr>
            <a:r>
              <a:rPr lang="en-US" sz="2800" dirty="0" err="1"/>
              <a:t>cin</a:t>
            </a:r>
            <a:r>
              <a:rPr lang="en-US" sz="2800" dirty="0"/>
              <a:t> &gt;&gt; v;</a:t>
            </a:r>
          </a:p>
          <a:p>
            <a:pPr marL="457200" lvl="1" indent="0">
              <a:spcBef>
                <a:spcPts val="0"/>
              </a:spcBef>
              <a:buNone/>
            </a:pPr>
            <a:r>
              <a:rPr lang="en-US" sz="2800" dirty="0">
                <a:solidFill>
                  <a:srgbClr val="FF0000"/>
                </a:solidFill>
              </a:rPr>
              <a:t>if (v &lt; 0)</a:t>
            </a:r>
          </a:p>
          <a:p>
            <a:pPr marL="457200" lvl="1" indent="0">
              <a:spcBef>
                <a:spcPts val="0"/>
              </a:spcBef>
              <a:buNone/>
            </a:pPr>
            <a:r>
              <a:rPr lang="en-US" sz="2800" dirty="0">
                <a:solidFill>
                  <a:srgbClr val="FF0000"/>
                </a:solidFill>
              </a:rPr>
              <a:t>	continue;</a:t>
            </a:r>
          </a:p>
          <a:p>
            <a:pPr marL="457200" lvl="1" indent="0">
              <a:spcBef>
                <a:spcPts val="0"/>
              </a:spcBef>
              <a:buNone/>
            </a:pPr>
            <a:r>
              <a:rPr lang="en-US" sz="2800" dirty="0"/>
              <a:t>total = total + v;</a:t>
            </a:r>
          </a:p>
          <a:p>
            <a:pPr marL="0" indent="0">
              <a:spcBef>
                <a:spcPts val="0"/>
              </a:spcBef>
              <a:buNone/>
            </a:pPr>
            <a:r>
              <a:rPr lang="en-US" sz="2800" dirty="0"/>
              <a:t>}</a:t>
            </a:r>
          </a:p>
          <a:p>
            <a:pPr marL="0" indent="0">
              <a:spcBef>
                <a:spcPts val="0"/>
              </a:spcBef>
              <a:buNone/>
            </a:pPr>
            <a:r>
              <a:rPr lang="en-US" sz="2800" dirty="0" err="1"/>
              <a:t>cout</a:t>
            </a:r>
            <a:r>
              <a:rPr lang="en-US" sz="2800" dirty="0"/>
              <a:t>&lt;&lt;"Total is "&lt;&lt;total;</a:t>
            </a:r>
          </a:p>
        </p:txBody>
      </p:sp>
      <p:sp>
        <p:nvSpPr>
          <p:cNvPr id="4" name="Footer Placeholder 3"/>
          <p:cNvSpPr>
            <a:spLocks noGrp="1"/>
          </p:cNvSpPr>
          <p:nvPr>
            <p:ph type="ftr" sz="quarter" idx="11"/>
          </p:nvPr>
        </p:nvSpPr>
        <p:spPr/>
        <p:txBody>
          <a:bodyPr/>
          <a:lstStyle/>
          <a:p>
            <a:r>
              <a:rPr lang="en-US" dirty="0"/>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29</a:t>
            </a:fld>
            <a:endParaRPr lang="en-US"/>
          </a:p>
        </p:txBody>
      </p:sp>
      <p:sp>
        <p:nvSpPr>
          <p:cNvPr id="6" name="TextBox 5"/>
          <p:cNvSpPr txBox="1"/>
          <p:nvPr/>
        </p:nvSpPr>
        <p:spPr>
          <a:xfrm flipH="1">
            <a:off x="7915563" y="1487052"/>
            <a:ext cx="2974110" cy="3908762"/>
          </a:xfrm>
          <a:prstGeom prst="rect">
            <a:avLst/>
          </a:prstGeom>
          <a:noFill/>
        </p:spPr>
        <p:txBody>
          <a:bodyPr wrap="square" rtlCol="0">
            <a:spAutoFit/>
          </a:bodyPr>
          <a:lstStyle/>
          <a:p>
            <a:r>
              <a:rPr lang="en-AU" sz="2800" b="1" dirty="0"/>
              <a:t>Output:</a:t>
            </a:r>
            <a:endParaRPr lang="en-US" sz="2000" b="1" dirty="0"/>
          </a:p>
          <a:p>
            <a:r>
              <a:rPr lang="en-US" sz="2000" dirty="0"/>
              <a:t>Enter a positive value</a:t>
            </a:r>
          </a:p>
          <a:p>
            <a:r>
              <a:rPr lang="en-US" sz="2000" dirty="0"/>
              <a:t>1</a:t>
            </a:r>
          </a:p>
          <a:p>
            <a:r>
              <a:rPr lang="en-US" sz="2000" dirty="0"/>
              <a:t>Enter a positive value</a:t>
            </a:r>
          </a:p>
          <a:p>
            <a:r>
              <a:rPr lang="en-US" sz="2000" dirty="0"/>
              <a:t>2</a:t>
            </a:r>
          </a:p>
          <a:p>
            <a:r>
              <a:rPr lang="en-US" sz="2000" dirty="0"/>
              <a:t>Enter a positive value</a:t>
            </a:r>
          </a:p>
          <a:p>
            <a:r>
              <a:rPr lang="en-US" sz="2000" dirty="0"/>
              <a:t>3</a:t>
            </a:r>
          </a:p>
          <a:p>
            <a:r>
              <a:rPr lang="en-US" sz="2000" dirty="0"/>
              <a:t>Enter a positive value</a:t>
            </a:r>
          </a:p>
          <a:p>
            <a:r>
              <a:rPr lang="en-US" sz="2000" dirty="0"/>
              <a:t>-6</a:t>
            </a:r>
          </a:p>
          <a:p>
            <a:r>
              <a:rPr lang="en-US" sz="2000" dirty="0"/>
              <a:t>Enter a positive value</a:t>
            </a:r>
          </a:p>
          <a:p>
            <a:r>
              <a:rPr lang="en-US" sz="2000" dirty="0"/>
              <a:t>-7</a:t>
            </a:r>
          </a:p>
          <a:p>
            <a:r>
              <a:rPr lang="en-US" sz="2000" dirty="0"/>
              <a:t>Total is 6</a:t>
            </a:r>
          </a:p>
        </p:txBody>
      </p:sp>
    </p:spTree>
    <p:extLst>
      <p:ext uri="{BB962C8B-B14F-4D97-AF65-F5344CB8AC3E}">
        <p14:creationId xmlns:p14="http://schemas.microsoft.com/office/powerpoint/2010/main" val="1265875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for Loop (Summary)</a:t>
            </a:r>
            <a:endParaRPr lang="en-US" dirty="0"/>
          </a:p>
        </p:txBody>
      </p:sp>
      <p:sp>
        <p:nvSpPr>
          <p:cNvPr id="4" name="Footer Placeholder 3"/>
          <p:cNvSpPr>
            <a:spLocks noGrp="1"/>
          </p:cNvSpPr>
          <p:nvPr>
            <p:ph type="ftr" sz="quarter" idx="11"/>
          </p:nvPr>
        </p:nvSpPr>
        <p:spPr/>
        <p:txBody>
          <a:bodyPr/>
          <a:lstStyle/>
          <a:p>
            <a:r>
              <a:rPr lang="en-US"/>
              <a:t>Introduction to Computer Programming</a:t>
            </a:r>
          </a:p>
        </p:txBody>
      </p:sp>
      <p:sp>
        <p:nvSpPr>
          <p:cNvPr id="5" name="Slide Number Placeholder 4"/>
          <p:cNvSpPr>
            <a:spLocks noGrp="1"/>
          </p:cNvSpPr>
          <p:nvPr>
            <p:ph type="sldNum" sz="quarter" idx="12"/>
          </p:nvPr>
        </p:nvSpPr>
        <p:spPr/>
        <p:txBody>
          <a:bodyPr/>
          <a:lstStyle/>
          <a:p>
            <a:fld id="{B10F10AB-30EA-4782-BF5E-1F5F70051DED}" type="slidenum">
              <a:rPr lang="en-US" smtClean="0"/>
              <a:t>30</a:t>
            </a:fld>
            <a:endParaRPr lang="en-US"/>
          </a:p>
        </p:txBody>
      </p:sp>
      <p:sp>
        <p:nvSpPr>
          <p:cNvPr id="6" name="Rectangle 3"/>
          <p:cNvSpPr txBox="1">
            <a:spLocks noGrp="1" noChangeArrowheads="1"/>
          </p:cNvSpPr>
          <p:nvPr>
            <p:ph idx="1"/>
          </p:nvPr>
        </p:nvSpPr>
        <p:spPr>
          <a:xfrm>
            <a:off x="677334" y="1514764"/>
            <a:ext cx="9076266" cy="452659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spcBef>
                <a:spcPct val="70000"/>
              </a:spcBef>
            </a:pPr>
            <a:r>
              <a:rPr lang="en-US" sz="2400" dirty="0"/>
              <a:t>A for loop is well suited for executing statements a specific number of times that can be calculated or determined in advance</a:t>
            </a:r>
          </a:p>
          <a:p>
            <a:pPr algn="just">
              <a:spcBef>
                <a:spcPct val="70000"/>
              </a:spcBef>
            </a:pPr>
            <a:r>
              <a:rPr lang="en-US" sz="2400" dirty="0"/>
              <a:t>Each expression in the header of a for loop is optional</a:t>
            </a:r>
          </a:p>
          <a:p>
            <a:pPr algn="just">
              <a:spcBef>
                <a:spcPct val="70000"/>
              </a:spcBef>
            </a:pPr>
            <a:r>
              <a:rPr lang="en-US" sz="2400" dirty="0"/>
              <a:t>If the initialization is left out, no initialization is performed</a:t>
            </a:r>
          </a:p>
          <a:p>
            <a:pPr algn="just">
              <a:spcBef>
                <a:spcPct val="70000"/>
              </a:spcBef>
            </a:pPr>
            <a:r>
              <a:rPr lang="en-US" sz="2400" dirty="0"/>
              <a:t>If the condition is left out, it is always considered to be true, and therefore creates an infinite loop .Use break statement.</a:t>
            </a:r>
          </a:p>
          <a:p>
            <a:pPr algn="just">
              <a:spcBef>
                <a:spcPct val="70000"/>
              </a:spcBef>
            </a:pPr>
            <a:r>
              <a:rPr lang="en-US" sz="2400" dirty="0"/>
              <a:t>If the increment is left out, no increment operation is performed</a:t>
            </a:r>
          </a:p>
        </p:txBody>
      </p:sp>
    </p:spTree>
    <p:extLst>
      <p:ext uri="{BB962C8B-B14F-4D97-AF65-F5344CB8AC3E}">
        <p14:creationId xmlns:p14="http://schemas.microsoft.com/office/powerpoint/2010/main" val="2167473877"/>
      </p:ext>
    </p:extLst>
  </p:cSld>
  <p:clrMapOvr>
    <a:masterClrMapping/>
  </p:clrMapOvr>
</p:sld>
</file>

<file path=ppt/theme/theme1.xml><?xml version="1.0" encoding="utf-8"?>
<a:theme xmlns:a="http://schemas.openxmlformats.org/drawingml/2006/main" name="Face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13999</TotalTime>
  <Words>1928</Words>
  <Application>Microsoft Macintosh PowerPoint</Application>
  <PresentationFormat>Widescreen</PresentationFormat>
  <Paragraphs>362</Paragraphs>
  <Slides>30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 Unicode MS</vt:lpstr>
      <vt:lpstr>Arial</vt:lpstr>
      <vt:lpstr>Calibri</vt:lpstr>
      <vt:lpstr>Courier New</vt:lpstr>
      <vt:lpstr>Trebuchet MS</vt:lpstr>
      <vt:lpstr>Wingdings 3</vt:lpstr>
      <vt:lpstr>Facet</vt:lpstr>
      <vt:lpstr>PowerPoint Presentation</vt:lpstr>
      <vt:lpstr>       Control Structures (Repetition)</vt:lpstr>
      <vt:lpstr>Objectives</vt:lpstr>
      <vt:lpstr>Why Is Repetition Needed?</vt:lpstr>
      <vt:lpstr>Loops</vt:lpstr>
      <vt:lpstr>Types of Loops in C++</vt:lpstr>
      <vt:lpstr>       Repetition</vt:lpstr>
      <vt:lpstr>PowerPoint Presentation</vt:lpstr>
      <vt:lpstr>The for Loop</vt:lpstr>
      <vt:lpstr>Logic of a for Loop (Flow Chart)</vt:lpstr>
      <vt:lpstr>Simple Algo of for Loop</vt:lpstr>
      <vt:lpstr>An example of a for loop:</vt:lpstr>
      <vt:lpstr>Solution 1 (without loop)</vt:lpstr>
      <vt:lpstr>Solution 2 (with for loop)</vt:lpstr>
      <vt:lpstr>Another Example</vt:lpstr>
      <vt:lpstr>Another Example</vt:lpstr>
      <vt:lpstr>Infinite for loop</vt:lpstr>
      <vt:lpstr>for loop – Multiple Expressions</vt:lpstr>
      <vt:lpstr>for loop – Scope of Variable</vt:lpstr>
      <vt:lpstr>       The for Loop</vt:lpstr>
      <vt:lpstr>PowerPoint Presentation</vt:lpstr>
      <vt:lpstr>for Loop – Optional Expression</vt:lpstr>
      <vt:lpstr>for Loop – Optional Expression</vt:lpstr>
      <vt:lpstr>       break &amp; continue</vt:lpstr>
      <vt:lpstr>The break statement</vt:lpstr>
      <vt:lpstr>Using break</vt:lpstr>
      <vt:lpstr>The continue Statement</vt:lpstr>
      <vt:lpstr>Continue example</vt:lpstr>
      <vt:lpstr>Sum of +ve values entered by user</vt:lpstr>
      <vt:lpstr>The for Loop (Summary)</vt:lpstr>
    </vt:vector>
  </TitlesOfParts>
  <Company>LG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in c++</dc:title>
  <dc:creator>Samia Riaz</dc:creator>
  <cp:lastModifiedBy>Taimur Sajjad</cp:lastModifiedBy>
  <cp:revision>464</cp:revision>
  <dcterms:created xsi:type="dcterms:W3CDTF">2020-06-06T13:49:52Z</dcterms:created>
  <dcterms:modified xsi:type="dcterms:W3CDTF">2024-10-01T10:10:06Z</dcterms:modified>
</cp:coreProperties>
</file>